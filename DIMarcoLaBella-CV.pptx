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2"/>
  </p:notesMasterIdLst>
  <p:sldIdLst>
    <p:sldId id="256" r:id="rId2"/>
    <p:sldId id="280" r:id="rId3"/>
    <p:sldId id="341" r:id="rId4"/>
    <p:sldId id="370" r:id="rId5"/>
    <p:sldId id="342" r:id="rId6"/>
    <p:sldId id="349" r:id="rId7"/>
    <p:sldId id="371" r:id="rId8"/>
    <p:sldId id="350" r:id="rId9"/>
    <p:sldId id="372" r:id="rId10"/>
    <p:sldId id="27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22433"/>
    <a:srgbClr val="7A0E21"/>
    <a:srgbClr val="7F7F7F"/>
    <a:srgbClr val="FFFFFF"/>
    <a:srgbClr val="8C1C2C"/>
    <a:srgbClr val="0000C9"/>
    <a:srgbClr val="D0586C"/>
    <a:srgbClr val="00E700"/>
    <a:srgbClr val="0000FA"/>
    <a:srgbClr val="FDFD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0785" autoAdjust="0"/>
  </p:normalViewPr>
  <p:slideViewPr>
    <p:cSldViewPr snapToGrid="0">
      <p:cViewPr varScale="1">
        <p:scale>
          <a:sx n="104" d="100"/>
          <a:sy n="104" d="100"/>
        </p:scale>
        <p:origin x="870" y="10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49" d="100"/>
          <a:sy n="49" d="100"/>
        </p:scale>
        <p:origin x="2740" y="4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36D48C-17FB-4B39-A02A-7BFB1526C0F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FCA171-2CCA-4F87-810B-58CEB317CFF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8361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FCA171-2CCA-4F87-810B-58CEB317CFF1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63743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97A410-65F5-2249-6625-0CB792C6A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66971D-B1C7-65B3-876E-F739CDD589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DB13EC-99F2-686D-003E-A2E57E3E00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endParaRPr lang="en-GB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C5C2F2-4F33-81DA-ED00-596050F5F4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FCA171-2CCA-4F87-810B-58CEB317CFF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6682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0FBA97-AB57-63C1-B21E-D0EBA25FD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5F0F8C-2A16-C9F6-2FDF-821CD6CB47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267A76-F7AD-18EE-1DF3-6482FFA36A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287A4-4C0C-B610-449B-628CBEECAE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FCA171-2CCA-4F87-810B-58CEB317CFF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5911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D6F8B-F48F-C28D-114B-261293B74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78C8B9-7D4E-F1F2-677A-E0E185AAEE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BE6630-2A52-BAD6-AAC3-D451913A7A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FAC66C-CECD-E83F-08BA-46B24558B9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FCA171-2CCA-4F87-810B-58CEB317CFF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2791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52937-8550-19DB-607A-BFBF95531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8BF83A-D643-1796-4212-CB8F707FB4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C42D1C-55A6-8DF9-7AC7-2E36CACD35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EB4916-8331-AE14-ACFC-1FD7325E6A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FCA171-2CCA-4F87-810B-58CEB317CFF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815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7FFDF6-5402-13E5-D1F0-BD5FFBFD6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7C7EFF-AAC3-54DF-62E3-0E67D335DC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F9033C-1E4D-97CD-C218-63AFD748E6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52E866-2D7A-559D-337C-72B56CAB21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FCA171-2CCA-4F87-810B-58CEB317CFF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322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D7816-99CC-5044-5C33-847987060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497450-550F-4C87-26C9-E6D4E59727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78597C-A50D-40FB-901B-9C77CB8283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A72AE5-56D0-A244-FBF2-ADD2A0F16B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FCA171-2CCA-4F87-810B-58CEB317CFF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743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DB9A6C-8BF3-EDE7-351D-F56471294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3B318E-D264-06C4-A4B9-90ADDC0488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80FF3E-CE24-D3DD-6EA2-C66FCFD2AB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Prima di 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entrare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nel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dettaglio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della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presentazione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è 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importante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spiegare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cos’è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un 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tumore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cerebrale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e 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perche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è un area 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cruciale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di 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ricerca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</a:p>
          <a:p>
            <a:endParaRPr lang="en-US" dirty="0"/>
          </a:p>
          <a:p>
            <a:r>
              <a:rPr lang="en-US" dirty="0"/>
              <a:t>I </a:t>
            </a:r>
            <a:r>
              <a:rPr lang="en-US" dirty="0" err="1"/>
              <a:t>tumori</a:t>
            </a:r>
            <a:r>
              <a:rPr lang="en-US" dirty="0"/>
              <a:t> </a:t>
            </a:r>
            <a:r>
              <a:rPr lang="en-US" dirty="0" err="1"/>
              <a:t>cerebrali</a:t>
            </a:r>
            <a:r>
              <a:rPr lang="en-US" dirty="0"/>
              <a:t> </a:t>
            </a:r>
            <a:r>
              <a:rPr lang="en-US" dirty="0" err="1"/>
              <a:t>sono</a:t>
            </a:r>
            <a:r>
              <a:rPr lang="en-US" dirty="0"/>
              <a:t> </a:t>
            </a:r>
            <a:r>
              <a:rPr lang="en-US" dirty="0" err="1"/>
              <a:t>delle</a:t>
            </a:r>
            <a:r>
              <a:rPr lang="en-US" dirty="0"/>
              <a:t> masse </a:t>
            </a:r>
            <a:r>
              <a:rPr lang="en-US" dirty="0" err="1"/>
              <a:t>anomale</a:t>
            </a:r>
            <a:r>
              <a:rPr lang="en-US" dirty="0"/>
              <a:t> di cellule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crescono</a:t>
            </a:r>
            <a:r>
              <a:rPr lang="en-US" dirty="0"/>
              <a:t> </a:t>
            </a:r>
            <a:r>
              <a:rPr lang="en-US" dirty="0" err="1"/>
              <a:t>all’interno</a:t>
            </a:r>
            <a:r>
              <a:rPr lang="en-US" dirty="0"/>
              <a:t> del </a:t>
            </a:r>
            <a:r>
              <a:rPr lang="en-US" dirty="0" err="1"/>
              <a:t>cervello</a:t>
            </a:r>
            <a:r>
              <a:rPr lang="en-US" dirty="0"/>
              <a:t>, ne </a:t>
            </a:r>
            <a:r>
              <a:rPr lang="en-US" dirty="0" err="1"/>
              <a:t>esistono</a:t>
            </a:r>
            <a:r>
              <a:rPr lang="en-US" dirty="0"/>
              <a:t> </a:t>
            </a:r>
            <a:r>
              <a:rPr lang="en-US" dirty="0" err="1"/>
              <a:t>varie</a:t>
            </a:r>
            <a:r>
              <a:rPr lang="en-US" dirty="0"/>
              <a:t> </a:t>
            </a:r>
            <a:r>
              <a:rPr lang="en-US" dirty="0" err="1"/>
              <a:t>tipologie</a:t>
            </a:r>
            <a:r>
              <a:rPr lang="en-US" dirty="0"/>
              <a:t> e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possono</a:t>
            </a:r>
            <a:r>
              <a:rPr lang="en-US" dirty="0"/>
              <a:t> </a:t>
            </a:r>
            <a:r>
              <a:rPr lang="en-US" dirty="0" err="1"/>
              <a:t>classificare</a:t>
            </a:r>
            <a:r>
              <a:rPr lang="en-US" dirty="0"/>
              <a:t> in </a:t>
            </a:r>
            <a:r>
              <a:rPr lang="en-US" dirty="0" err="1"/>
              <a:t>primari</a:t>
            </a:r>
            <a:r>
              <a:rPr lang="en-US" dirty="0"/>
              <a:t> e </a:t>
            </a:r>
            <a:r>
              <a:rPr lang="en-US" dirty="0" err="1"/>
              <a:t>secondari</a:t>
            </a:r>
            <a:r>
              <a:rPr lang="en-US" dirty="0"/>
              <a:t> in base al modo </a:t>
            </a:r>
            <a:r>
              <a:rPr lang="en-US" dirty="0" err="1"/>
              <a:t>nella</a:t>
            </a:r>
            <a:r>
              <a:rPr lang="en-US" dirty="0"/>
              <a:t> quale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creano</a:t>
            </a:r>
            <a:r>
              <a:rPr lang="en-US" dirty="0"/>
              <a:t>. Sono </a:t>
            </a:r>
            <a:r>
              <a:rPr lang="en-US" dirty="0" err="1"/>
              <a:t>formati</a:t>
            </a:r>
            <a:r>
              <a:rPr lang="en-US" dirty="0"/>
              <a:t> da </a:t>
            </a:r>
            <a:r>
              <a:rPr lang="en-US" dirty="0" err="1"/>
              <a:t>diversi</a:t>
            </a:r>
            <a:r>
              <a:rPr lang="en-US" dirty="0"/>
              <a:t> </a:t>
            </a:r>
            <a:r>
              <a:rPr lang="en-US" dirty="0" err="1"/>
              <a:t>tessuti</a:t>
            </a:r>
            <a:r>
              <a:rPr lang="en-US" dirty="0"/>
              <a:t> </a:t>
            </a:r>
            <a:r>
              <a:rPr lang="en-US" dirty="0" err="1"/>
              <a:t>ognuno</a:t>
            </a:r>
            <a:r>
              <a:rPr lang="en-US" dirty="0"/>
              <a:t> con </a:t>
            </a:r>
            <a:r>
              <a:rPr lang="en-US" dirty="0" err="1"/>
              <a:t>caratteristiche</a:t>
            </a:r>
            <a:r>
              <a:rPr lang="en-US" dirty="0"/>
              <a:t> </a:t>
            </a:r>
            <a:r>
              <a:rPr lang="en-US" dirty="0" err="1"/>
              <a:t>proprie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L’utilizzo</a:t>
            </a:r>
            <a:r>
              <a:rPr lang="en-US" dirty="0"/>
              <a:t> </a:t>
            </a:r>
            <a:r>
              <a:rPr lang="en-US" dirty="0" err="1"/>
              <a:t>della</a:t>
            </a:r>
            <a:r>
              <a:rPr lang="en-US" dirty="0"/>
              <a:t> </a:t>
            </a:r>
            <a:r>
              <a:rPr lang="en-US" dirty="0" err="1"/>
              <a:t>risonanza</a:t>
            </a:r>
            <a:r>
              <a:rPr lang="en-US" dirty="0"/>
              <a:t> </a:t>
            </a:r>
            <a:r>
              <a:rPr lang="en-US" dirty="0" err="1"/>
              <a:t>magnetica</a:t>
            </a:r>
            <a:r>
              <a:rPr lang="en-US" dirty="0"/>
              <a:t> ci </a:t>
            </a:r>
            <a:r>
              <a:rPr lang="en-US" dirty="0" err="1"/>
              <a:t>permette</a:t>
            </a:r>
            <a:r>
              <a:rPr lang="en-US" dirty="0"/>
              <a:t> di </a:t>
            </a:r>
            <a:r>
              <a:rPr lang="en-US" dirty="0" err="1"/>
              <a:t>distinguere</a:t>
            </a:r>
            <a:r>
              <a:rPr lang="en-US" dirty="0"/>
              <a:t> in </a:t>
            </a:r>
            <a:r>
              <a:rPr lang="en-US" dirty="0" err="1"/>
              <a:t>maniera</a:t>
            </a:r>
            <a:r>
              <a:rPr lang="en-US" dirty="0"/>
              <a:t> </a:t>
            </a:r>
            <a:r>
              <a:rPr lang="en-US" dirty="0" err="1"/>
              <a:t>accurata</a:t>
            </a:r>
            <a:r>
              <a:rPr lang="en-US" dirty="0"/>
              <a:t> </a:t>
            </a:r>
            <a:r>
              <a:rPr lang="en-US" dirty="0" err="1"/>
              <a:t>questi</a:t>
            </a:r>
            <a:r>
              <a:rPr lang="en-US" dirty="0"/>
              <a:t> </a:t>
            </a:r>
            <a:r>
              <a:rPr lang="en-US" dirty="0" err="1"/>
              <a:t>tessuti</a:t>
            </a:r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3C54F0-9E61-5873-5FD9-EA45AA3A03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FCA171-2CCA-4F87-810B-58CEB317CFF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1563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03B33-E473-2B92-3C56-4DCC02F2A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193E52-1420-FCA8-71E2-2DECAFB1E0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9C1E36-413F-6926-5549-64A516390B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Prima di 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entrare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nel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dettaglio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della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presentazione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è 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importante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spiegare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cos’è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un 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tumore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cerebrale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e 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perche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è un area 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cruciale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di 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ricerca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</a:p>
          <a:p>
            <a:endParaRPr lang="en-US" dirty="0"/>
          </a:p>
          <a:p>
            <a:r>
              <a:rPr lang="en-US" dirty="0"/>
              <a:t>I </a:t>
            </a:r>
            <a:r>
              <a:rPr lang="en-US" dirty="0" err="1"/>
              <a:t>tumori</a:t>
            </a:r>
            <a:r>
              <a:rPr lang="en-US" dirty="0"/>
              <a:t> </a:t>
            </a:r>
            <a:r>
              <a:rPr lang="en-US" dirty="0" err="1"/>
              <a:t>cerebrali</a:t>
            </a:r>
            <a:r>
              <a:rPr lang="en-US" dirty="0"/>
              <a:t> </a:t>
            </a:r>
            <a:r>
              <a:rPr lang="en-US" dirty="0" err="1"/>
              <a:t>sono</a:t>
            </a:r>
            <a:r>
              <a:rPr lang="en-US" dirty="0"/>
              <a:t> </a:t>
            </a:r>
            <a:r>
              <a:rPr lang="en-US" dirty="0" err="1"/>
              <a:t>delle</a:t>
            </a:r>
            <a:r>
              <a:rPr lang="en-US" dirty="0"/>
              <a:t> masse </a:t>
            </a:r>
            <a:r>
              <a:rPr lang="en-US" dirty="0" err="1"/>
              <a:t>anomale</a:t>
            </a:r>
            <a:r>
              <a:rPr lang="en-US" dirty="0"/>
              <a:t> di cellule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crescono</a:t>
            </a:r>
            <a:r>
              <a:rPr lang="en-US" dirty="0"/>
              <a:t> </a:t>
            </a:r>
            <a:r>
              <a:rPr lang="en-US" dirty="0" err="1"/>
              <a:t>all’interno</a:t>
            </a:r>
            <a:r>
              <a:rPr lang="en-US" dirty="0"/>
              <a:t> del </a:t>
            </a:r>
            <a:r>
              <a:rPr lang="en-US" dirty="0" err="1"/>
              <a:t>cervello</a:t>
            </a:r>
            <a:r>
              <a:rPr lang="en-US" dirty="0"/>
              <a:t>, ne </a:t>
            </a:r>
            <a:r>
              <a:rPr lang="en-US" dirty="0" err="1"/>
              <a:t>esistono</a:t>
            </a:r>
            <a:r>
              <a:rPr lang="en-US" dirty="0"/>
              <a:t> </a:t>
            </a:r>
            <a:r>
              <a:rPr lang="en-US" dirty="0" err="1"/>
              <a:t>varie</a:t>
            </a:r>
            <a:r>
              <a:rPr lang="en-US" dirty="0"/>
              <a:t> </a:t>
            </a:r>
            <a:r>
              <a:rPr lang="en-US" dirty="0" err="1"/>
              <a:t>tipologie</a:t>
            </a:r>
            <a:r>
              <a:rPr lang="en-US" dirty="0"/>
              <a:t> e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possono</a:t>
            </a:r>
            <a:r>
              <a:rPr lang="en-US" dirty="0"/>
              <a:t> </a:t>
            </a:r>
            <a:r>
              <a:rPr lang="en-US" dirty="0" err="1"/>
              <a:t>classificare</a:t>
            </a:r>
            <a:r>
              <a:rPr lang="en-US" dirty="0"/>
              <a:t> in </a:t>
            </a:r>
            <a:r>
              <a:rPr lang="en-US" dirty="0" err="1"/>
              <a:t>primari</a:t>
            </a:r>
            <a:r>
              <a:rPr lang="en-US" dirty="0"/>
              <a:t> e </a:t>
            </a:r>
            <a:r>
              <a:rPr lang="en-US" dirty="0" err="1"/>
              <a:t>secondari</a:t>
            </a:r>
            <a:r>
              <a:rPr lang="en-US" dirty="0"/>
              <a:t> in base al modo </a:t>
            </a:r>
            <a:r>
              <a:rPr lang="en-US" dirty="0" err="1"/>
              <a:t>nella</a:t>
            </a:r>
            <a:r>
              <a:rPr lang="en-US" dirty="0"/>
              <a:t> quale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creano</a:t>
            </a:r>
            <a:r>
              <a:rPr lang="en-US" dirty="0"/>
              <a:t>. Sono </a:t>
            </a:r>
            <a:r>
              <a:rPr lang="en-US" dirty="0" err="1"/>
              <a:t>formati</a:t>
            </a:r>
            <a:r>
              <a:rPr lang="en-US" dirty="0"/>
              <a:t> da </a:t>
            </a:r>
            <a:r>
              <a:rPr lang="en-US" dirty="0" err="1"/>
              <a:t>diversi</a:t>
            </a:r>
            <a:r>
              <a:rPr lang="en-US" dirty="0"/>
              <a:t> </a:t>
            </a:r>
            <a:r>
              <a:rPr lang="en-US" dirty="0" err="1"/>
              <a:t>tessuti</a:t>
            </a:r>
            <a:r>
              <a:rPr lang="en-US" dirty="0"/>
              <a:t> </a:t>
            </a:r>
            <a:r>
              <a:rPr lang="en-US" dirty="0" err="1"/>
              <a:t>ognuno</a:t>
            </a:r>
            <a:r>
              <a:rPr lang="en-US" dirty="0"/>
              <a:t> con </a:t>
            </a:r>
            <a:r>
              <a:rPr lang="en-US" dirty="0" err="1"/>
              <a:t>caratteristiche</a:t>
            </a:r>
            <a:r>
              <a:rPr lang="en-US" dirty="0"/>
              <a:t> </a:t>
            </a:r>
            <a:r>
              <a:rPr lang="en-US" dirty="0" err="1"/>
              <a:t>proprie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L’utilizzo</a:t>
            </a:r>
            <a:r>
              <a:rPr lang="en-US" dirty="0"/>
              <a:t> </a:t>
            </a:r>
            <a:r>
              <a:rPr lang="en-US" dirty="0" err="1"/>
              <a:t>della</a:t>
            </a:r>
            <a:r>
              <a:rPr lang="en-US" dirty="0"/>
              <a:t> </a:t>
            </a:r>
            <a:r>
              <a:rPr lang="en-US" dirty="0" err="1"/>
              <a:t>risonanza</a:t>
            </a:r>
            <a:r>
              <a:rPr lang="en-US" dirty="0"/>
              <a:t> </a:t>
            </a:r>
            <a:r>
              <a:rPr lang="en-US" dirty="0" err="1"/>
              <a:t>magnetica</a:t>
            </a:r>
            <a:r>
              <a:rPr lang="en-US" dirty="0"/>
              <a:t> ci </a:t>
            </a:r>
            <a:r>
              <a:rPr lang="en-US" dirty="0" err="1"/>
              <a:t>permette</a:t>
            </a:r>
            <a:r>
              <a:rPr lang="en-US" dirty="0"/>
              <a:t> di </a:t>
            </a:r>
            <a:r>
              <a:rPr lang="en-US" dirty="0" err="1"/>
              <a:t>distinguere</a:t>
            </a:r>
            <a:r>
              <a:rPr lang="en-US" dirty="0"/>
              <a:t> in </a:t>
            </a:r>
            <a:r>
              <a:rPr lang="en-US" dirty="0" err="1"/>
              <a:t>maniera</a:t>
            </a:r>
            <a:r>
              <a:rPr lang="en-US" dirty="0"/>
              <a:t> </a:t>
            </a:r>
            <a:r>
              <a:rPr lang="en-US" dirty="0" err="1"/>
              <a:t>accurata</a:t>
            </a:r>
            <a:r>
              <a:rPr lang="en-US" dirty="0"/>
              <a:t> </a:t>
            </a:r>
            <a:r>
              <a:rPr lang="en-US" dirty="0" err="1"/>
              <a:t>questi</a:t>
            </a:r>
            <a:r>
              <a:rPr lang="en-US" dirty="0"/>
              <a:t> </a:t>
            </a:r>
            <a:r>
              <a:rPr lang="en-US" dirty="0" err="1"/>
              <a:t>tessuti</a:t>
            </a:r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E55A56-C7FE-0A0E-5407-FD34AD37EE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FCA171-2CCA-4F87-810B-58CEB317CFF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9173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FCA171-2CCA-4F87-810B-58CEB317CFF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7675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C8D4D-32C8-C619-ACAC-1C11F2FECF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4D2CD6-F7CC-5A03-46BA-65EE3FAD80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A2520C-AB31-32D0-28F5-FA0672054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ABC6C1-7281-F2DF-88AD-DBF632488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 dirty="0"/>
              <a:t>Martina Doku - Advancements in EEG Denoising and Artifact Removal using Transformers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6471E1-974B-9B57-80FB-B65AE6AB9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EB808-9DE5-4B01-8298-DD0372440E0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6935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18764">
        <p159:morph option="byObject"/>
      </p:transition>
    </mc:Choice>
    <mc:Fallback xmlns="">
      <p:transition spd="slow" advTm="18764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224FB-E121-1804-A68B-760932755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01F007-E1C1-E59F-F3FB-DC706FAA78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9F06D6-E013-C05E-9C7B-C8C957F0B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11900"/>
            <a:ext cx="11353800" cy="546100"/>
          </a:xfrm>
          <a:solidFill>
            <a:schemeClr val="tx2"/>
          </a:solidFill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Martina Doku - Advancements in EEG Denoising and Artifact Removal using Transformers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8010D8-6002-A8F4-4D5E-E95C1D9C1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311901"/>
            <a:ext cx="838200" cy="546099"/>
          </a:xfrm>
          <a:solidFill>
            <a:schemeClr val="tx2"/>
          </a:solidFill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064EB808-9DE5-4B01-8298-DD0372440E09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99552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18764">
        <p159:morph option="byObject"/>
      </p:transition>
    </mc:Choice>
    <mc:Fallback xmlns="">
      <p:transition spd="slow" advTm="18764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91D7C-77AE-E08F-A431-309BDA94F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C3B671-3464-4301-C2F7-FCFA238D5E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30B6E5-B8CE-4D71-F8E3-ACC98E652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ABE147-B685-AEE8-8F87-72C5A12DF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/>
              <a:t>Martina Doku - Advancements in EEG Denoising and Artifact Removal using Transformers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1DEF5C-05F4-0FC6-CA1C-A108C086C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EB808-9DE5-4B01-8298-DD0372440E0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6005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18764">
        <p159:morph option="byObject"/>
      </p:transition>
    </mc:Choice>
    <mc:Fallback xmlns="">
      <p:transition spd="slow" advTm="18764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38E78-03D5-BB16-215F-C437D266F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9C775D-B685-CAF0-3C27-52D3570184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D69DF9-898E-6EBB-37F8-93F5B5191B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D5B7A5-002A-E426-57CA-177151D58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AB1ED3-AA76-3DE3-2E9A-241774349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Martina Doku - Advancements in EEG Denoising and Artifact Removal using Transformers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36E4BA-174F-4F7C-4D01-AE0DEDAF9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EB808-9DE5-4B01-8298-DD0372440E0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6343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18764">
        <p159:morph option="byObject"/>
      </p:transition>
    </mc:Choice>
    <mc:Fallback xmlns="">
      <p:transition spd="slow" advTm="18764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D14F8-AC16-062A-02BC-9C53B1283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37D4D8-1840-933A-7EC6-959092D75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749A01-7143-7746-D1D3-8830F16420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A4FDF2-D8DF-7BC8-5F5B-4A71386D43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B3DAD9-A7B4-22ED-B581-4E9C66594F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2BAA1B-405D-BB4B-3A14-816F7B100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10233-128D-943B-6A82-6986DD39B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/>
              <a:t>Martina Doku - Advancements in EEG Denoising and Artifact Removal using Transformers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117291-A7AD-EED3-F282-EEC91B061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EB808-9DE5-4B01-8298-DD0372440E0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4837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18764">
        <p159:morph option="byObject"/>
      </p:transition>
    </mc:Choice>
    <mc:Fallback xmlns="">
      <p:transition spd="slow" advTm="18764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040BA-1863-2FFA-E73F-64FD37150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976D8F-0BF3-46FF-D83C-4CEF76C91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162A52-56A8-5A9A-503C-018A13951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/>
              <a:t>Martina Doku - Advancements in EEG Denoising and Artifact Removal using Transformers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F2FDF4-75D9-642D-E08A-2BF689977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EB808-9DE5-4B01-8298-DD0372440E0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5778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18764">
        <p159:morph option="byObject"/>
      </p:transition>
    </mc:Choice>
    <mc:Fallback xmlns="">
      <p:transition spd="slow" advTm="18764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76A80A-9268-9641-6A4D-E8B548B2E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378F6C-5654-05AB-6DE1-551391275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 dirty="0"/>
              <a:t>Martina Doku - Advancements in EEG Denoising and Artifact Removal using Transformers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18B9C3-D6AD-1AAA-D0B9-0EB8E75E4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EB808-9DE5-4B01-8298-DD0372440E0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8880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18764">
        <p159:morph option="byObject"/>
      </p:transition>
    </mc:Choice>
    <mc:Fallback xmlns="">
      <p:transition spd="slow" advTm="18764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4E792-F9EF-5D98-723B-03C30B937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FC964-0B83-DFDE-0824-26DEB5917A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5A971F-743D-CC0E-C4C3-3001F71F2A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1363ED-1EB2-987E-7B7F-C0A62AC5E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AA18A9-5BE0-B91D-E9E2-DB9ADF522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 dirty="0"/>
              <a:t>Martina Doku - Advancements in EEG Denoising and Artifact Removal using Transformers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BF40B2-123B-AD71-6955-812C16770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EB808-9DE5-4B01-8298-DD0372440E0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5717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18764">
        <p159:morph option="byObject"/>
      </p:transition>
    </mc:Choice>
    <mc:Fallback xmlns="">
      <p:transition spd="slow" advTm="18764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90BC5-6005-F4CC-4CBB-A17C54308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49C2B4-4DC9-BA27-6321-EE3D9FBECD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9025B6-CAFA-E9D2-4461-53F577E0B9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936CAD-9A79-72B8-15D4-7732B214A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1F6F5E-559F-FB58-E3C4-6E69E7E43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Martina Doku - Advancements in EEG Denoising and Artifact Removal using Transformers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63CE32-2BFD-374D-7A90-D369D4D91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EB808-9DE5-4B01-8298-DD0372440E0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4991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18764">
        <p159:morph option="byObject"/>
      </p:transition>
    </mc:Choice>
    <mc:Fallback xmlns="">
      <p:transition spd="slow" advTm="18764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D8624-EEEF-20FE-9B0E-F7A543AD3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281B93-8DF0-665E-4483-277B0C7E0E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CC5162-8676-C808-9A49-C99206E8C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427840-CFD7-4D00-43AD-C18576D13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/>
              <a:t>Martina Doku - Advancements in EEG Denoising and Artifact Removal using Transformers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FBB7ED-D096-47E1-7C0F-B69D0E216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EB808-9DE5-4B01-8298-DD0372440E0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2360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18764">
        <p159:morph option="byObject"/>
      </p:transition>
    </mc:Choice>
    <mc:Fallback xmlns="">
      <p:transition spd="slow" advTm="18764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1F6703-86D6-70CF-EC9D-7D33726714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84A2C2-8214-EA24-CFBA-48FC24617D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94A020-9B17-F443-8316-35E69CFA0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B075B0-6902-FA83-F852-34CD64D37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Martina Doku - Advancements in EEG Denoising and Artifact Removal using Transformers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30F0E2-7D14-E612-20FD-A2B04155E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EB808-9DE5-4B01-8298-DD0372440E0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8305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18764">
        <p159:morph option="byObject"/>
      </p:transition>
    </mc:Choice>
    <mc:Fallback xmlns="">
      <p:transition spd="slow" advTm="18764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0A2A69-4679-D2A5-C398-48C84D0C8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6A7114-EA36-8529-ED0A-BD6E3335AC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37DDCF-C16C-FCCC-8AC2-1AF909F4EF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898117" y="64023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B26200-65B6-EF43-2BB6-D11A147A9B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-1" y="6316318"/>
            <a:ext cx="12192000" cy="546100"/>
          </a:xfrm>
          <a:prstGeom prst="rect">
            <a:avLst/>
          </a:prstGeom>
          <a:solidFill>
            <a:schemeClr val="tx2"/>
          </a:solidFill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pPr algn="r"/>
            <a:r>
              <a:rPr lang="en-US" dirty="0"/>
              <a:t>Martina Doku - Advancements in EEG Denoising and Artifact Removal using Transformers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A96455-1244-8EB7-F622-CE8CF0C796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-1" y="6311900"/>
            <a:ext cx="756745" cy="546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pPr algn="ctr"/>
            <a:fld id="{064EB808-9DE5-4B01-8298-DD0372440E09}" type="slidenum">
              <a:rPr lang="en-US" smtClean="0"/>
              <a:pPr algn="ctr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183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spd="slow" advTm="18764">
        <p159:morph option="byObject"/>
      </p:transition>
    </mc:Choice>
    <mc:Fallback xmlns="">
      <p:transition spd="slow" advTm="18764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rapezoid 4">
            <a:extLst>
              <a:ext uri="{FF2B5EF4-FFF2-40B4-BE49-F238E27FC236}">
                <a16:creationId xmlns:a16="http://schemas.microsoft.com/office/drawing/2014/main" id="{5D61347F-E20F-EF09-9374-B50B76CF364B}"/>
              </a:ext>
            </a:extLst>
          </p:cNvPr>
          <p:cNvSpPr/>
          <p:nvPr/>
        </p:nvSpPr>
        <p:spPr>
          <a:xfrm>
            <a:off x="6496739" y="0"/>
            <a:ext cx="5847521" cy="6858127"/>
          </a:xfrm>
          <a:custGeom>
            <a:avLst/>
            <a:gdLst>
              <a:gd name="connsiteX0" fmla="*/ 0 w 8070573"/>
              <a:gd name="connsiteY0" fmla="*/ 6927575 h 6927575"/>
              <a:gd name="connsiteX1" fmla="*/ 2338195 w 8070573"/>
              <a:gd name="connsiteY1" fmla="*/ 0 h 6927575"/>
              <a:gd name="connsiteX2" fmla="*/ 5732378 w 8070573"/>
              <a:gd name="connsiteY2" fmla="*/ 0 h 6927575"/>
              <a:gd name="connsiteX3" fmla="*/ 8070573 w 8070573"/>
              <a:gd name="connsiteY3" fmla="*/ 6927575 h 6927575"/>
              <a:gd name="connsiteX4" fmla="*/ 0 w 8070573"/>
              <a:gd name="connsiteY4" fmla="*/ 6927575 h 6927575"/>
              <a:gd name="connsiteX0" fmla="*/ 0 w 8070573"/>
              <a:gd name="connsiteY0" fmla="*/ 6957392 h 6957392"/>
              <a:gd name="connsiteX1" fmla="*/ 2338195 w 8070573"/>
              <a:gd name="connsiteY1" fmla="*/ 29817 h 6957392"/>
              <a:gd name="connsiteX2" fmla="*/ 5424265 w 8070573"/>
              <a:gd name="connsiteY2" fmla="*/ 0 h 6957392"/>
              <a:gd name="connsiteX3" fmla="*/ 8070573 w 8070573"/>
              <a:gd name="connsiteY3" fmla="*/ 6957392 h 6957392"/>
              <a:gd name="connsiteX4" fmla="*/ 0 w 8070573"/>
              <a:gd name="connsiteY4" fmla="*/ 6957392 h 6957392"/>
              <a:gd name="connsiteX0" fmla="*/ 0 w 8070573"/>
              <a:gd name="connsiteY0" fmla="*/ 6927575 h 6927575"/>
              <a:gd name="connsiteX1" fmla="*/ 2338195 w 8070573"/>
              <a:gd name="connsiteY1" fmla="*/ 0 h 6927575"/>
              <a:gd name="connsiteX2" fmla="*/ 5603170 w 8070573"/>
              <a:gd name="connsiteY2" fmla="*/ 69575 h 6927575"/>
              <a:gd name="connsiteX3" fmla="*/ 8070573 w 8070573"/>
              <a:gd name="connsiteY3" fmla="*/ 6927575 h 6927575"/>
              <a:gd name="connsiteX4" fmla="*/ 0 w 8070573"/>
              <a:gd name="connsiteY4" fmla="*/ 6927575 h 6927575"/>
              <a:gd name="connsiteX0" fmla="*/ 0 w 8070573"/>
              <a:gd name="connsiteY0" fmla="*/ 6887819 h 6887819"/>
              <a:gd name="connsiteX1" fmla="*/ 2348134 w 8070573"/>
              <a:gd name="connsiteY1" fmla="*/ 0 h 6887819"/>
              <a:gd name="connsiteX2" fmla="*/ 5603170 w 8070573"/>
              <a:gd name="connsiteY2" fmla="*/ 29819 h 6887819"/>
              <a:gd name="connsiteX3" fmla="*/ 8070573 w 8070573"/>
              <a:gd name="connsiteY3" fmla="*/ 6887819 h 6887819"/>
              <a:gd name="connsiteX4" fmla="*/ 0 w 8070573"/>
              <a:gd name="connsiteY4" fmla="*/ 6887819 h 6887819"/>
              <a:gd name="connsiteX0" fmla="*/ 0 w 5754756"/>
              <a:gd name="connsiteY0" fmla="*/ 6887819 h 6887819"/>
              <a:gd name="connsiteX1" fmla="*/ 2348134 w 5754756"/>
              <a:gd name="connsiteY1" fmla="*/ 0 h 6887819"/>
              <a:gd name="connsiteX2" fmla="*/ 5603170 w 5754756"/>
              <a:gd name="connsiteY2" fmla="*/ 29819 h 6887819"/>
              <a:gd name="connsiteX3" fmla="*/ 5754756 w 5754756"/>
              <a:gd name="connsiteY3" fmla="*/ 6887819 h 6887819"/>
              <a:gd name="connsiteX4" fmla="*/ 0 w 5754756"/>
              <a:gd name="connsiteY4" fmla="*/ 6887819 h 6887819"/>
              <a:gd name="connsiteX0" fmla="*/ 0 w 5754756"/>
              <a:gd name="connsiteY0" fmla="*/ 6887819 h 6887819"/>
              <a:gd name="connsiteX1" fmla="*/ 2348134 w 5754756"/>
              <a:gd name="connsiteY1" fmla="*/ 0 h 6887819"/>
              <a:gd name="connsiteX2" fmla="*/ 5613109 w 5754756"/>
              <a:gd name="connsiteY2" fmla="*/ 39758 h 6887819"/>
              <a:gd name="connsiteX3" fmla="*/ 5754756 w 5754756"/>
              <a:gd name="connsiteY3" fmla="*/ 6887819 h 6887819"/>
              <a:gd name="connsiteX4" fmla="*/ 0 w 5754756"/>
              <a:gd name="connsiteY4" fmla="*/ 6887819 h 6887819"/>
              <a:gd name="connsiteX0" fmla="*/ 0 w 5754756"/>
              <a:gd name="connsiteY0" fmla="*/ 6887819 h 6887819"/>
              <a:gd name="connsiteX1" fmla="*/ 2348134 w 5754756"/>
              <a:gd name="connsiteY1" fmla="*/ 0 h 6887819"/>
              <a:gd name="connsiteX2" fmla="*/ 5632987 w 5754756"/>
              <a:gd name="connsiteY2" fmla="*/ 39758 h 6887819"/>
              <a:gd name="connsiteX3" fmla="*/ 5754756 w 5754756"/>
              <a:gd name="connsiteY3" fmla="*/ 6887819 h 6887819"/>
              <a:gd name="connsiteX4" fmla="*/ 0 w 5754756"/>
              <a:gd name="connsiteY4" fmla="*/ 6887819 h 6887819"/>
              <a:gd name="connsiteX0" fmla="*/ 0 w 5754756"/>
              <a:gd name="connsiteY0" fmla="*/ 6887819 h 6887819"/>
              <a:gd name="connsiteX1" fmla="*/ 2348134 w 5754756"/>
              <a:gd name="connsiteY1" fmla="*/ 0 h 6887819"/>
              <a:gd name="connsiteX2" fmla="*/ 5672743 w 5754756"/>
              <a:gd name="connsiteY2" fmla="*/ 29819 h 6887819"/>
              <a:gd name="connsiteX3" fmla="*/ 5754756 w 5754756"/>
              <a:gd name="connsiteY3" fmla="*/ 6887819 h 6887819"/>
              <a:gd name="connsiteX4" fmla="*/ 0 w 5754756"/>
              <a:gd name="connsiteY4" fmla="*/ 6887819 h 6887819"/>
              <a:gd name="connsiteX0" fmla="*/ 0 w 5754756"/>
              <a:gd name="connsiteY0" fmla="*/ 6887947 h 6887947"/>
              <a:gd name="connsiteX1" fmla="*/ 2348134 w 5754756"/>
              <a:gd name="connsiteY1" fmla="*/ 128 h 6887947"/>
              <a:gd name="connsiteX2" fmla="*/ 5653179 w 5754756"/>
              <a:gd name="connsiteY2" fmla="*/ 0 h 6887947"/>
              <a:gd name="connsiteX3" fmla="*/ 5754756 w 5754756"/>
              <a:gd name="connsiteY3" fmla="*/ 6887947 h 6887947"/>
              <a:gd name="connsiteX4" fmla="*/ 0 w 5754756"/>
              <a:gd name="connsiteY4" fmla="*/ 6887947 h 6887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54756" h="6887947">
                <a:moveTo>
                  <a:pt x="0" y="6887947"/>
                </a:moveTo>
                <a:lnTo>
                  <a:pt x="2348134" y="128"/>
                </a:lnTo>
                <a:lnTo>
                  <a:pt x="5653179" y="0"/>
                </a:lnTo>
                <a:lnTo>
                  <a:pt x="5754756" y="6887947"/>
                </a:lnTo>
                <a:lnTo>
                  <a:pt x="0" y="6887947"/>
                </a:lnTo>
                <a:close/>
              </a:path>
            </a:pathLst>
          </a:cu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8A86E1-BE62-D938-D35E-99376D84CB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1" y="1415568"/>
            <a:ext cx="7500795" cy="1084124"/>
          </a:xfrm>
        </p:spPr>
        <p:txBody>
          <a:bodyPr anchor="t">
            <a:normAutofit fontScale="90000"/>
          </a:bodyPr>
          <a:lstStyle/>
          <a:p>
            <a:pPr algn="l"/>
            <a:r>
              <a:rPr lang="en-US" sz="3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Efficient Attention Impact on</a:t>
            </a:r>
            <a:br>
              <a:rPr lang="en-US" sz="3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Transformer Backbones for Perceptual</a:t>
            </a:r>
            <a:br>
              <a:rPr lang="en-US" sz="3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Similarity</a:t>
            </a:r>
          </a:p>
        </p:txBody>
      </p:sp>
      <p:pic>
        <p:nvPicPr>
          <p:cNvPr id="7" name="Picture 6" descr="A red background with white text">
            <a:extLst>
              <a:ext uri="{FF2B5EF4-FFF2-40B4-BE49-F238E27FC236}">
                <a16:creationId xmlns:a16="http://schemas.microsoft.com/office/drawing/2014/main" id="{48A6E0BC-8AD6-A8AF-2A65-4A17387CA52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73" t="70984" r="28224"/>
          <a:stretch/>
        </p:blipFill>
        <p:spPr>
          <a:xfrm>
            <a:off x="7337563" y="4999383"/>
            <a:ext cx="4854437" cy="1858617"/>
          </a:xfrm>
          <a:prstGeom prst="rect">
            <a:avLst/>
          </a:prstGeom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D70D6E17-8477-273E-A68A-EC1C0C61FCD7}"/>
              </a:ext>
            </a:extLst>
          </p:cNvPr>
          <p:cNvSpPr txBox="1">
            <a:spLocks/>
          </p:cNvSpPr>
          <p:nvPr/>
        </p:nvSpPr>
        <p:spPr>
          <a:xfrm>
            <a:off x="457201" y="2822743"/>
            <a:ext cx="6629400" cy="19365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1600" dirty="0">
                <a:solidFill>
                  <a:schemeClr val="tx2"/>
                </a:solidFill>
              </a:rPr>
              <a:t>Master of Science in AI &amp; Robotics</a:t>
            </a:r>
          </a:p>
          <a:p>
            <a:pPr algn="l"/>
            <a:r>
              <a:rPr lang="en-GB" sz="1600" dirty="0">
                <a:solidFill>
                  <a:schemeClr val="tx2"/>
                </a:solidFill>
              </a:rPr>
              <a:t>Computer Vision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90936BE8-9BFF-F7ED-4065-FB579F3038CB}"/>
              </a:ext>
            </a:extLst>
          </p:cNvPr>
          <p:cNvSpPr txBox="1">
            <a:spLocks/>
          </p:cNvSpPr>
          <p:nvPr/>
        </p:nvSpPr>
        <p:spPr>
          <a:xfrm>
            <a:off x="457201" y="3915260"/>
            <a:ext cx="6629400" cy="9265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it-IT" sz="1800" b="1" dirty="0"/>
              <a:t>Mattia Di Marco </a:t>
            </a:r>
            <a:r>
              <a:rPr lang="it-IT" sz="1600" dirty="0"/>
              <a:t>2019367</a:t>
            </a:r>
          </a:p>
          <a:p>
            <a:pPr algn="l"/>
            <a:r>
              <a:rPr lang="it-IT" sz="1800" b="1" dirty="0"/>
              <a:t>Simone La Bella </a:t>
            </a:r>
            <a:r>
              <a:rPr lang="it-IT" sz="1600" dirty="0"/>
              <a:t>1995847</a:t>
            </a:r>
            <a:endParaRPr lang="en-US" sz="1800" b="1" dirty="0"/>
          </a:p>
          <a:p>
            <a:pPr algn="l"/>
            <a:endParaRPr lang="en-US" sz="1600" b="1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F8E3E8EF-ABFD-AD29-8289-EB7AA8C15414}"/>
              </a:ext>
            </a:extLst>
          </p:cNvPr>
          <p:cNvSpPr txBox="1">
            <a:spLocks/>
          </p:cNvSpPr>
          <p:nvPr/>
        </p:nvSpPr>
        <p:spPr>
          <a:xfrm>
            <a:off x="457201" y="5928691"/>
            <a:ext cx="2117034" cy="26828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it-IT" sz="1400" dirty="0"/>
              <a:t>Academic Year 2025/26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1956707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18764">
        <p159:morph option="byObject"/>
      </p:transition>
    </mc:Choice>
    <mc:Fallback xmlns="">
      <p:transition spd="slow" advTm="18764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346501-349A-DEAD-85FC-C2E3C49BD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logo, symbol, emblem, graphics&#10;&#10;Description automatically generated">
            <a:extLst>
              <a:ext uri="{FF2B5EF4-FFF2-40B4-BE49-F238E27FC236}">
                <a16:creationId xmlns:a16="http://schemas.microsoft.com/office/drawing/2014/main" id="{6879A579-C185-004B-B27D-E02ADEF2380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25" t="13953" r="7371" b="6977"/>
          <a:stretch/>
        </p:blipFill>
        <p:spPr>
          <a:xfrm>
            <a:off x="944880" y="-1712"/>
            <a:ext cx="985520" cy="1129472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45425-52E2-0DB2-AB35-0173EB3D0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311901"/>
            <a:ext cx="838200" cy="546099"/>
          </a:xfrm>
        </p:spPr>
        <p:txBody>
          <a:bodyPr/>
          <a:lstStyle/>
          <a:p>
            <a:r>
              <a:rPr lang="en-US" dirty="0"/>
              <a:t>1/9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F7A708-BA81-AE6B-435C-19F0BA1582C9}"/>
              </a:ext>
            </a:extLst>
          </p:cNvPr>
          <p:cNvSpPr txBox="1"/>
          <p:nvPr/>
        </p:nvSpPr>
        <p:spPr>
          <a:xfrm>
            <a:off x="2192572" y="567855"/>
            <a:ext cx="92036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n w="0"/>
                <a:solidFill>
                  <a:schemeClr val="tx2"/>
                </a:solidFill>
              </a:rPr>
              <a:t>Project overview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96CE06-B2B2-65FC-EFC6-C04BC8159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11900"/>
            <a:ext cx="11353800" cy="546100"/>
          </a:xfrm>
        </p:spPr>
        <p:txBody>
          <a:bodyPr/>
          <a:lstStyle/>
          <a:p>
            <a:r>
              <a:rPr lang="en-US" dirty="0"/>
              <a:t>Efficient Attention Impact on Transformer</a:t>
            </a:r>
          </a:p>
          <a:p>
            <a:r>
              <a:rPr lang="en-US" dirty="0"/>
              <a:t>Backbones for Perceptual Similarity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AAC11BF-435D-7A4B-BB40-227FC1A9443A}"/>
              </a:ext>
            </a:extLst>
          </p:cNvPr>
          <p:cNvSpPr/>
          <p:nvPr/>
        </p:nvSpPr>
        <p:spPr>
          <a:xfrm>
            <a:off x="7371347" y="1273635"/>
            <a:ext cx="1193533" cy="9329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7E6763F0-76E2-0C94-9C1F-BF6DC9F73F35}"/>
              </a:ext>
            </a:extLst>
          </p:cNvPr>
          <p:cNvSpPr txBox="1"/>
          <p:nvPr/>
        </p:nvSpPr>
        <p:spPr>
          <a:xfrm>
            <a:off x="2192572" y="1002144"/>
            <a:ext cx="88356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Impact of efficient Transformer mechanisms on a DINO-based DreamSim-like pipeline</a:t>
            </a:r>
          </a:p>
        </p:txBody>
      </p:sp>
      <p:sp>
        <p:nvSpPr>
          <p:cNvPr id="24" name="TextBox 14">
            <a:extLst>
              <a:ext uri="{FF2B5EF4-FFF2-40B4-BE49-F238E27FC236}">
                <a16:creationId xmlns:a16="http://schemas.microsoft.com/office/drawing/2014/main" id="{515AF610-9472-0F09-009F-441D9C0A6CCA}"/>
              </a:ext>
            </a:extLst>
          </p:cNvPr>
          <p:cNvSpPr txBox="1"/>
          <p:nvPr/>
        </p:nvSpPr>
        <p:spPr>
          <a:xfrm>
            <a:off x="1259502" y="2413468"/>
            <a:ext cx="38933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dirty="0">
                <a:solidFill>
                  <a:schemeClr val="tx2"/>
                </a:solidFill>
              </a:rPr>
              <a:t>Task</a:t>
            </a:r>
            <a:endParaRPr lang="en-GB" b="1" dirty="0">
              <a:solidFill>
                <a:schemeClr val="tx2"/>
              </a:solidFill>
            </a:endParaRPr>
          </a:p>
        </p:txBody>
      </p:sp>
      <p:sp>
        <p:nvSpPr>
          <p:cNvPr id="7" name="Freccia a destra 6">
            <a:extLst>
              <a:ext uri="{FF2B5EF4-FFF2-40B4-BE49-F238E27FC236}">
                <a16:creationId xmlns:a16="http://schemas.microsoft.com/office/drawing/2014/main" id="{F0C3B79B-A475-9A22-EF94-48DFD8F0165B}"/>
              </a:ext>
            </a:extLst>
          </p:cNvPr>
          <p:cNvSpPr/>
          <p:nvPr/>
        </p:nvSpPr>
        <p:spPr>
          <a:xfrm>
            <a:off x="3587417" y="2533748"/>
            <a:ext cx="868219" cy="210343"/>
          </a:xfrm>
          <a:prstGeom prst="right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2"/>
              </a:solidFill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5D7E3F1F-8435-E3B4-70F2-88AE49778BDA}"/>
              </a:ext>
            </a:extLst>
          </p:cNvPr>
          <p:cNvSpPr txBox="1"/>
          <p:nvPr/>
        </p:nvSpPr>
        <p:spPr>
          <a:xfrm>
            <a:off x="5152803" y="2403169"/>
            <a:ext cx="61190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 err="1"/>
              <a:t>Perceptual</a:t>
            </a:r>
            <a:r>
              <a:rPr lang="it-IT" dirty="0"/>
              <a:t> image </a:t>
            </a:r>
            <a:r>
              <a:rPr lang="it-IT" dirty="0" err="1"/>
              <a:t>similarity</a:t>
            </a:r>
            <a:r>
              <a:rPr lang="it-IT" dirty="0"/>
              <a:t> </a:t>
            </a:r>
            <a:r>
              <a:rPr lang="it-IT" dirty="0" err="1"/>
              <a:t>using</a:t>
            </a:r>
            <a:r>
              <a:rPr lang="it-IT" dirty="0"/>
              <a:t> </a:t>
            </a:r>
            <a:r>
              <a:rPr lang="it-IT" b="1" dirty="0"/>
              <a:t>NIGHTS</a:t>
            </a:r>
            <a:r>
              <a:rPr lang="it-IT" dirty="0"/>
              <a:t> dataset</a:t>
            </a:r>
          </a:p>
        </p:txBody>
      </p:sp>
      <p:sp>
        <p:nvSpPr>
          <p:cNvPr id="10" name="TextBox 14">
            <a:extLst>
              <a:ext uri="{FF2B5EF4-FFF2-40B4-BE49-F238E27FC236}">
                <a16:creationId xmlns:a16="http://schemas.microsoft.com/office/drawing/2014/main" id="{82DA6DA9-3381-954E-B2E0-94A953F41C16}"/>
              </a:ext>
            </a:extLst>
          </p:cNvPr>
          <p:cNvSpPr txBox="1"/>
          <p:nvPr/>
        </p:nvSpPr>
        <p:spPr>
          <a:xfrm>
            <a:off x="1259502" y="3978221"/>
            <a:ext cx="27620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dirty="0">
                <a:solidFill>
                  <a:schemeClr val="tx2"/>
                </a:solidFill>
              </a:rPr>
              <a:t>Goal</a:t>
            </a:r>
            <a:endParaRPr lang="en-GB" b="1" dirty="0">
              <a:solidFill>
                <a:schemeClr val="tx2"/>
              </a:solidFill>
            </a:endParaRPr>
          </a:p>
        </p:txBody>
      </p:sp>
      <p:sp>
        <p:nvSpPr>
          <p:cNvPr id="11" name="Freccia a destra 10">
            <a:extLst>
              <a:ext uri="{FF2B5EF4-FFF2-40B4-BE49-F238E27FC236}">
                <a16:creationId xmlns:a16="http://schemas.microsoft.com/office/drawing/2014/main" id="{7B62DCCF-86F5-7112-597D-E77009B819D1}"/>
              </a:ext>
            </a:extLst>
          </p:cNvPr>
          <p:cNvSpPr/>
          <p:nvPr/>
        </p:nvSpPr>
        <p:spPr>
          <a:xfrm>
            <a:off x="3587416" y="3323828"/>
            <a:ext cx="868219" cy="210343"/>
          </a:xfrm>
          <a:prstGeom prst="right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2"/>
              </a:solidFill>
            </a:endParaRP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3ADE3FE8-DF1D-EFF2-98DA-3AB31913C03E}"/>
              </a:ext>
            </a:extLst>
          </p:cNvPr>
          <p:cNvSpPr txBox="1"/>
          <p:nvPr/>
        </p:nvSpPr>
        <p:spPr>
          <a:xfrm>
            <a:off x="5152803" y="3203529"/>
            <a:ext cx="61190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DINO </a:t>
            </a:r>
            <a:r>
              <a:rPr lang="it-IT" dirty="0" err="1"/>
              <a:t>ViT</a:t>
            </a:r>
            <a:r>
              <a:rPr lang="it-IT" dirty="0"/>
              <a:t>-B/16 + </a:t>
            </a:r>
            <a:r>
              <a:rPr lang="it-IT" b="1" dirty="0" err="1"/>
              <a:t>Efficient</a:t>
            </a:r>
            <a:r>
              <a:rPr lang="it-IT" b="1" dirty="0"/>
              <a:t> </a:t>
            </a:r>
            <a:r>
              <a:rPr lang="it-IT" b="1" dirty="0" err="1"/>
              <a:t>Attention</a:t>
            </a:r>
            <a:r>
              <a:rPr lang="it-IT" b="1" dirty="0"/>
              <a:t> Layer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640AB877-24DA-55DC-066C-CFD03FD91059}"/>
              </a:ext>
            </a:extLst>
          </p:cNvPr>
          <p:cNvSpPr txBox="1"/>
          <p:nvPr/>
        </p:nvSpPr>
        <p:spPr>
          <a:xfrm>
            <a:off x="1259502" y="3183071"/>
            <a:ext cx="27620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dirty="0">
                <a:solidFill>
                  <a:schemeClr val="tx2"/>
                </a:solidFill>
              </a:rPr>
              <a:t>Backbone</a:t>
            </a:r>
            <a:endParaRPr lang="en-GB" b="1" dirty="0">
              <a:solidFill>
                <a:schemeClr val="tx2"/>
              </a:solidFill>
            </a:endParaRPr>
          </a:p>
        </p:txBody>
      </p:sp>
      <p:sp>
        <p:nvSpPr>
          <p:cNvPr id="15" name="Freccia a destra 14">
            <a:extLst>
              <a:ext uri="{FF2B5EF4-FFF2-40B4-BE49-F238E27FC236}">
                <a16:creationId xmlns:a16="http://schemas.microsoft.com/office/drawing/2014/main" id="{2ACBFC32-EA8B-BB9C-D5E8-C265A479ACCD}"/>
              </a:ext>
            </a:extLst>
          </p:cNvPr>
          <p:cNvSpPr/>
          <p:nvPr/>
        </p:nvSpPr>
        <p:spPr>
          <a:xfrm>
            <a:off x="3587416" y="4113909"/>
            <a:ext cx="868219" cy="210343"/>
          </a:xfrm>
          <a:prstGeom prst="right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2"/>
              </a:solidFill>
            </a:endParaRP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16987BAE-0A96-8703-C66D-0DCA921358FC}"/>
              </a:ext>
            </a:extLst>
          </p:cNvPr>
          <p:cNvSpPr txBox="1"/>
          <p:nvPr/>
        </p:nvSpPr>
        <p:spPr>
          <a:xfrm>
            <a:off x="5152803" y="3983386"/>
            <a:ext cx="61190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Reduce computational cost </a:t>
            </a:r>
            <a:r>
              <a:rPr lang="en-US" dirty="0"/>
              <a:t>while preserving perceptual accuracy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7650831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18764">
        <p159:morph option="byObject"/>
      </p:transition>
    </mc:Choice>
    <mc:Fallback xmlns="">
      <p:transition spd="slow" advTm="18764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170FF9-83B7-826D-22B1-CE8CA0859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logo, symbol, emblem, graphics&#10;&#10;Description automatically generated">
            <a:extLst>
              <a:ext uri="{FF2B5EF4-FFF2-40B4-BE49-F238E27FC236}">
                <a16:creationId xmlns:a16="http://schemas.microsoft.com/office/drawing/2014/main" id="{E78249CB-FF1D-0EE8-3FB3-B72DDACC959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25" t="13953" r="7371" b="6977"/>
          <a:stretch/>
        </p:blipFill>
        <p:spPr>
          <a:xfrm>
            <a:off x="944880" y="-1712"/>
            <a:ext cx="985520" cy="1129472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E468AE-1268-D60F-05FE-B566965B4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311901"/>
            <a:ext cx="838200" cy="546099"/>
          </a:xfrm>
        </p:spPr>
        <p:txBody>
          <a:bodyPr/>
          <a:lstStyle/>
          <a:p>
            <a:r>
              <a:rPr lang="en-US" dirty="0"/>
              <a:t>2/9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A13934-421F-0669-C5F3-46FC380A77F3}"/>
              </a:ext>
            </a:extLst>
          </p:cNvPr>
          <p:cNvSpPr txBox="1"/>
          <p:nvPr/>
        </p:nvSpPr>
        <p:spPr>
          <a:xfrm>
            <a:off x="2192572" y="563024"/>
            <a:ext cx="92036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n w="0"/>
                <a:solidFill>
                  <a:schemeClr val="tx2"/>
                </a:solidFill>
              </a:rPr>
              <a:t>NIGHTS Dataset &amp; Perceptual Similarity Task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8D876E-1E15-6828-D1C9-2AE886CC9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11900"/>
            <a:ext cx="11353800" cy="546100"/>
          </a:xfrm>
        </p:spPr>
        <p:txBody>
          <a:bodyPr/>
          <a:lstStyle/>
          <a:p>
            <a:r>
              <a:rPr lang="en-US" dirty="0"/>
              <a:t>Efficient Attention Impact on Transformer</a:t>
            </a:r>
          </a:p>
          <a:p>
            <a:r>
              <a:rPr lang="en-US" dirty="0"/>
              <a:t>Backbones for Perceptual Similarity </a:t>
            </a:r>
          </a:p>
        </p:txBody>
      </p:sp>
      <p:sp>
        <p:nvSpPr>
          <p:cNvPr id="36" name="TextBox 14">
            <a:extLst>
              <a:ext uri="{FF2B5EF4-FFF2-40B4-BE49-F238E27FC236}">
                <a16:creationId xmlns:a16="http://schemas.microsoft.com/office/drawing/2014/main" id="{5B041BB1-2591-9C60-6C41-0D1C07DDA809}"/>
              </a:ext>
            </a:extLst>
          </p:cNvPr>
          <p:cNvSpPr txBox="1"/>
          <p:nvPr/>
        </p:nvSpPr>
        <p:spPr>
          <a:xfrm>
            <a:off x="719196" y="1353727"/>
            <a:ext cx="2762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Each sample contains:</a:t>
            </a:r>
          </a:p>
        </p:txBody>
      </p:sp>
      <p:pic>
        <p:nvPicPr>
          <p:cNvPr id="14" name="Immagine 13">
            <a:extLst>
              <a:ext uri="{FF2B5EF4-FFF2-40B4-BE49-F238E27FC236}">
                <a16:creationId xmlns:a16="http://schemas.microsoft.com/office/drawing/2014/main" id="{D2BE9C4D-765E-3EF8-C2CB-14E85FDDB8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8054" y="2591671"/>
            <a:ext cx="2135428" cy="2135428"/>
          </a:xfrm>
          <a:prstGeom prst="rect">
            <a:avLst/>
          </a:prstGeom>
        </p:spPr>
      </p:pic>
      <p:pic>
        <p:nvPicPr>
          <p:cNvPr id="15" name="Immagine 14">
            <a:extLst>
              <a:ext uri="{FF2B5EF4-FFF2-40B4-BE49-F238E27FC236}">
                <a16:creationId xmlns:a16="http://schemas.microsoft.com/office/drawing/2014/main" id="{FB21191B-55F2-5624-9B4D-6C7682A7EC0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6030" y="2591671"/>
            <a:ext cx="2135428" cy="2135428"/>
          </a:xfrm>
          <a:prstGeom prst="rect">
            <a:avLst/>
          </a:prstGeom>
        </p:spPr>
      </p:pic>
      <p:pic>
        <p:nvPicPr>
          <p:cNvPr id="17" name="Immagine 16">
            <a:extLst>
              <a:ext uri="{FF2B5EF4-FFF2-40B4-BE49-F238E27FC236}">
                <a16:creationId xmlns:a16="http://schemas.microsoft.com/office/drawing/2014/main" id="{CAF00B43-E83C-BB56-B445-8856351C225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519" y="2591671"/>
            <a:ext cx="2135428" cy="2135428"/>
          </a:xfrm>
          <a:prstGeom prst="rect">
            <a:avLst/>
          </a:prstGeom>
        </p:spPr>
      </p:pic>
      <p:sp>
        <p:nvSpPr>
          <p:cNvPr id="18" name="TextBox 14">
            <a:extLst>
              <a:ext uri="{FF2B5EF4-FFF2-40B4-BE49-F238E27FC236}">
                <a16:creationId xmlns:a16="http://schemas.microsoft.com/office/drawing/2014/main" id="{B9AFFD03-C52C-7035-03D3-D656C89DF911}"/>
              </a:ext>
            </a:extLst>
          </p:cNvPr>
          <p:cNvSpPr txBox="1"/>
          <p:nvPr/>
        </p:nvSpPr>
        <p:spPr>
          <a:xfrm>
            <a:off x="686221" y="4765610"/>
            <a:ext cx="2762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Reference Image</a:t>
            </a:r>
          </a:p>
        </p:txBody>
      </p:sp>
      <p:cxnSp>
        <p:nvCxnSpPr>
          <p:cNvPr id="20" name="Connettore diritto 19">
            <a:extLst>
              <a:ext uri="{FF2B5EF4-FFF2-40B4-BE49-F238E27FC236}">
                <a16:creationId xmlns:a16="http://schemas.microsoft.com/office/drawing/2014/main" id="{EDA4590F-F373-4D6A-A5BB-1FE908186220}"/>
              </a:ext>
            </a:extLst>
          </p:cNvPr>
          <p:cNvCxnSpPr/>
          <p:nvPr/>
        </p:nvCxnSpPr>
        <p:spPr>
          <a:xfrm>
            <a:off x="3481220" y="2044804"/>
            <a:ext cx="0" cy="3411881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14">
            <a:extLst>
              <a:ext uri="{FF2B5EF4-FFF2-40B4-BE49-F238E27FC236}">
                <a16:creationId xmlns:a16="http://schemas.microsoft.com/office/drawing/2014/main" id="{FE988D5A-1CA6-9D4B-C88F-BA3B3B815F7D}"/>
              </a:ext>
            </a:extLst>
          </p:cNvPr>
          <p:cNvSpPr txBox="1"/>
          <p:nvPr/>
        </p:nvSpPr>
        <p:spPr>
          <a:xfrm>
            <a:off x="3653630" y="4789747"/>
            <a:ext cx="2762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Left Candidate</a:t>
            </a:r>
          </a:p>
        </p:txBody>
      </p:sp>
      <p:sp>
        <p:nvSpPr>
          <p:cNvPr id="22" name="TextBox 14">
            <a:extLst>
              <a:ext uri="{FF2B5EF4-FFF2-40B4-BE49-F238E27FC236}">
                <a16:creationId xmlns:a16="http://schemas.microsoft.com/office/drawing/2014/main" id="{21413C15-136B-435F-6CFE-3525F2A17A2E}"/>
              </a:ext>
            </a:extLst>
          </p:cNvPr>
          <p:cNvSpPr txBox="1"/>
          <p:nvPr/>
        </p:nvSpPr>
        <p:spPr>
          <a:xfrm>
            <a:off x="6415654" y="4789747"/>
            <a:ext cx="2762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Right Candidate</a:t>
            </a:r>
          </a:p>
        </p:txBody>
      </p:sp>
      <p:pic>
        <p:nvPicPr>
          <p:cNvPr id="24" name="Elemento grafico 23">
            <a:extLst>
              <a:ext uri="{FF2B5EF4-FFF2-40B4-BE49-F238E27FC236}">
                <a16:creationId xmlns:a16="http://schemas.microsoft.com/office/drawing/2014/main" id="{B18E7831-502B-2D64-DC82-BD27A2CB674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040839" y="2832550"/>
            <a:ext cx="1957197" cy="1957197"/>
          </a:xfrm>
          <a:prstGeom prst="rect">
            <a:avLst/>
          </a:prstGeom>
        </p:spPr>
      </p:pic>
      <p:sp>
        <p:nvSpPr>
          <p:cNvPr id="26" name="TextBox 14">
            <a:extLst>
              <a:ext uri="{FF2B5EF4-FFF2-40B4-BE49-F238E27FC236}">
                <a16:creationId xmlns:a16="http://schemas.microsoft.com/office/drawing/2014/main" id="{E8ACA850-2867-ACA0-D042-1610CD16883A}"/>
              </a:ext>
            </a:extLst>
          </p:cNvPr>
          <p:cNvSpPr txBox="1"/>
          <p:nvPr/>
        </p:nvSpPr>
        <p:spPr>
          <a:xfrm>
            <a:off x="9638425" y="4865439"/>
            <a:ext cx="2762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Human Preferences</a:t>
            </a:r>
          </a:p>
        </p:txBody>
      </p:sp>
      <p:sp>
        <p:nvSpPr>
          <p:cNvPr id="7" name="Freccia a destra 6">
            <a:extLst>
              <a:ext uri="{FF2B5EF4-FFF2-40B4-BE49-F238E27FC236}">
                <a16:creationId xmlns:a16="http://schemas.microsoft.com/office/drawing/2014/main" id="{FDD6FF7C-84E7-76C8-2662-2FF821ACD724}"/>
              </a:ext>
            </a:extLst>
          </p:cNvPr>
          <p:cNvSpPr/>
          <p:nvPr/>
        </p:nvSpPr>
        <p:spPr>
          <a:xfrm>
            <a:off x="9055968" y="3683138"/>
            <a:ext cx="868219" cy="210343"/>
          </a:xfrm>
          <a:prstGeom prst="right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25086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18764">
        <p159:morph option="byObject"/>
      </p:transition>
    </mc:Choice>
    <mc:Fallback xmlns="">
      <p:transition spd="slow" advTm="18764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BF9098-A5D4-E510-49B4-97CBBE5ED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logo, symbol, emblem, graphics&#10;&#10;Description automatically generated">
            <a:extLst>
              <a:ext uri="{FF2B5EF4-FFF2-40B4-BE49-F238E27FC236}">
                <a16:creationId xmlns:a16="http://schemas.microsoft.com/office/drawing/2014/main" id="{62AE0F82-6670-2B39-20E4-6A5A06E0CAC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25" t="13953" r="7371" b="6977"/>
          <a:stretch/>
        </p:blipFill>
        <p:spPr>
          <a:xfrm>
            <a:off x="944880" y="-1712"/>
            <a:ext cx="985520" cy="1129472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ABF8DB-32E6-2F15-0E1B-AF147C1F7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311901"/>
            <a:ext cx="838200" cy="546099"/>
          </a:xfrm>
        </p:spPr>
        <p:txBody>
          <a:bodyPr/>
          <a:lstStyle/>
          <a:p>
            <a:r>
              <a:rPr lang="en-US" dirty="0"/>
              <a:t>3/9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30995D-E261-CC62-259B-342D5CA1BE16}"/>
              </a:ext>
            </a:extLst>
          </p:cNvPr>
          <p:cNvSpPr txBox="1"/>
          <p:nvPr/>
        </p:nvSpPr>
        <p:spPr>
          <a:xfrm>
            <a:off x="2192572" y="563024"/>
            <a:ext cx="92036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n w="0"/>
                <a:solidFill>
                  <a:schemeClr val="tx2"/>
                </a:solidFill>
              </a:rPr>
              <a:t>NIGHTS Dataset &amp; Perceptual Similarity Task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AD93D7-BBC3-0D27-552A-F07D83388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11900"/>
            <a:ext cx="11353800" cy="546100"/>
          </a:xfrm>
        </p:spPr>
        <p:txBody>
          <a:bodyPr/>
          <a:lstStyle/>
          <a:p>
            <a:r>
              <a:rPr lang="en-US" dirty="0"/>
              <a:t>Efficient Attention Impact on Transformer</a:t>
            </a:r>
          </a:p>
          <a:p>
            <a:r>
              <a:rPr lang="en-US" dirty="0"/>
              <a:t>Backbones for Perceptual Similarity </a:t>
            </a:r>
          </a:p>
        </p:txBody>
      </p:sp>
      <p:pic>
        <p:nvPicPr>
          <p:cNvPr id="7" name="Elemento grafico 6">
            <a:extLst>
              <a:ext uri="{FF2B5EF4-FFF2-40B4-BE49-F238E27FC236}">
                <a16:creationId xmlns:a16="http://schemas.microsoft.com/office/drawing/2014/main" id="{D8C4B8D1-38C4-A693-86AB-99764890E2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848519" y="2115126"/>
            <a:ext cx="2082799" cy="208279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14">
                <a:extLst>
                  <a:ext uri="{FF2B5EF4-FFF2-40B4-BE49-F238E27FC236}">
                    <a16:creationId xmlns:a16="http://schemas.microsoft.com/office/drawing/2014/main" id="{C2F6C2E9-644A-0DC8-5265-0B2AC7543605}"/>
                  </a:ext>
                </a:extLst>
              </p:cNvPr>
              <p:cNvSpPr txBox="1"/>
              <p:nvPr/>
            </p:nvSpPr>
            <p:spPr>
              <a:xfrm>
                <a:off x="1572953" y="4108055"/>
                <a:ext cx="27620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dirty="0"/>
                  <a:t>Sampled with </a:t>
                </a:r>
                <a14:m>
                  <m:oMath xmlns:m="http://schemas.openxmlformats.org/officeDocument/2006/math"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it-I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6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14">
                <a:extLst>
                  <a:ext uri="{FF2B5EF4-FFF2-40B4-BE49-F238E27FC236}">
                    <a16:creationId xmlns:a16="http://schemas.microsoft.com/office/drawing/2014/main" id="{C2F6C2E9-644A-0DC8-5265-0B2AC75436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2953" y="4108055"/>
                <a:ext cx="2762024" cy="369332"/>
              </a:xfrm>
              <a:prstGeom prst="rect">
                <a:avLst/>
              </a:prstGeom>
              <a:blipFill>
                <a:blip r:embed="rId6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C6243C04-0B27-BCAC-BCFF-2EA0F45D19E1}"/>
              </a:ext>
            </a:extLst>
          </p:cNvPr>
          <p:cNvSpPr txBox="1"/>
          <p:nvPr/>
        </p:nvSpPr>
        <p:spPr>
          <a:xfrm>
            <a:off x="7601526" y="211512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 err="1"/>
              <a:t>Metric</a:t>
            </a:r>
            <a:r>
              <a:rPr lang="it-IT" dirty="0"/>
              <a:t>: </a:t>
            </a:r>
            <a:r>
              <a:rPr lang="it-IT" b="1" dirty="0">
                <a:solidFill>
                  <a:schemeClr val="tx2"/>
                </a:solidFill>
              </a:rPr>
              <a:t>2AFC</a:t>
            </a:r>
            <a:r>
              <a:rPr lang="it-IT" b="1" dirty="0"/>
              <a:t> </a:t>
            </a:r>
            <a:r>
              <a:rPr lang="it-IT" b="1" dirty="0" err="1">
                <a:solidFill>
                  <a:schemeClr val="tx2"/>
                </a:solidFill>
              </a:rPr>
              <a:t>accuracy</a:t>
            </a:r>
            <a:endParaRPr lang="it-IT" dirty="0">
              <a:solidFill>
                <a:schemeClr val="tx2"/>
              </a:solidFill>
            </a:endParaRPr>
          </a:p>
        </p:txBody>
      </p:sp>
      <p:cxnSp>
        <p:nvCxnSpPr>
          <p:cNvPr id="16" name="Connettore diritto 15">
            <a:extLst>
              <a:ext uri="{FF2B5EF4-FFF2-40B4-BE49-F238E27FC236}">
                <a16:creationId xmlns:a16="http://schemas.microsoft.com/office/drawing/2014/main" id="{226968A9-9915-0CD3-90FF-718FA1F408F4}"/>
              </a:ext>
            </a:extLst>
          </p:cNvPr>
          <p:cNvCxnSpPr/>
          <p:nvPr/>
        </p:nvCxnSpPr>
        <p:spPr>
          <a:xfrm>
            <a:off x="5827257" y="1723059"/>
            <a:ext cx="0" cy="3411881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asellaDiTesto 16">
                <a:extLst>
                  <a:ext uri="{FF2B5EF4-FFF2-40B4-BE49-F238E27FC236}">
                    <a16:creationId xmlns:a16="http://schemas.microsoft.com/office/drawing/2014/main" id="{53A6A8AE-ED78-DFF5-1A18-5DB8E2DCDDA0}"/>
                  </a:ext>
                </a:extLst>
              </p:cNvPr>
              <p:cNvSpPr txBox="1"/>
              <p:nvPr/>
            </p:nvSpPr>
            <p:spPr>
              <a:xfrm>
                <a:off x="6515100" y="3036211"/>
                <a:ext cx="4963602" cy="57323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𝐴𝐹𝐶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𝑐𝑜𝑟𝑟𝑒𝑛𝑡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h𝑢𝑚𝑎𝑛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𝑝𝑟𝑒𝑓𝑒𝑟𝑒𝑛𝑐𝑒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𝑝𝑟𝑒𝑑𝑖𝑐𝑡𝑖𝑜𝑛𝑠</m:t>
                          </m:r>
                        </m:num>
                        <m:den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𝑡𝑜𝑡𝑎𝑙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𝑐𝑜𝑚𝑝𝑎𝑟𝑖𝑠𝑖𝑜𝑛</m:t>
                          </m:r>
                        </m:den>
                      </m:f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17" name="CasellaDiTesto 16">
                <a:extLst>
                  <a:ext uri="{FF2B5EF4-FFF2-40B4-BE49-F238E27FC236}">
                    <a16:creationId xmlns:a16="http://schemas.microsoft.com/office/drawing/2014/main" id="{53A6A8AE-ED78-DFF5-1A18-5DB8E2DCDD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5100" y="3036211"/>
                <a:ext cx="4963602" cy="57323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E91D6593-9D91-36A8-8E60-DA83D2E39FA4}"/>
              </a:ext>
            </a:extLst>
          </p:cNvPr>
          <p:cNvSpPr txBox="1"/>
          <p:nvPr/>
        </p:nvSpPr>
        <p:spPr>
          <a:xfrm>
            <a:off x="7225145" y="4197925"/>
            <a:ext cx="684876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Training:</a:t>
            </a:r>
            <a:r>
              <a:rPr lang="en-US" dirty="0"/>
              <a:t> 50% of train split</a:t>
            </a:r>
            <a:br>
              <a:rPr lang="en-US" dirty="0"/>
            </a:br>
            <a:r>
              <a:rPr lang="en-US" b="1" dirty="0"/>
              <a:t>Validation:</a:t>
            </a:r>
            <a:r>
              <a:rPr lang="en-US" dirty="0"/>
              <a:t> 50% of validation split</a:t>
            </a:r>
            <a:br>
              <a:rPr lang="en-US" dirty="0"/>
            </a:br>
            <a:r>
              <a:rPr lang="en-US" b="1" dirty="0"/>
              <a:t>Test:</a:t>
            </a:r>
            <a:r>
              <a:rPr lang="en-US" dirty="0"/>
              <a:t> full filtered test split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5041873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18764">
        <p159:morph option="byObject"/>
      </p:transition>
    </mc:Choice>
    <mc:Fallback xmlns="">
      <p:transition spd="slow" advTm="18764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8BB28-9E49-F428-5C66-501446FAD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logo, symbol, emblem, graphics&#10;&#10;Description automatically generated">
            <a:extLst>
              <a:ext uri="{FF2B5EF4-FFF2-40B4-BE49-F238E27FC236}">
                <a16:creationId xmlns:a16="http://schemas.microsoft.com/office/drawing/2014/main" id="{E591C1FD-122B-6874-03FC-04F95348471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25" t="13953" r="7371" b="6977"/>
          <a:stretch/>
        </p:blipFill>
        <p:spPr>
          <a:xfrm>
            <a:off x="944880" y="-1712"/>
            <a:ext cx="985520" cy="1129472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01932E-C157-B849-E433-5A05F2C28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311901"/>
            <a:ext cx="838200" cy="546099"/>
          </a:xfrm>
        </p:spPr>
        <p:txBody>
          <a:bodyPr/>
          <a:lstStyle/>
          <a:p>
            <a:r>
              <a:rPr lang="en-US" dirty="0"/>
              <a:t>4/9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FF8DF4-9F6F-32E7-D372-85B139CB97E8}"/>
              </a:ext>
            </a:extLst>
          </p:cNvPr>
          <p:cNvSpPr txBox="1"/>
          <p:nvPr/>
        </p:nvSpPr>
        <p:spPr>
          <a:xfrm>
            <a:off x="2192572" y="563024"/>
            <a:ext cx="92036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n w="0"/>
                <a:solidFill>
                  <a:schemeClr val="tx2"/>
                </a:solidFill>
              </a:rPr>
              <a:t>DreamSim-like Perceptual Similarity Pipeline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7CDE1B-3EA6-C0D7-2339-F65602E94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11900"/>
            <a:ext cx="11353800" cy="546100"/>
          </a:xfrm>
        </p:spPr>
        <p:txBody>
          <a:bodyPr/>
          <a:lstStyle/>
          <a:p>
            <a:r>
              <a:rPr lang="en-US" dirty="0"/>
              <a:t>Efficient Attention Impact on Transformer</a:t>
            </a:r>
          </a:p>
          <a:p>
            <a:r>
              <a:rPr lang="en-US" dirty="0"/>
              <a:t>Backbones for Perceptual Similarity </a:t>
            </a:r>
          </a:p>
        </p:txBody>
      </p:sp>
      <p:pic>
        <p:nvPicPr>
          <p:cNvPr id="17" name="Immagine 16">
            <a:extLst>
              <a:ext uri="{FF2B5EF4-FFF2-40B4-BE49-F238E27FC236}">
                <a16:creationId xmlns:a16="http://schemas.microsoft.com/office/drawing/2014/main" id="{E4B381E0-2F0A-C2C2-7619-80CA17E6C5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330" b="30152"/>
          <a:stretch>
            <a:fillRect/>
          </a:stretch>
        </p:blipFill>
        <p:spPr>
          <a:xfrm>
            <a:off x="598144" y="1444707"/>
            <a:ext cx="10727228" cy="2265103"/>
          </a:xfrm>
          <a:prstGeom prst="rect">
            <a:avLst/>
          </a:prstGeom>
        </p:spPr>
      </p:pic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5782E409-BCEC-4335-D841-E836DB064B47}"/>
              </a:ext>
            </a:extLst>
          </p:cNvPr>
          <p:cNvSpPr txBox="1"/>
          <p:nvPr/>
        </p:nvSpPr>
        <p:spPr>
          <a:xfrm>
            <a:off x="523054" y="3970102"/>
            <a:ext cx="58720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b="1" dirty="0" err="1">
                <a:solidFill>
                  <a:schemeClr val="tx2"/>
                </a:solidFill>
              </a:rPr>
              <a:t>What</a:t>
            </a:r>
            <a:r>
              <a:rPr lang="it-IT" b="1" dirty="0">
                <a:solidFill>
                  <a:schemeClr val="tx2"/>
                </a:solidFill>
              </a:rPr>
              <a:t> </a:t>
            </a:r>
            <a:r>
              <a:rPr lang="it-IT" b="1" dirty="0" err="1">
                <a:solidFill>
                  <a:schemeClr val="tx2"/>
                </a:solidFill>
              </a:rPr>
              <a:t>we</a:t>
            </a:r>
            <a:r>
              <a:rPr lang="it-IT" b="1" dirty="0">
                <a:solidFill>
                  <a:schemeClr val="tx2"/>
                </a:solidFill>
              </a:rPr>
              <a:t> </a:t>
            </a:r>
            <a:r>
              <a:rPr lang="it-IT" b="1" dirty="0" err="1">
                <a:solidFill>
                  <a:schemeClr val="tx2"/>
                </a:solidFill>
              </a:rPr>
              <a:t>tested</a:t>
            </a:r>
            <a:r>
              <a:rPr lang="it-IT" b="1" dirty="0">
                <a:solidFill>
                  <a:schemeClr val="tx2"/>
                </a:solidFill>
              </a:rPr>
              <a:t>?</a:t>
            </a: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0BCF0979-87B1-4F20-F6C6-FCC5E4FDF993}"/>
              </a:ext>
            </a:extLst>
          </p:cNvPr>
          <p:cNvSpPr txBox="1"/>
          <p:nvPr/>
        </p:nvSpPr>
        <p:spPr>
          <a:xfrm>
            <a:off x="598144" y="4514638"/>
            <a:ext cx="579697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/>
              <a:t>Baseline</a:t>
            </a:r>
            <a:r>
              <a:rPr lang="it-IT" dirty="0"/>
              <a:t> 	</a:t>
            </a:r>
            <a:r>
              <a:rPr lang="it-IT" dirty="0">
                <a:solidFill>
                  <a:schemeClr val="tx2"/>
                </a:solidFill>
              </a:rPr>
              <a:t>→	</a:t>
            </a:r>
            <a:r>
              <a:rPr lang="it-IT" dirty="0"/>
              <a:t>Standard Self-</a:t>
            </a:r>
            <a:r>
              <a:rPr lang="it-IT" dirty="0" err="1"/>
              <a:t>Attention</a:t>
            </a:r>
            <a:r>
              <a:rPr lang="it-IT" dirty="0"/>
              <a:t>  </a:t>
            </a:r>
            <a:endParaRPr lang="it-IT" dirty="0">
              <a:solidFill>
                <a:schemeClr val="tx2"/>
              </a:solidFill>
            </a:endParaRPr>
          </a:p>
          <a:p>
            <a:r>
              <a:rPr lang="it-IT" b="1" dirty="0"/>
              <a:t>SRA</a:t>
            </a:r>
            <a:r>
              <a:rPr lang="it-IT" dirty="0"/>
              <a:t>		</a:t>
            </a:r>
            <a:r>
              <a:rPr lang="it-IT" dirty="0">
                <a:solidFill>
                  <a:schemeClr val="tx2"/>
                </a:solidFill>
              </a:rPr>
              <a:t>→</a:t>
            </a:r>
            <a:r>
              <a:rPr lang="it-IT" dirty="0"/>
              <a:t> 	</a:t>
            </a:r>
            <a:r>
              <a:rPr lang="it-IT" dirty="0" err="1"/>
              <a:t>Spatial</a:t>
            </a:r>
            <a:r>
              <a:rPr lang="it-IT" dirty="0"/>
              <a:t> </a:t>
            </a:r>
            <a:r>
              <a:rPr lang="it-IT" dirty="0" err="1"/>
              <a:t>Reduction</a:t>
            </a:r>
            <a:r>
              <a:rPr lang="it-IT" dirty="0"/>
              <a:t> </a:t>
            </a:r>
            <a:r>
              <a:rPr lang="it-IT" dirty="0" err="1"/>
              <a:t>Attention</a:t>
            </a:r>
            <a:br>
              <a:rPr lang="it-IT" dirty="0"/>
            </a:br>
            <a:r>
              <a:rPr lang="it-IT" b="1" dirty="0" err="1"/>
              <a:t>MetaFormer</a:t>
            </a:r>
            <a:r>
              <a:rPr lang="it-IT" dirty="0"/>
              <a:t>	</a:t>
            </a:r>
            <a:r>
              <a:rPr lang="it-IT" dirty="0">
                <a:solidFill>
                  <a:schemeClr val="tx2"/>
                </a:solidFill>
              </a:rPr>
              <a:t>→</a:t>
            </a:r>
            <a:r>
              <a:rPr lang="it-IT" dirty="0"/>
              <a:t> 	Pooling Token Mixer</a:t>
            </a:r>
            <a:br>
              <a:rPr lang="it-IT" dirty="0"/>
            </a:br>
            <a:r>
              <a:rPr lang="it-IT" b="1" dirty="0" err="1"/>
              <a:t>MoH</a:t>
            </a:r>
            <a:r>
              <a:rPr lang="it-IT" dirty="0">
                <a:solidFill>
                  <a:schemeClr val="tx2"/>
                </a:solidFill>
              </a:rPr>
              <a:t> 		→</a:t>
            </a:r>
            <a:r>
              <a:rPr lang="it-IT" dirty="0"/>
              <a:t> 	</a:t>
            </a:r>
            <a:r>
              <a:rPr lang="it-IT" dirty="0" err="1"/>
              <a:t>Mixture</a:t>
            </a:r>
            <a:r>
              <a:rPr lang="it-IT" dirty="0"/>
              <a:t>-of-Heads</a:t>
            </a:r>
            <a:endParaRPr lang="it-IT" dirty="0">
              <a:solidFill>
                <a:schemeClr val="tx2"/>
              </a:solidFill>
            </a:endParaRPr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78B1603C-8DFF-F8C2-2225-418F4604BF2B}"/>
              </a:ext>
            </a:extLst>
          </p:cNvPr>
          <p:cNvSpPr txBox="1"/>
          <p:nvPr/>
        </p:nvSpPr>
        <p:spPr>
          <a:xfrm>
            <a:off x="6742650" y="4733360"/>
            <a:ext cx="44864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/>
              <a:t>Full	</a:t>
            </a:r>
            <a:r>
              <a:rPr lang="it-IT" dirty="0">
                <a:solidFill>
                  <a:schemeClr val="tx2"/>
                </a:solidFill>
              </a:rPr>
              <a:t> →</a:t>
            </a:r>
            <a:r>
              <a:rPr lang="it-IT" b="1" dirty="0"/>
              <a:t> 	</a:t>
            </a:r>
            <a:r>
              <a:rPr lang="it-IT" dirty="0" err="1"/>
              <a:t>Blocks</a:t>
            </a:r>
            <a:r>
              <a:rPr lang="it-IT" dirty="0"/>
              <a:t> 0-11 </a:t>
            </a:r>
            <a:r>
              <a:rPr lang="it-IT" dirty="0" err="1"/>
              <a:t>replaced</a:t>
            </a:r>
            <a:endParaRPr lang="it-IT" dirty="0"/>
          </a:p>
          <a:p>
            <a:r>
              <a:rPr lang="it-IT" b="1" dirty="0"/>
              <a:t>HALF	 </a:t>
            </a:r>
            <a:r>
              <a:rPr lang="it-IT" dirty="0">
                <a:solidFill>
                  <a:schemeClr val="tx2"/>
                </a:solidFill>
              </a:rPr>
              <a:t>→</a:t>
            </a:r>
            <a:r>
              <a:rPr lang="it-IT" b="1" dirty="0"/>
              <a:t> 	</a:t>
            </a:r>
            <a:r>
              <a:rPr lang="it-IT" dirty="0" err="1"/>
              <a:t>Blocks</a:t>
            </a:r>
            <a:r>
              <a:rPr lang="it-IT" dirty="0"/>
              <a:t> 6-11 </a:t>
            </a:r>
            <a:r>
              <a:rPr lang="it-IT" dirty="0" err="1"/>
              <a:t>replaced</a:t>
            </a:r>
            <a:endParaRPr lang="it-IT" b="1" dirty="0"/>
          </a:p>
        </p:txBody>
      </p:sp>
      <p:cxnSp>
        <p:nvCxnSpPr>
          <p:cNvPr id="30" name="Connettore diritto 29">
            <a:extLst>
              <a:ext uri="{FF2B5EF4-FFF2-40B4-BE49-F238E27FC236}">
                <a16:creationId xmlns:a16="http://schemas.microsoft.com/office/drawing/2014/main" id="{80B3DB6B-648F-C678-753A-863CED8DC29D}"/>
              </a:ext>
            </a:extLst>
          </p:cNvPr>
          <p:cNvCxnSpPr>
            <a:cxnSpLocks/>
          </p:cNvCxnSpPr>
          <p:nvPr/>
        </p:nvCxnSpPr>
        <p:spPr>
          <a:xfrm flipV="1">
            <a:off x="6374508" y="4073770"/>
            <a:ext cx="1" cy="1901143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Connettore diritto 1">
            <a:extLst>
              <a:ext uri="{FF2B5EF4-FFF2-40B4-BE49-F238E27FC236}">
                <a16:creationId xmlns:a16="http://schemas.microsoft.com/office/drawing/2014/main" id="{3818CAD7-09EC-B7DB-5A58-24EC21F05E09}"/>
              </a:ext>
            </a:extLst>
          </p:cNvPr>
          <p:cNvCxnSpPr>
            <a:cxnSpLocks/>
          </p:cNvCxnSpPr>
          <p:nvPr/>
        </p:nvCxnSpPr>
        <p:spPr>
          <a:xfrm>
            <a:off x="523054" y="3709810"/>
            <a:ext cx="11145892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B8AEB78A-75EF-97D8-0A16-62723D36017A}"/>
              </a:ext>
            </a:extLst>
          </p:cNvPr>
          <p:cNvSpPr txBox="1"/>
          <p:nvPr/>
        </p:nvSpPr>
        <p:spPr>
          <a:xfrm>
            <a:off x="6407903" y="3982566"/>
            <a:ext cx="58720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b="1" dirty="0">
                <a:solidFill>
                  <a:schemeClr val="tx2"/>
                </a:solidFill>
              </a:rPr>
              <a:t>How </a:t>
            </a:r>
            <a:r>
              <a:rPr lang="it-IT" b="1" dirty="0" err="1">
                <a:solidFill>
                  <a:schemeClr val="tx2"/>
                </a:solidFill>
              </a:rPr>
              <a:t>we</a:t>
            </a:r>
            <a:r>
              <a:rPr lang="it-IT" b="1" dirty="0">
                <a:solidFill>
                  <a:schemeClr val="tx2"/>
                </a:solidFill>
              </a:rPr>
              <a:t> </a:t>
            </a:r>
            <a:r>
              <a:rPr lang="it-IT" b="1" dirty="0" err="1">
                <a:solidFill>
                  <a:schemeClr val="tx2"/>
                </a:solidFill>
              </a:rPr>
              <a:t>tested</a:t>
            </a:r>
            <a:r>
              <a:rPr lang="it-IT" b="1" dirty="0">
                <a:solidFill>
                  <a:schemeClr val="tx2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6140224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18764">
        <p159:morph option="byObject"/>
      </p:transition>
    </mc:Choice>
    <mc:Fallback xmlns="">
      <p:transition spd="slow" advTm="18764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C903C-1828-110F-8192-C5C99CA7F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: Rounded Corners 13">
            <a:extLst>
              <a:ext uri="{FF2B5EF4-FFF2-40B4-BE49-F238E27FC236}">
                <a16:creationId xmlns:a16="http://schemas.microsoft.com/office/drawing/2014/main" id="{FF7376E5-6CBA-F738-AC8D-D42E26387760}"/>
              </a:ext>
            </a:extLst>
          </p:cNvPr>
          <p:cNvSpPr/>
          <p:nvPr/>
        </p:nvSpPr>
        <p:spPr>
          <a:xfrm>
            <a:off x="7764584" y="4191448"/>
            <a:ext cx="4114073" cy="958645"/>
          </a:xfrm>
          <a:prstGeom prst="round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 dirty="0"/>
          </a:p>
        </p:txBody>
      </p:sp>
      <p:pic>
        <p:nvPicPr>
          <p:cNvPr id="5" name="Picture 4" descr="A picture containing logo, symbol, emblem, graphics&#10;&#10;Description automatically generated">
            <a:extLst>
              <a:ext uri="{FF2B5EF4-FFF2-40B4-BE49-F238E27FC236}">
                <a16:creationId xmlns:a16="http://schemas.microsoft.com/office/drawing/2014/main" id="{35222CC5-A4F4-449F-A9FB-7DC2269EDF6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25" t="13953" r="7371" b="6977"/>
          <a:stretch/>
        </p:blipFill>
        <p:spPr>
          <a:xfrm>
            <a:off x="944880" y="-1712"/>
            <a:ext cx="985520" cy="1129472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9B20BC-2C28-EB7C-B7FB-05FA7D1AF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311901"/>
            <a:ext cx="838200" cy="546099"/>
          </a:xfrm>
        </p:spPr>
        <p:txBody>
          <a:bodyPr/>
          <a:lstStyle/>
          <a:p>
            <a:r>
              <a:rPr lang="en-US" dirty="0"/>
              <a:t>5/9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A6C225-12AE-4AD6-F504-FAAF83572DDD}"/>
              </a:ext>
            </a:extLst>
          </p:cNvPr>
          <p:cNvSpPr txBox="1"/>
          <p:nvPr/>
        </p:nvSpPr>
        <p:spPr>
          <a:xfrm>
            <a:off x="2192572" y="563024"/>
            <a:ext cx="92036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n w="0"/>
                <a:solidFill>
                  <a:schemeClr val="tx2"/>
                </a:solidFill>
              </a:rPr>
              <a:t>Spatial Reduction Attention — PVT-inspired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EB1BFD-B754-CF6A-3288-5F9D18BE5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11900"/>
            <a:ext cx="11353800" cy="546100"/>
          </a:xfrm>
        </p:spPr>
        <p:txBody>
          <a:bodyPr/>
          <a:lstStyle/>
          <a:p>
            <a:r>
              <a:rPr lang="en-US" dirty="0"/>
              <a:t>Efficient Attention Impact on Transformer</a:t>
            </a:r>
          </a:p>
          <a:p>
            <a:r>
              <a:rPr lang="en-US" dirty="0"/>
              <a:t>Backbones for Perceptual Similarity 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7A5C4634-519E-2963-391B-02148250D880}"/>
              </a:ext>
            </a:extLst>
          </p:cNvPr>
          <p:cNvSpPr txBox="1"/>
          <p:nvPr/>
        </p:nvSpPr>
        <p:spPr>
          <a:xfrm>
            <a:off x="1066800" y="1867335"/>
            <a:ext cx="23709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it-IT" b="1" dirty="0">
                <a:solidFill>
                  <a:schemeClr val="tx2"/>
                </a:solidFill>
              </a:rPr>
              <a:t>Standard </a:t>
            </a:r>
            <a:r>
              <a:rPr lang="it-IT" b="1" dirty="0" err="1">
                <a:solidFill>
                  <a:schemeClr val="tx2"/>
                </a:solidFill>
              </a:rPr>
              <a:t>Attention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DB607B6A-7B09-3774-0B83-5A13DB1523D3}"/>
              </a:ext>
            </a:extLst>
          </p:cNvPr>
          <p:cNvSpPr txBox="1"/>
          <p:nvPr/>
        </p:nvSpPr>
        <p:spPr>
          <a:xfrm>
            <a:off x="1066800" y="2339644"/>
            <a:ext cx="18999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b="1" dirty="0"/>
              <a:t>Q</a:t>
            </a:r>
            <a:r>
              <a:rPr lang="it-IT" dirty="0"/>
              <a:t> : 197 tokens</a:t>
            </a:r>
          </a:p>
          <a:p>
            <a:pPr algn="r"/>
            <a:r>
              <a:rPr lang="it-IT" b="1" dirty="0"/>
              <a:t>K</a:t>
            </a:r>
            <a:r>
              <a:rPr lang="it-IT" dirty="0"/>
              <a:t> : 197 tokens</a:t>
            </a:r>
          </a:p>
          <a:p>
            <a:pPr algn="r"/>
            <a:r>
              <a:rPr lang="it-IT" b="1" dirty="0"/>
              <a:t>V</a:t>
            </a:r>
            <a:r>
              <a:rPr lang="it-IT" dirty="0"/>
              <a:t> : 197 tokens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3ECA4772-C18B-D103-05E8-BE19DD012073}"/>
                  </a:ext>
                </a:extLst>
              </p:cNvPr>
              <p:cNvSpPr txBox="1"/>
              <p:nvPr/>
            </p:nvSpPr>
            <p:spPr>
              <a:xfrm>
                <a:off x="692009" y="3595027"/>
                <a:ext cx="3202423" cy="90512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𝑠𝑜𝑓𝑡𝑚𝑎𝑥</m:t>
                      </m:r>
                      <m:d>
                        <m:d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  <m:t>𝑄𝐾</m:t>
                                  </m:r>
                                </m:e>
                                <m:sup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</m:rad>
                            </m:den>
                          </m:f>
                        </m:e>
                      </m:d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=197 ×197 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𝑑𝑖𝑚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3ECA4772-C18B-D103-05E8-BE19DD0120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009" y="3595027"/>
                <a:ext cx="3202423" cy="905120"/>
              </a:xfrm>
              <a:prstGeom prst="rect">
                <a:avLst/>
              </a:prstGeom>
              <a:blipFill>
                <a:blip r:embed="rId4"/>
                <a:stretch>
                  <a:fillRect b="-3378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9EE905FF-2B0B-1CF5-0A60-4A07424AA41D}"/>
              </a:ext>
            </a:extLst>
          </p:cNvPr>
          <p:cNvSpPr txBox="1"/>
          <p:nvPr/>
        </p:nvSpPr>
        <p:spPr>
          <a:xfrm>
            <a:off x="4713352" y="1862130"/>
            <a:ext cx="23709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it-IT" b="1" dirty="0">
                <a:solidFill>
                  <a:schemeClr val="tx2"/>
                </a:solidFill>
              </a:rPr>
              <a:t>SRA (</a:t>
            </a:r>
            <a:r>
              <a:rPr lang="it-IT" b="1" dirty="0" err="1">
                <a:solidFill>
                  <a:schemeClr val="tx2"/>
                </a:solidFill>
              </a:rPr>
              <a:t>sr_ratio</a:t>
            </a:r>
            <a:r>
              <a:rPr lang="it-IT" b="1" dirty="0">
                <a:solidFill>
                  <a:schemeClr val="tx2"/>
                </a:solidFill>
              </a:rPr>
              <a:t> = 2)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89978ED5-674B-04ED-BB94-2DC346BF547B}"/>
              </a:ext>
            </a:extLst>
          </p:cNvPr>
          <p:cNvSpPr txBox="1"/>
          <p:nvPr/>
        </p:nvSpPr>
        <p:spPr>
          <a:xfrm>
            <a:off x="4713352" y="2277615"/>
            <a:ext cx="54745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/>
              <a:t>Q</a:t>
            </a:r>
            <a:r>
              <a:rPr lang="it-IT" dirty="0"/>
              <a:t> : 197 tokens</a:t>
            </a:r>
          </a:p>
        </p:txBody>
      </p:sp>
      <p:cxnSp>
        <p:nvCxnSpPr>
          <p:cNvPr id="14" name="Connettore diritto 13">
            <a:extLst>
              <a:ext uri="{FF2B5EF4-FFF2-40B4-BE49-F238E27FC236}">
                <a16:creationId xmlns:a16="http://schemas.microsoft.com/office/drawing/2014/main" id="{852C8574-7BA7-0C4B-5275-90EE7FD7DE42}"/>
              </a:ext>
            </a:extLst>
          </p:cNvPr>
          <p:cNvCxnSpPr/>
          <p:nvPr/>
        </p:nvCxnSpPr>
        <p:spPr>
          <a:xfrm>
            <a:off x="4233061" y="1843594"/>
            <a:ext cx="0" cy="3411881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D58184E7-4FE0-0517-4A02-DE057E458C60}"/>
              </a:ext>
            </a:extLst>
          </p:cNvPr>
          <p:cNvSpPr txBox="1"/>
          <p:nvPr/>
        </p:nvSpPr>
        <p:spPr>
          <a:xfrm>
            <a:off x="7988736" y="4325831"/>
            <a:ext cx="42813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Reduce K/V spatial resolution while preserving full-resolution queries</a:t>
            </a:r>
            <a:endParaRPr lang="it-IT" dirty="0">
              <a:solidFill>
                <a:schemeClr val="bg1"/>
              </a:solidFill>
            </a:endParaRPr>
          </a:p>
        </p:txBody>
      </p:sp>
      <p:sp>
        <p:nvSpPr>
          <p:cNvPr id="2" name="Rettangolo con angoli arrotondati 1">
            <a:extLst>
              <a:ext uri="{FF2B5EF4-FFF2-40B4-BE49-F238E27FC236}">
                <a16:creationId xmlns:a16="http://schemas.microsoft.com/office/drawing/2014/main" id="{8B6002E2-96FD-D3AE-75F3-27192BBD9FF6}"/>
              </a:ext>
            </a:extLst>
          </p:cNvPr>
          <p:cNvSpPr/>
          <p:nvPr/>
        </p:nvSpPr>
        <p:spPr>
          <a:xfrm>
            <a:off x="4789320" y="2792694"/>
            <a:ext cx="2370974" cy="636598"/>
          </a:xfrm>
          <a:prstGeom prst="roundRect">
            <a:avLst/>
          </a:pr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b="1" dirty="0">
                <a:solidFill>
                  <a:schemeClr val="tx1"/>
                </a:solidFill>
              </a:rPr>
              <a:t>K,V </a:t>
            </a:r>
            <a:r>
              <a:rPr lang="it-IT" dirty="0">
                <a:solidFill>
                  <a:schemeClr val="tx1"/>
                </a:solidFill>
              </a:rPr>
              <a:t>= 14x14 patches</a:t>
            </a:r>
          </a:p>
        </p:txBody>
      </p:sp>
      <p:sp>
        <p:nvSpPr>
          <p:cNvPr id="9" name="Rettangolo con angoli arrotondati 8">
            <a:extLst>
              <a:ext uri="{FF2B5EF4-FFF2-40B4-BE49-F238E27FC236}">
                <a16:creationId xmlns:a16="http://schemas.microsoft.com/office/drawing/2014/main" id="{3106ECE9-C55A-E861-8E1D-ED5100E051AC}"/>
              </a:ext>
            </a:extLst>
          </p:cNvPr>
          <p:cNvSpPr/>
          <p:nvPr/>
        </p:nvSpPr>
        <p:spPr>
          <a:xfrm>
            <a:off x="4789320" y="3741606"/>
            <a:ext cx="2370974" cy="636598"/>
          </a:xfrm>
          <a:prstGeom prst="roundRect">
            <a:avLst/>
          </a:pr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i="1" dirty="0" err="1">
                <a:solidFill>
                  <a:schemeClr val="tx1"/>
                </a:solidFill>
              </a:rPr>
              <a:t>Spatial</a:t>
            </a:r>
            <a:r>
              <a:rPr lang="it-IT" i="1" dirty="0">
                <a:solidFill>
                  <a:schemeClr val="tx1"/>
                </a:solidFill>
              </a:rPr>
              <a:t> </a:t>
            </a:r>
            <a:r>
              <a:rPr lang="it-IT" i="1" dirty="0" err="1">
                <a:solidFill>
                  <a:schemeClr val="tx1"/>
                </a:solidFill>
              </a:rPr>
              <a:t>reduction</a:t>
            </a:r>
            <a:r>
              <a:rPr lang="it-IT" i="1" dirty="0">
                <a:solidFill>
                  <a:schemeClr val="tx1"/>
                </a:solidFill>
              </a:rPr>
              <a:t> </a:t>
            </a:r>
            <a:r>
              <a:rPr lang="it-IT" dirty="0">
                <a:solidFill>
                  <a:schemeClr val="tx1"/>
                </a:solidFill>
              </a:rPr>
              <a:t>7x7 patches</a:t>
            </a:r>
          </a:p>
        </p:txBody>
      </p:sp>
      <p:sp>
        <p:nvSpPr>
          <p:cNvPr id="13" name="Rettangolo con angoli arrotondati 12">
            <a:extLst>
              <a:ext uri="{FF2B5EF4-FFF2-40B4-BE49-F238E27FC236}">
                <a16:creationId xmlns:a16="http://schemas.microsoft.com/office/drawing/2014/main" id="{3EAC61CA-EBE9-204E-4F29-C658A77EF8DD}"/>
              </a:ext>
            </a:extLst>
          </p:cNvPr>
          <p:cNvSpPr/>
          <p:nvPr/>
        </p:nvSpPr>
        <p:spPr>
          <a:xfrm>
            <a:off x="4789320" y="4690518"/>
            <a:ext cx="2370974" cy="636598"/>
          </a:xfrm>
          <a:prstGeom prst="roundRect">
            <a:avLst/>
          </a:pr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b="1" dirty="0">
                <a:solidFill>
                  <a:schemeClr val="tx2"/>
                </a:solidFill>
              </a:rPr>
              <a:t>K,V</a:t>
            </a:r>
            <a:r>
              <a:rPr lang="it-IT" dirty="0">
                <a:solidFill>
                  <a:schemeClr val="tx1"/>
                </a:solidFill>
              </a:rPr>
              <a:t>= 50 tokens (49+CLS)</a:t>
            </a:r>
          </a:p>
        </p:txBody>
      </p:sp>
      <p:cxnSp>
        <p:nvCxnSpPr>
          <p:cNvPr id="15" name="Connettore 2 14">
            <a:extLst>
              <a:ext uri="{FF2B5EF4-FFF2-40B4-BE49-F238E27FC236}">
                <a16:creationId xmlns:a16="http://schemas.microsoft.com/office/drawing/2014/main" id="{A554A15D-E973-4F00-EFB8-B10A42D90DB0}"/>
              </a:ext>
            </a:extLst>
          </p:cNvPr>
          <p:cNvCxnSpPr>
            <a:stCxn id="2" idx="2"/>
            <a:endCxn id="9" idx="0"/>
          </p:cNvCxnSpPr>
          <p:nvPr/>
        </p:nvCxnSpPr>
        <p:spPr>
          <a:xfrm>
            <a:off x="5974807" y="3429292"/>
            <a:ext cx="0" cy="312314"/>
          </a:xfrm>
          <a:prstGeom prst="straightConnector1">
            <a:avLst/>
          </a:prstGeom>
          <a:ln w="190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ttore 2 15">
            <a:extLst>
              <a:ext uri="{FF2B5EF4-FFF2-40B4-BE49-F238E27FC236}">
                <a16:creationId xmlns:a16="http://schemas.microsoft.com/office/drawing/2014/main" id="{E7D47370-AB87-0A3B-1E3B-A173C41F310E}"/>
              </a:ext>
            </a:extLst>
          </p:cNvPr>
          <p:cNvCxnSpPr/>
          <p:nvPr/>
        </p:nvCxnSpPr>
        <p:spPr>
          <a:xfrm>
            <a:off x="5974807" y="4378204"/>
            <a:ext cx="0" cy="312314"/>
          </a:xfrm>
          <a:prstGeom prst="straightConnector1">
            <a:avLst/>
          </a:prstGeom>
          <a:ln w="190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CasellaDiTesto 16">
                <a:extLst>
                  <a:ext uri="{FF2B5EF4-FFF2-40B4-BE49-F238E27FC236}">
                    <a16:creationId xmlns:a16="http://schemas.microsoft.com/office/drawing/2014/main" id="{354EA6FB-C812-B820-B357-FF79E3F62FB5}"/>
                  </a:ext>
                </a:extLst>
              </p:cNvPr>
              <p:cNvSpPr txBox="1"/>
              <p:nvPr/>
            </p:nvSpPr>
            <p:spPr>
              <a:xfrm>
                <a:off x="7583896" y="3169497"/>
                <a:ext cx="4475447" cy="6281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𝑠𝑜𝑓𝑡𝑚𝑎𝑥</m:t>
                      </m:r>
                      <m:d>
                        <m:d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  <m:t>𝑄𝐾</m:t>
                                  </m:r>
                                </m:e>
                                <m:sup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</m:rad>
                            </m:den>
                          </m:f>
                        </m:e>
                      </m:d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=197 ×50 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𝑑𝑖𝑚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>
          <p:sp>
            <p:nvSpPr>
              <p:cNvPr id="17" name="CasellaDiTesto 16">
                <a:extLst>
                  <a:ext uri="{FF2B5EF4-FFF2-40B4-BE49-F238E27FC236}">
                    <a16:creationId xmlns:a16="http://schemas.microsoft.com/office/drawing/2014/main" id="{354EA6FB-C812-B820-B357-FF79E3F62F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3896" y="3169497"/>
                <a:ext cx="4475447" cy="62812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45408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18764">
        <p159:morph option="byObject"/>
      </p:transition>
    </mc:Choice>
    <mc:Fallback xmlns="">
      <p:transition spd="slow" advTm="18764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D8147-FC64-B48B-A7DC-F5557F80B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logo, symbol, emblem, graphics&#10;&#10;Description automatically generated">
            <a:extLst>
              <a:ext uri="{FF2B5EF4-FFF2-40B4-BE49-F238E27FC236}">
                <a16:creationId xmlns:a16="http://schemas.microsoft.com/office/drawing/2014/main" id="{36451BD7-451B-B27F-D3B4-FA219B4196C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25" t="13953" r="7371" b="6977"/>
          <a:stretch/>
        </p:blipFill>
        <p:spPr>
          <a:xfrm>
            <a:off x="944880" y="-1712"/>
            <a:ext cx="985520" cy="1129472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48D18-E781-E584-C520-E305ABD39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311901"/>
            <a:ext cx="838200" cy="546099"/>
          </a:xfrm>
        </p:spPr>
        <p:txBody>
          <a:bodyPr/>
          <a:lstStyle/>
          <a:p>
            <a:r>
              <a:rPr lang="en-US" dirty="0"/>
              <a:t>6/9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FBD56D-304D-D21B-03B3-8AE1ADF6C510}"/>
              </a:ext>
            </a:extLst>
          </p:cNvPr>
          <p:cNvSpPr txBox="1"/>
          <p:nvPr/>
        </p:nvSpPr>
        <p:spPr>
          <a:xfrm>
            <a:off x="2192572" y="563024"/>
            <a:ext cx="92036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n w="0"/>
                <a:solidFill>
                  <a:schemeClr val="tx2"/>
                </a:solidFill>
              </a:rPr>
              <a:t>Alternative Efficient </a:t>
            </a:r>
            <a:r>
              <a:rPr lang="en-US" sz="3200" b="1">
                <a:ln w="0"/>
                <a:solidFill>
                  <a:schemeClr val="tx2"/>
                </a:solidFill>
              </a:rPr>
              <a:t>Token Mixings</a:t>
            </a:r>
            <a:endParaRPr lang="en-US" sz="3200" b="1" dirty="0">
              <a:ln w="0"/>
              <a:solidFill>
                <a:schemeClr val="tx2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F3C00F-1C11-DDC9-A8C3-C1F59F29F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11900"/>
            <a:ext cx="11353800" cy="546100"/>
          </a:xfrm>
        </p:spPr>
        <p:txBody>
          <a:bodyPr/>
          <a:lstStyle/>
          <a:p>
            <a:r>
              <a:rPr lang="en-US" dirty="0"/>
              <a:t>Efficient Attention Impact on Transformer</a:t>
            </a:r>
          </a:p>
          <a:p>
            <a:r>
              <a:rPr lang="en-US" dirty="0"/>
              <a:t>Backbones for Perceptual Similarity 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401A7D8A-D81B-582A-351D-6966112A34EB}"/>
              </a:ext>
            </a:extLst>
          </p:cNvPr>
          <p:cNvSpPr txBox="1"/>
          <p:nvPr/>
        </p:nvSpPr>
        <p:spPr>
          <a:xfrm>
            <a:off x="807378" y="1801315"/>
            <a:ext cx="23709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it-IT" b="1" dirty="0" err="1">
                <a:solidFill>
                  <a:schemeClr val="tx2"/>
                </a:solidFill>
              </a:rPr>
              <a:t>MetaFormer</a:t>
            </a:r>
            <a:endParaRPr lang="en-US" dirty="0">
              <a:solidFill>
                <a:schemeClr val="tx2"/>
              </a:solidFill>
            </a:endParaRPr>
          </a:p>
        </p:txBody>
      </p:sp>
      <p:cxnSp>
        <p:nvCxnSpPr>
          <p:cNvPr id="14" name="Connettore diritto 13">
            <a:extLst>
              <a:ext uri="{FF2B5EF4-FFF2-40B4-BE49-F238E27FC236}">
                <a16:creationId xmlns:a16="http://schemas.microsoft.com/office/drawing/2014/main" id="{356FEA41-A564-F16D-9F83-CAB0FFDCAC36}"/>
              </a:ext>
            </a:extLst>
          </p:cNvPr>
          <p:cNvCxnSpPr/>
          <p:nvPr/>
        </p:nvCxnSpPr>
        <p:spPr>
          <a:xfrm>
            <a:off x="5642761" y="1801315"/>
            <a:ext cx="0" cy="3411881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ttangolo con angoli arrotondati 1">
            <a:extLst>
              <a:ext uri="{FF2B5EF4-FFF2-40B4-BE49-F238E27FC236}">
                <a16:creationId xmlns:a16="http://schemas.microsoft.com/office/drawing/2014/main" id="{2EC1462E-AD61-E0AB-FF26-024A576EA2B0}"/>
              </a:ext>
            </a:extLst>
          </p:cNvPr>
          <p:cNvSpPr/>
          <p:nvPr/>
        </p:nvSpPr>
        <p:spPr>
          <a:xfrm>
            <a:off x="296838" y="2486799"/>
            <a:ext cx="2370974" cy="636598"/>
          </a:xfrm>
          <a:prstGeom prst="roundRect">
            <a:avLst/>
          </a:pr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Self-</a:t>
            </a:r>
            <a:r>
              <a:rPr lang="it-IT" dirty="0" err="1">
                <a:solidFill>
                  <a:schemeClr val="tx1"/>
                </a:solidFill>
              </a:rPr>
              <a:t>Attention</a:t>
            </a:r>
            <a:r>
              <a:rPr lang="it-IT" dirty="0">
                <a:solidFill>
                  <a:schemeClr val="tx1"/>
                </a:solidFill>
              </a:rPr>
              <a:t> </a:t>
            </a:r>
            <a:r>
              <a:rPr lang="it-IT" dirty="0" err="1">
                <a:solidFill>
                  <a:schemeClr val="tx1"/>
                </a:solidFill>
              </a:rPr>
              <a:t>removed</a:t>
            </a:r>
            <a:endParaRPr lang="it-IT" dirty="0">
              <a:solidFill>
                <a:schemeClr val="tx1"/>
              </a:solidFill>
            </a:endParaRPr>
          </a:p>
        </p:txBody>
      </p:sp>
      <p:sp>
        <p:nvSpPr>
          <p:cNvPr id="13" name="Rettangolo con angoli arrotondati 12">
            <a:extLst>
              <a:ext uri="{FF2B5EF4-FFF2-40B4-BE49-F238E27FC236}">
                <a16:creationId xmlns:a16="http://schemas.microsoft.com/office/drawing/2014/main" id="{5D687A6C-2EBB-F488-BDDF-02A556C66B82}"/>
              </a:ext>
            </a:extLst>
          </p:cNvPr>
          <p:cNvSpPr/>
          <p:nvPr/>
        </p:nvSpPr>
        <p:spPr>
          <a:xfrm>
            <a:off x="296838" y="3435711"/>
            <a:ext cx="2370974" cy="636598"/>
          </a:xfrm>
          <a:prstGeom prst="roundRect">
            <a:avLst/>
          </a:pr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3x3 </a:t>
            </a:r>
            <a:r>
              <a:rPr lang="it-IT" i="1" dirty="0" err="1">
                <a:solidFill>
                  <a:schemeClr val="tx1"/>
                </a:solidFill>
              </a:rPr>
              <a:t>Average</a:t>
            </a:r>
            <a:r>
              <a:rPr lang="it-IT" i="1" dirty="0">
                <a:solidFill>
                  <a:schemeClr val="tx1"/>
                </a:solidFill>
              </a:rPr>
              <a:t> Pooling</a:t>
            </a:r>
          </a:p>
        </p:txBody>
      </p:sp>
      <p:sp>
        <p:nvSpPr>
          <p:cNvPr id="15" name="Rettangolo con angoli arrotondati 14">
            <a:extLst>
              <a:ext uri="{FF2B5EF4-FFF2-40B4-BE49-F238E27FC236}">
                <a16:creationId xmlns:a16="http://schemas.microsoft.com/office/drawing/2014/main" id="{C1D5BA57-35B3-4ED6-232A-E020FD4A3ADA}"/>
              </a:ext>
            </a:extLst>
          </p:cNvPr>
          <p:cNvSpPr/>
          <p:nvPr/>
        </p:nvSpPr>
        <p:spPr>
          <a:xfrm>
            <a:off x="296838" y="4384623"/>
            <a:ext cx="2370974" cy="636598"/>
          </a:xfrm>
          <a:prstGeom prst="roundRect">
            <a:avLst/>
          </a:pr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Local Token Mixing</a:t>
            </a:r>
          </a:p>
        </p:txBody>
      </p:sp>
      <p:cxnSp>
        <p:nvCxnSpPr>
          <p:cNvPr id="17" name="Connettore 2 16">
            <a:extLst>
              <a:ext uri="{FF2B5EF4-FFF2-40B4-BE49-F238E27FC236}">
                <a16:creationId xmlns:a16="http://schemas.microsoft.com/office/drawing/2014/main" id="{4B4BD7FE-95E5-2C04-A815-996857189173}"/>
              </a:ext>
            </a:extLst>
          </p:cNvPr>
          <p:cNvCxnSpPr>
            <a:stCxn id="2" idx="2"/>
            <a:endCxn id="13" idx="0"/>
          </p:cNvCxnSpPr>
          <p:nvPr/>
        </p:nvCxnSpPr>
        <p:spPr>
          <a:xfrm>
            <a:off x="1482325" y="3123397"/>
            <a:ext cx="0" cy="312314"/>
          </a:xfrm>
          <a:prstGeom prst="straightConnector1">
            <a:avLst/>
          </a:prstGeom>
          <a:ln w="190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C08DEE12-F2AB-C627-6477-7B4FA17CE431}"/>
              </a:ext>
            </a:extLst>
          </p:cNvPr>
          <p:cNvCxnSpPr/>
          <p:nvPr/>
        </p:nvCxnSpPr>
        <p:spPr>
          <a:xfrm>
            <a:off x="1482325" y="4072309"/>
            <a:ext cx="0" cy="312314"/>
          </a:xfrm>
          <a:prstGeom prst="straightConnector1">
            <a:avLst/>
          </a:prstGeom>
          <a:ln w="190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96A20E1B-8716-1D1B-571C-EA6DC916AE39}"/>
              </a:ext>
            </a:extLst>
          </p:cNvPr>
          <p:cNvSpPr txBox="1"/>
          <p:nvPr/>
        </p:nvSpPr>
        <p:spPr>
          <a:xfrm>
            <a:off x="6244440" y="1808274"/>
            <a:ext cx="23709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it-IT" b="1" dirty="0" err="1">
                <a:solidFill>
                  <a:schemeClr val="tx2"/>
                </a:solidFill>
              </a:rPr>
              <a:t>Mixture</a:t>
            </a:r>
            <a:r>
              <a:rPr lang="it-IT" b="1" dirty="0">
                <a:solidFill>
                  <a:schemeClr val="tx2"/>
                </a:solidFill>
              </a:rPr>
              <a:t>-of-Heads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23" name="Rettangolo con angoli arrotondati 22">
            <a:extLst>
              <a:ext uri="{FF2B5EF4-FFF2-40B4-BE49-F238E27FC236}">
                <a16:creationId xmlns:a16="http://schemas.microsoft.com/office/drawing/2014/main" id="{B64805AB-4D88-C8DC-AEC9-FD5F258E3CE2}"/>
              </a:ext>
            </a:extLst>
          </p:cNvPr>
          <p:cNvSpPr/>
          <p:nvPr/>
        </p:nvSpPr>
        <p:spPr>
          <a:xfrm>
            <a:off x="6244440" y="2486799"/>
            <a:ext cx="2370974" cy="636598"/>
          </a:xfrm>
          <a:prstGeom prst="roundRect">
            <a:avLst/>
          </a:pr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2 </a:t>
            </a:r>
            <a:r>
              <a:rPr lang="it-IT" dirty="0" err="1">
                <a:solidFill>
                  <a:schemeClr val="tx1"/>
                </a:solidFill>
              </a:rPr>
              <a:t>Shared</a:t>
            </a:r>
            <a:r>
              <a:rPr lang="it-IT" dirty="0">
                <a:solidFill>
                  <a:schemeClr val="tx1"/>
                </a:solidFill>
              </a:rPr>
              <a:t> heads</a:t>
            </a:r>
          </a:p>
          <a:p>
            <a:pPr algn="ctr"/>
            <a:r>
              <a:rPr lang="it-IT" dirty="0">
                <a:solidFill>
                  <a:schemeClr val="tx1"/>
                </a:solidFill>
              </a:rPr>
              <a:t>10 </a:t>
            </a:r>
            <a:r>
              <a:rPr lang="it-IT" dirty="0" err="1">
                <a:solidFill>
                  <a:schemeClr val="tx1"/>
                </a:solidFill>
              </a:rPr>
              <a:t>Routed</a:t>
            </a:r>
            <a:r>
              <a:rPr lang="it-IT" dirty="0">
                <a:solidFill>
                  <a:schemeClr val="tx1"/>
                </a:solidFill>
              </a:rPr>
              <a:t> heads</a:t>
            </a:r>
          </a:p>
        </p:txBody>
      </p:sp>
      <p:cxnSp>
        <p:nvCxnSpPr>
          <p:cNvPr id="26" name="Connettore 2 25">
            <a:extLst>
              <a:ext uri="{FF2B5EF4-FFF2-40B4-BE49-F238E27FC236}">
                <a16:creationId xmlns:a16="http://schemas.microsoft.com/office/drawing/2014/main" id="{B86135D4-5DF9-F1AF-ADFC-F18C7CBC36D0}"/>
              </a:ext>
            </a:extLst>
          </p:cNvPr>
          <p:cNvCxnSpPr>
            <a:cxnSpLocks/>
            <a:stCxn id="23" idx="2"/>
          </p:cNvCxnSpPr>
          <p:nvPr/>
        </p:nvCxnSpPr>
        <p:spPr>
          <a:xfrm>
            <a:off x="7429927" y="3123397"/>
            <a:ext cx="0" cy="312314"/>
          </a:xfrm>
          <a:prstGeom prst="straightConnector1">
            <a:avLst/>
          </a:prstGeom>
          <a:ln w="190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CasellaDiTesto 27">
                <a:extLst>
                  <a:ext uri="{FF2B5EF4-FFF2-40B4-BE49-F238E27FC236}">
                    <a16:creationId xmlns:a16="http://schemas.microsoft.com/office/drawing/2014/main" id="{EF62E05D-03CF-E865-5A16-7965F384061A}"/>
                  </a:ext>
                </a:extLst>
              </p:cNvPr>
              <p:cNvSpPr txBox="1"/>
              <p:nvPr/>
            </p:nvSpPr>
            <p:spPr>
              <a:xfrm>
                <a:off x="2922209" y="2851603"/>
                <a:ext cx="2718256" cy="17543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Clr>
                    <a:schemeClr val="tx2"/>
                  </a:buClr>
                  <a:buFont typeface="Arial" panose="020B0604020202020204" pitchFamily="34" charset="0"/>
                  <a:buChar char="•"/>
                </a:pPr>
                <a:r>
                  <a:rPr lang="it-IT" b="1" dirty="0"/>
                  <a:t>No</a:t>
                </a:r>
                <a:r>
                  <a:rPr lang="it-IT" dirty="0"/>
                  <a:t> Q,K,V</a:t>
                </a:r>
              </a:p>
              <a:p>
                <a:pPr>
                  <a:buClr>
                    <a:schemeClr val="tx2"/>
                  </a:buClr>
                </a:pPr>
                <a:endParaRPr lang="it-IT" dirty="0"/>
              </a:p>
              <a:p>
                <a:pPr marL="285750" indent="-285750">
                  <a:buClr>
                    <a:schemeClr val="tx2"/>
                  </a:buClr>
                  <a:buFont typeface="Arial" panose="020B0604020202020204" pitchFamily="34" charset="0"/>
                  <a:buChar char="•"/>
                </a:pPr>
                <a:r>
                  <a:rPr lang="it-IT" dirty="0"/>
                  <a:t>Token mixer with 0 </a:t>
                </a:r>
                <a:r>
                  <a:rPr lang="it-IT" dirty="0" err="1"/>
                  <a:t>trainable</a:t>
                </a:r>
                <a:r>
                  <a:rPr lang="it-IT" dirty="0"/>
                  <a:t> </a:t>
                </a:r>
                <a:r>
                  <a:rPr lang="it-IT" dirty="0" err="1"/>
                  <a:t>parameters</a:t>
                </a:r>
                <a:endParaRPr lang="it-IT" dirty="0"/>
              </a:p>
              <a:p>
                <a:pPr marL="285750" indent="-285750">
                  <a:buClr>
                    <a:schemeClr val="tx2"/>
                  </a:buClr>
                  <a:buFont typeface="Arial" panose="020B0604020202020204" pitchFamily="34" charset="0"/>
                  <a:buChar char="•"/>
                </a:pPr>
                <a:endParaRPr lang="it-IT" dirty="0"/>
              </a:p>
              <a:p>
                <a:pPr marL="285750" indent="-285750">
                  <a:buClr>
                    <a:schemeClr val="tx2"/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it-IT" b="0" i="1" smtClean="0">
                        <a:latin typeface="Cambria Math" panose="02040503050406030204" pitchFamily="18" charset="0"/>
                      </a:rPr>
                      <m:t>𝐴𝑣𝑔𝑃𝑜𝑜𝑙</m:t>
                    </m:r>
                    <m:d>
                      <m:d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it-IT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28" name="CasellaDiTesto 27">
                <a:extLst>
                  <a:ext uri="{FF2B5EF4-FFF2-40B4-BE49-F238E27FC236}">
                    <a16:creationId xmlns:a16="http://schemas.microsoft.com/office/drawing/2014/main" id="{EF62E05D-03CF-E865-5A16-7965F38406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2209" y="2851603"/>
                <a:ext cx="2718256" cy="1754326"/>
              </a:xfrm>
              <a:prstGeom prst="rect">
                <a:avLst/>
              </a:prstGeom>
              <a:blipFill>
                <a:blip r:embed="rId4"/>
                <a:stretch>
                  <a:fillRect l="-1345" t="-2083" b="-347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ttangolo con angoli arrotondati 30">
            <a:extLst>
              <a:ext uri="{FF2B5EF4-FFF2-40B4-BE49-F238E27FC236}">
                <a16:creationId xmlns:a16="http://schemas.microsoft.com/office/drawing/2014/main" id="{E5D837B8-8459-C18D-7190-2AA727221F21}"/>
              </a:ext>
            </a:extLst>
          </p:cNvPr>
          <p:cNvSpPr/>
          <p:nvPr/>
        </p:nvSpPr>
        <p:spPr>
          <a:xfrm>
            <a:off x="6244440" y="3441696"/>
            <a:ext cx="2370974" cy="636598"/>
          </a:xfrm>
          <a:prstGeom prst="roundRect">
            <a:avLst/>
          </a:pr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i="1" dirty="0">
                <a:solidFill>
                  <a:schemeClr val="tx1"/>
                </a:solidFill>
              </a:rPr>
              <a:t>Top-k </a:t>
            </a:r>
            <a:r>
              <a:rPr lang="it-IT" i="1" dirty="0" err="1">
                <a:solidFill>
                  <a:schemeClr val="tx1"/>
                </a:solidFill>
              </a:rPr>
              <a:t>routing</a:t>
            </a:r>
            <a:endParaRPr lang="it-IT" i="1" dirty="0">
              <a:solidFill>
                <a:schemeClr val="tx1"/>
              </a:solidFill>
            </a:endParaRPr>
          </a:p>
        </p:txBody>
      </p:sp>
      <p:cxnSp>
        <p:nvCxnSpPr>
          <p:cNvPr id="32" name="Connettore 2 31">
            <a:extLst>
              <a:ext uri="{FF2B5EF4-FFF2-40B4-BE49-F238E27FC236}">
                <a16:creationId xmlns:a16="http://schemas.microsoft.com/office/drawing/2014/main" id="{6B534C39-9DEA-5FAA-0AEE-38BDF6640F43}"/>
              </a:ext>
            </a:extLst>
          </p:cNvPr>
          <p:cNvCxnSpPr>
            <a:cxnSpLocks/>
            <a:stCxn id="31" idx="2"/>
          </p:cNvCxnSpPr>
          <p:nvPr/>
        </p:nvCxnSpPr>
        <p:spPr>
          <a:xfrm>
            <a:off x="7429927" y="4078294"/>
            <a:ext cx="0" cy="312314"/>
          </a:xfrm>
          <a:prstGeom prst="straightConnector1">
            <a:avLst/>
          </a:prstGeom>
          <a:ln w="190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ttangolo con angoli arrotondati 34">
            <a:extLst>
              <a:ext uri="{FF2B5EF4-FFF2-40B4-BE49-F238E27FC236}">
                <a16:creationId xmlns:a16="http://schemas.microsoft.com/office/drawing/2014/main" id="{313C1800-8E16-337F-8EE1-65B0A3E76893}"/>
              </a:ext>
            </a:extLst>
          </p:cNvPr>
          <p:cNvSpPr/>
          <p:nvPr/>
        </p:nvSpPr>
        <p:spPr>
          <a:xfrm>
            <a:off x="6244440" y="4396592"/>
            <a:ext cx="2370974" cy="878541"/>
          </a:xfrm>
          <a:prstGeom prst="roundRect">
            <a:avLst/>
          </a:pr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2 </a:t>
            </a:r>
            <a:r>
              <a:rPr lang="it-IT" dirty="0" err="1">
                <a:solidFill>
                  <a:schemeClr val="tx1"/>
                </a:solidFill>
              </a:rPr>
              <a:t>shared</a:t>
            </a:r>
            <a:r>
              <a:rPr lang="it-IT" dirty="0">
                <a:solidFill>
                  <a:schemeClr val="tx1"/>
                </a:solidFill>
              </a:rPr>
              <a:t> + 4 </a:t>
            </a:r>
            <a:r>
              <a:rPr lang="it-IT" dirty="0" err="1">
                <a:solidFill>
                  <a:schemeClr val="tx1"/>
                </a:solidFill>
              </a:rPr>
              <a:t>routed</a:t>
            </a:r>
            <a:r>
              <a:rPr lang="it-IT" dirty="0">
                <a:solidFill>
                  <a:schemeClr val="tx1"/>
                </a:solidFill>
              </a:rPr>
              <a:t> = 6 </a:t>
            </a:r>
            <a:r>
              <a:rPr lang="it-IT" dirty="0" err="1">
                <a:solidFill>
                  <a:schemeClr val="tx1"/>
                </a:solidFill>
              </a:rPr>
              <a:t>active</a:t>
            </a:r>
            <a:r>
              <a:rPr lang="it-IT" dirty="0">
                <a:solidFill>
                  <a:schemeClr val="tx1"/>
                </a:solidFill>
              </a:rPr>
              <a:t> head</a:t>
            </a:r>
          </a:p>
        </p:txBody>
      </p:sp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F11C1DB9-FF6B-6F7B-E431-298BAB5CFD69}"/>
              </a:ext>
            </a:extLst>
          </p:cNvPr>
          <p:cNvSpPr txBox="1"/>
          <p:nvPr/>
        </p:nvSpPr>
        <p:spPr>
          <a:xfrm>
            <a:off x="9158434" y="2805098"/>
            <a:ext cx="271825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it-IT" dirty="0"/>
              <a:t>Dynamic head </a:t>
            </a:r>
            <a:r>
              <a:rPr lang="it-IT" dirty="0" err="1"/>
              <a:t>routing</a:t>
            </a:r>
            <a:endParaRPr lang="it-IT" dirty="0"/>
          </a:p>
          <a:p>
            <a:pPr>
              <a:buClr>
                <a:schemeClr val="tx2"/>
              </a:buClr>
            </a:pPr>
            <a:endParaRPr lang="it-IT" dirty="0"/>
          </a:p>
          <a:p>
            <a:pPr marL="285750" indent="-2857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it-IT" dirty="0"/>
              <a:t>Load-balancing </a:t>
            </a:r>
            <a:r>
              <a:rPr lang="it-IT" dirty="0" err="1"/>
              <a:t>auxillary</a:t>
            </a:r>
            <a:r>
              <a:rPr lang="it-IT" dirty="0"/>
              <a:t> </a:t>
            </a:r>
            <a:r>
              <a:rPr lang="it-IT" dirty="0" err="1"/>
              <a:t>loss</a:t>
            </a:r>
            <a:endParaRPr lang="it-IT" dirty="0"/>
          </a:p>
          <a:p>
            <a:pPr marL="285750" indent="-285750">
              <a:buClr>
                <a:schemeClr val="tx2"/>
              </a:buClr>
              <a:buFont typeface="Arial" panose="020B0604020202020204" pitchFamily="34" charset="0"/>
              <a:buChar char="•"/>
            </a:pPr>
            <a:endParaRPr lang="it-IT" dirty="0"/>
          </a:p>
          <a:p>
            <a:pPr marL="285750" indent="-2857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it-IT" b="1" dirty="0" err="1"/>
              <a:t>Preserves</a:t>
            </a:r>
            <a:r>
              <a:rPr lang="it-IT" dirty="0"/>
              <a:t> </a:t>
            </a:r>
            <a:r>
              <a:rPr lang="it-IT" dirty="0" err="1"/>
              <a:t>pretrained</a:t>
            </a:r>
            <a:r>
              <a:rPr lang="it-IT" dirty="0"/>
              <a:t> DINO QKV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07282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18764">
        <p159:morph option="byObject"/>
      </p:transition>
    </mc:Choice>
    <mc:Fallback xmlns="">
      <p:transition spd="slow" advTm="18764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C6D8D-8A71-EDDD-49A2-833A46B1F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logo, symbol, emblem, graphics&#10;&#10;Description automatically generated">
            <a:extLst>
              <a:ext uri="{FF2B5EF4-FFF2-40B4-BE49-F238E27FC236}">
                <a16:creationId xmlns:a16="http://schemas.microsoft.com/office/drawing/2014/main" id="{9C6B458A-C218-8480-B9A4-869FFE50589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25" t="13953" r="7371" b="6977"/>
          <a:stretch/>
        </p:blipFill>
        <p:spPr>
          <a:xfrm>
            <a:off x="944880" y="-1712"/>
            <a:ext cx="985520" cy="1129472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B12924-5868-C8ED-EB64-559390638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311901"/>
            <a:ext cx="838200" cy="546099"/>
          </a:xfrm>
        </p:spPr>
        <p:txBody>
          <a:bodyPr/>
          <a:lstStyle/>
          <a:p>
            <a:r>
              <a:rPr lang="en-US" dirty="0"/>
              <a:t>7/9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721A96-1A35-C7E8-ED70-1D939A45BE7F}"/>
              </a:ext>
            </a:extLst>
          </p:cNvPr>
          <p:cNvSpPr txBox="1"/>
          <p:nvPr/>
        </p:nvSpPr>
        <p:spPr>
          <a:xfrm>
            <a:off x="2192572" y="563024"/>
            <a:ext cx="92036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n w="0"/>
                <a:solidFill>
                  <a:schemeClr val="tx2"/>
                </a:solidFill>
              </a:rPr>
              <a:t>Training &amp; Perceptual Quality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F68986-126F-4082-534E-3CE706795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11900"/>
            <a:ext cx="11353800" cy="546100"/>
          </a:xfrm>
        </p:spPr>
        <p:txBody>
          <a:bodyPr/>
          <a:lstStyle/>
          <a:p>
            <a:r>
              <a:rPr lang="en-US" dirty="0"/>
              <a:t>Efficient Attention Impact on Transformer</a:t>
            </a:r>
          </a:p>
          <a:p>
            <a:r>
              <a:rPr lang="en-US" dirty="0"/>
              <a:t>Backbones for Perceptual Similarity </a:t>
            </a:r>
          </a:p>
        </p:txBody>
      </p:sp>
      <p:graphicFrame>
        <p:nvGraphicFramePr>
          <p:cNvPr id="2" name="Tabella 1">
            <a:extLst>
              <a:ext uri="{FF2B5EF4-FFF2-40B4-BE49-F238E27FC236}">
                <a16:creationId xmlns:a16="http://schemas.microsoft.com/office/drawing/2014/main" id="{90EC0F0B-1BE2-77A1-C400-455A7723A9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465167"/>
              </p:ext>
            </p:extLst>
          </p:nvPr>
        </p:nvGraphicFramePr>
        <p:xfrm>
          <a:off x="200313" y="1736436"/>
          <a:ext cx="11791374" cy="35871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082">
                  <a:extLst>
                    <a:ext uri="{9D8B030D-6E8A-4147-A177-3AD203B41FA5}">
                      <a16:colId xmlns:a16="http://schemas.microsoft.com/office/drawing/2014/main" val="4033746292"/>
                    </a:ext>
                  </a:extLst>
                </a:gridCol>
                <a:gridCol w="1937122">
                  <a:extLst>
                    <a:ext uri="{9D8B030D-6E8A-4147-A177-3AD203B41FA5}">
                      <a16:colId xmlns:a16="http://schemas.microsoft.com/office/drawing/2014/main" val="2712008121"/>
                    </a:ext>
                  </a:extLst>
                </a:gridCol>
                <a:gridCol w="1958483">
                  <a:extLst>
                    <a:ext uri="{9D8B030D-6E8A-4147-A177-3AD203B41FA5}">
                      <a16:colId xmlns:a16="http://schemas.microsoft.com/office/drawing/2014/main" val="1448741846"/>
                    </a:ext>
                  </a:extLst>
                </a:gridCol>
                <a:gridCol w="1965229">
                  <a:extLst>
                    <a:ext uri="{9D8B030D-6E8A-4147-A177-3AD203B41FA5}">
                      <a16:colId xmlns:a16="http://schemas.microsoft.com/office/drawing/2014/main" val="1724562111"/>
                    </a:ext>
                  </a:extLst>
                </a:gridCol>
                <a:gridCol w="1965229">
                  <a:extLst>
                    <a:ext uri="{9D8B030D-6E8A-4147-A177-3AD203B41FA5}">
                      <a16:colId xmlns:a16="http://schemas.microsoft.com/office/drawing/2014/main" val="2272232432"/>
                    </a:ext>
                  </a:extLst>
                </a:gridCol>
                <a:gridCol w="1965229">
                  <a:extLst>
                    <a:ext uri="{9D8B030D-6E8A-4147-A177-3AD203B41FA5}">
                      <a16:colId xmlns:a16="http://schemas.microsoft.com/office/drawing/2014/main" val="606407324"/>
                    </a:ext>
                  </a:extLst>
                </a:gridCol>
              </a:tblGrid>
              <a:tr h="393714">
                <a:tc>
                  <a:txBody>
                    <a:bodyPr/>
                    <a:lstStyle/>
                    <a:p>
                      <a:endParaRPr lang="it-IT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it-IT" dirty="0">
                          <a:solidFill>
                            <a:schemeClr val="tx1"/>
                          </a:solidFill>
                        </a:rPr>
                        <a:t>RTX 4070 SUPER 12GB VRAM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it-IT" dirty="0">
                          <a:solidFill>
                            <a:schemeClr val="tx1"/>
                          </a:solidFill>
                        </a:rPr>
                        <a:t>GTX 1060 6GB VRAM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4676682"/>
                  </a:ext>
                </a:extLst>
              </a:tr>
              <a:tr h="399182">
                <a:tc>
                  <a:txBody>
                    <a:bodyPr/>
                    <a:lstStyle/>
                    <a:p>
                      <a:r>
                        <a:rPr lang="it-IT" b="1" dirty="0">
                          <a:solidFill>
                            <a:schemeClr val="tx2"/>
                          </a:solidFill>
                        </a:rPr>
                        <a:t>Model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b="1" dirty="0" err="1">
                          <a:solidFill>
                            <a:schemeClr val="tx2"/>
                          </a:solidFill>
                        </a:rPr>
                        <a:t>Efficient</a:t>
                      </a:r>
                      <a:r>
                        <a:rPr lang="it-IT" b="1" dirty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it-IT" b="1" dirty="0" err="1">
                          <a:solidFill>
                            <a:schemeClr val="tx2"/>
                          </a:solidFill>
                        </a:rPr>
                        <a:t>Blocks</a:t>
                      </a:r>
                      <a:endParaRPr lang="it-IT" b="1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b="1" dirty="0">
                          <a:solidFill>
                            <a:schemeClr val="tx2"/>
                          </a:solidFill>
                        </a:rPr>
                        <a:t>Train time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b="1" dirty="0" err="1">
                          <a:solidFill>
                            <a:schemeClr val="tx2"/>
                          </a:solidFill>
                        </a:rPr>
                        <a:t>Eval</a:t>
                      </a:r>
                      <a:r>
                        <a:rPr lang="it-IT" b="1" dirty="0">
                          <a:solidFill>
                            <a:schemeClr val="tx2"/>
                          </a:solidFill>
                        </a:rPr>
                        <a:t> 2AFC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b="1" dirty="0">
                          <a:solidFill>
                            <a:schemeClr val="tx2"/>
                          </a:solidFill>
                        </a:rPr>
                        <a:t>Train time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b="1" dirty="0" err="1">
                          <a:solidFill>
                            <a:schemeClr val="tx2"/>
                          </a:solidFill>
                        </a:rPr>
                        <a:t>Eval</a:t>
                      </a:r>
                      <a:r>
                        <a:rPr lang="it-IT" b="1" dirty="0">
                          <a:solidFill>
                            <a:schemeClr val="tx2"/>
                          </a:solidFill>
                        </a:rPr>
                        <a:t> 2AFC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7439804"/>
                  </a:ext>
                </a:extLst>
              </a:tr>
              <a:tr h="399182">
                <a:tc>
                  <a:txBody>
                    <a:bodyPr/>
                    <a:lstStyle/>
                    <a:p>
                      <a:r>
                        <a:rPr lang="it-IT" b="1" dirty="0">
                          <a:solidFill>
                            <a:schemeClr val="tx1"/>
                          </a:solidFill>
                        </a:rPr>
                        <a:t>Baseline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>
                          <a:solidFill>
                            <a:schemeClr val="tx1"/>
                          </a:solidFill>
                        </a:rPr>
                        <a:t>0/12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>
                          <a:solidFill>
                            <a:schemeClr val="tx1"/>
                          </a:solidFill>
                        </a:rPr>
                        <a:t>9min 33sec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>
                          <a:solidFill>
                            <a:schemeClr val="tx1"/>
                          </a:solidFill>
                        </a:rPr>
                        <a:t>95.12%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>
                          <a:solidFill>
                            <a:schemeClr val="tx1"/>
                          </a:solidFill>
                        </a:rPr>
                        <a:t>1h 29min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>
                          <a:solidFill>
                            <a:schemeClr val="tx1"/>
                          </a:solidFill>
                        </a:rPr>
                        <a:t>94.88%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1150244"/>
                  </a:ext>
                </a:extLst>
              </a:tr>
              <a:tr h="399182">
                <a:tc>
                  <a:txBody>
                    <a:bodyPr/>
                    <a:lstStyle/>
                    <a:p>
                      <a:r>
                        <a:rPr lang="it-IT" b="1" dirty="0">
                          <a:solidFill>
                            <a:schemeClr val="tx1"/>
                          </a:solidFill>
                        </a:rPr>
                        <a:t>SRA Full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>
                          <a:solidFill>
                            <a:schemeClr val="tx1"/>
                          </a:solidFill>
                        </a:rPr>
                        <a:t>12/12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>
                          <a:solidFill>
                            <a:schemeClr val="tx1"/>
                          </a:solidFill>
                        </a:rPr>
                        <a:t>8min 52sec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>
                          <a:solidFill>
                            <a:schemeClr val="tx1"/>
                          </a:solidFill>
                        </a:rPr>
                        <a:t>93.60%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>
                          <a:solidFill>
                            <a:schemeClr val="tx1"/>
                          </a:solidFill>
                        </a:rPr>
                        <a:t>1h 38min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>
                          <a:solidFill>
                            <a:schemeClr val="tx1"/>
                          </a:solidFill>
                        </a:rPr>
                        <a:t>93.48%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1201503"/>
                  </a:ext>
                </a:extLst>
              </a:tr>
              <a:tr h="399182">
                <a:tc>
                  <a:txBody>
                    <a:bodyPr/>
                    <a:lstStyle/>
                    <a:p>
                      <a:r>
                        <a:rPr lang="it-IT" b="1" dirty="0">
                          <a:solidFill>
                            <a:schemeClr val="tx1"/>
                          </a:solidFill>
                        </a:rPr>
                        <a:t>SRA Half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>
                          <a:solidFill>
                            <a:schemeClr val="tx1"/>
                          </a:solidFill>
                        </a:rPr>
                        <a:t>6/12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>
                          <a:solidFill>
                            <a:schemeClr val="tx1"/>
                          </a:solidFill>
                        </a:rPr>
                        <a:t>8min 47sec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>
                          <a:solidFill>
                            <a:schemeClr val="tx1"/>
                          </a:solidFill>
                        </a:rPr>
                        <a:t>95.35%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>
                          <a:solidFill>
                            <a:schemeClr val="tx1"/>
                          </a:solidFill>
                        </a:rPr>
                        <a:t>1h 33min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>
                          <a:solidFill>
                            <a:schemeClr val="tx1"/>
                          </a:solidFill>
                        </a:rPr>
                        <a:t>95.00%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141919"/>
                  </a:ext>
                </a:extLst>
              </a:tr>
              <a:tr h="399182">
                <a:tc>
                  <a:txBody>
                    <a:bodyPr/>
                    <a:lstStyle/>
                    <a:p>
                      <a:r>
                        <a:rPr lang="it-IT" b="1" dirty="0" err="1">
                          <a:solidFill>
                            <a:schemeClr val="tx1"/>
                          </a:solidFill>
                        </a:rPr>
                        <a:t>MetaFormer</a:t>
                      </a:r>
                      <a:r>
                        <a:rPr lang="it-IT" b="1" dirty="0">
                          <a:solidFill>
                            <a:schemeClr val="tx1"/>
                          </a:solidFill>
                        </a:rPr>
                        <a:t> Full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>
                          <a:solidFill>
                            <a:schemeClr val="tx1"/>
                          </a:solidFill>
                        </a:rPr>
                        <a:t>12/12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>
                          <a:solidFill>
                            <a:schemeClr val="tx1"/>
                          </a:solidFill>
                        </a:rPr>
                        <a:t>9min 06sec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>
                          <a:solidFill>
                            <a:schemeClr val="tx1"/>
                          </a:solidFill>
                        </a:rPr>
                        <a:t>78.95%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>
                          <a:solidFill>
                            <a:schemeClr val="tx1"/>
                          </a:solidFill>
                        </a:rPr>
                        <a:t>1h 02min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>
                          <a:solidFill>
                            <a:schemeClr val="tx1"/>
                          </a:solidFill>
                        </a:rPr>
                        <a:t>78.48%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7259306"/>
                  </a:ext>
                </a:extLst>
              </a:tr>
              <a:tr h="399182">
                <a:tc>
                  <a:txBody>
                    <a:bodyPr/>
                    <a:lstStyle/>
                    <a:p>
                      <a:r>
                        <a:rPr lang="it-IT" b="1" dirty="0" err="1">
                          <a:solidFill>
                            <a:schemeClr val="tx1"/>
                          </a:solidFill>
                        </a:rPr>
                        <a:t>MetaFormer</a:t>
                      </a:r>
                      <a:r>
                        <a:rPr lang="it-IT" b="1" dirty="0">
                          <a:solidFill>
                            <a:schemeClr val="tx1"/>
                          </a:solidFill>
                        </a:rPr>
                        <a:t> Half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>
                          <a:solidFill>
                            <a:schemeClr val="tx1"/>
                          </a:solidFill>
                        </a:rPr>
                        <a:t>6/12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>
                          <a:solidFill>
                            <a:schemeClr val="tx1"/>
                          </a:solidFill>
                        </a:rPr>
                        <a:t>8min 56sec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>
                          <a:solidFill>
                            <a:schemeClr val="tx1"/>
                          </a:solidFill>
                        </a:rPr>
                        <a:t>85.81%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>
                          <a:solidFill>
                            <a:schemeClr val="tx1"/>
                          </a:solidFill>
                        </a:rPr>
                        <a:t>1h 10min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>
                          <a:solidFill>
                            <a:schemeClr val="tx1"/>
                          </a:solidFill>
                        </a:rPr>
                        <a:t>86.04%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2818869"/>
                  </a:ext>
                </a:extLst>
              </a:tr>
              <a:tr h="399182">
                <a:tc>
                  <a:txBody>
                    <a:bodyPr/>
                    <a:lstStyle/>
                    <a:p>
                      <a:r>
                        <a:rPr lang="it-IT" b="1" dirty="0" err="1">
                          <a:solidFill>
                            <a:schemeClr val="tx1"/>
                          </a:solidFill>
                        </a:rPr>
                        <a:t>MoH</a:t>
                      </a:r>
                      <a:r>
                        <a:rPr lang="it-IT" b="1" dirty="0">
                          <a:solidFill>
                            <a:schemeClr val="tx1"/>
                          </a:solidFill>
                        </a:rPr>
                        <a:t> Full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>
                          <a:solidFill>
                            <a:schemeClr val="tx1"/>
                          </a:solidFill>
                        </a:rPr>
                        <a:t>12/12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>
                          <a:solidFill>
                            <a:schemeClr val="tx1"/>
                          </a:solidFill>
                        </a:rPr>
                        <a:t>9min 05sec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>
                          <a:solidFill>
                            <a:schemeClr val="tx1"/>
                          </a:solidFill>
                        </a:rPr>
                        <a:t>92.09%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>
                          <a:solidFill>
                            <a:schemeClr val="tx1"/>
                          </a:solidFill>
                        </a:rPr>
                        <a:t>1h 00min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>
                          <a:solidFill>
                            <a:schemeClr val="tx1"/>
                          </a:solidFill>
                        </a:rPr>
                        <a:t>91.86%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932450"/>
                  </a:ext>
                </a:extLst>
              </a:tr>
              <a:tr h="399182">
                <a:tc>
                  <a:txBody>
                    <a:bodyPr/>
                    <a:lstStyle/>
                    <a:p>
                      <a:r>
                        <a:rPr lang="it-IT" b="1" dirty="0" err="1">
                          <a:solidFill>
                            <a:schemeClr val="tx1"/>
                          </a:solidFill>
                        </a:rPr>
                        <a:t>MoH</a:t>
                      </a:r>
                      <a:r>
                        <a:rPr lang="it-IT" b="1" dirty="0">
                          <a:solidFill>
                            <a:schemeClr val="tx1"/>
                          </a:solidFill>
                        </a:rPr>
                        <a:t> Half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>
                          <a:solidFill>
                            <a:schemeClr val="tx1"/>
                          </a:solidFill>
                        </a:rPr>
                        <a:t>6/12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>
                          <a:solidFill>
                            <a:schemeClr val="tx1"/>
                          </a:solidFill>
                        </a:rPr>
                        <a:t>8min 51sec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>
                          <a:solidFill>
                            <a:schemeClr val="tx1"/>
                          </a:solidFill>
                        </a:rPr>
                        <a:t>94.88%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>
                          <a:solidFill>
                            <a:schemeClr val="tx1"/>
                          </a:solidFill>
                        </a:rPr>
                        <a:t>1h 08min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>
                          <a:solidFill>
                            <a:schemeClr val="tx1"/>
                          </a:solidFill>
                        </a:rPr>
                        <a:t>94.65%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8701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92416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18764">
        <p159:morph option="byObject"/>
      </p:transition>
    </mc:Choice>
    <mc:Fallback xmlns="">
      <p:transition spd="slow" advTm="18764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383A2-DF28-5D1C-1B6A-120FF9F90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logo, symbol, emblem, graphics&#10;&#10;Description automatically generated">
            <a:extLst>
              <a:ext uri="{FF2B5EF4-FFF2-40B4-BE49-F238E27FC236}">
                <a16:creationId xmlns:a16="http://schemas.microsoft.com/office/drawing/2014/main" id="{D3643D16-E46A-ED77-8B18-513E7FFDAA1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25" t="13953" r="7371" b="6977"/>
          <a:stretch/>
        </p:blipFill>
        <p:spPr>
          <a:xfrm>
            <a:off x="944880" y="-1712"/>
            <a:ext cx="985520" cy="1129472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2A32B6-F76B-D440-09B6-DE3EB2E0C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311901"/>
            <a:ext cx="838200" cy="546099"/>
          </a:xfrm>
        </p:spPr>
        <p:txBody>
          <a:bodyPr/>
          <a:lstStyle/>
          <a:p>
            <a:r>
              <a:rPr lang="en-US" dirty="0"/>
              <a:t>8/9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ADFD43-A54F-68C4-746B-1A4BDDF2A662}"/>
              </a:ext>
            </a:extLst>
          </p:cNvPr>
          <p:cNvSpPr txBox="1"/>
          <p:nvPr/>
        </p:nvSpPr>
        <p:spPr>
          <a:xfrm>
            <a:off x="2192572" y="563024"/>
            <a:ext cx="92036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n w="0"/>
                <a:solidFill>
                  <a:schemeClr val="tx2"/>
                </a:solidFill>
              </a:rPr>
              <a:t>Efficiency–</a:t>
            </a:r>
            <a:r>
              <a:rPr lang="en-US" sz="3200" b="1" dirty="0">
                <a:ln w="0"/>
                <a:solidFill>
                  <a:srgbClr val="822433"/>
                </a:solidFill>
              </a:rPr>
              <a:t>Accuracy</a:t>
            </a:r>
            <a:r>
              <a:rPr lang="en-US" sz="3200" b="1" dirty="0">
                <a:ln w="0"/>
                <a:solidFill>
                  <a:schemeClr val="tx2"/>
                </a:solidFill>
              </a:rPr>
              <a:t> Trade-off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E71DF9-F0E6-695D-EC8E-62A488C69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11900"/>
            <a:ext cx="11353800" cy="546100"/>
          </a:xfrm>
        </p:spPr>
        <p:txBody>
          <a:bodyPr/>
          <a:lstStyle/>
          <a:p>
            <a:r>
              <a:rPr lang="en-US" dirty="0"/>
              <a:t>Efficient Attention Impact on Transformer</a:t>
            </a:r>
          </a:p>
          <a:p>
            <a:r>
              <a:rPr lang="en-US" dirty="0"/>
              <a:t>Backbones for Perceptual Similarity </a:t>
            </a:r>
          </a:p>
        </p:txBody>
      </p:sp>
      <p:sp>
        <p:nvSpPr>
          <p:cNvPr id="7" name="AutoShape 2">
            <a:extLst>
              <a:ext uri="{FF2B5EF4-FFF2-40B4-BE49-F238E27FC236}">
                <a16:creationId xmlns:a16="http://schemas.microsoft.com/office/drawing/2014/main" id="{F86CD0B7-0E65-B778-9D74-57AE64B80E2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4077855" cy="4077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8304A288-01FC-FEA9-6520-C58A97BFE0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264" y="1400740"/>
            <a:ext cx="5270501" cy="3399864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B9355D2E-A306-FEB5-07CA-5B8A64A8C3F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19536" y="1400739"/>
            <a:ext cx="5270500" cy="3399864"/>
          </a:xfrm>
          <a:prstGeom prst="rect">
            <a:avLst/>
          </a:prstGeom>
        </p:spPr>
      </p:pic>
      <p:cxnSp>
        <p:nvCxnSpPr>
          <p:cNvPr id="11" name="Connettore diritto 10">
            <a:extLst>
              <a:ext uri="{FF2B5EF4-FFF2-40B4-BE49-F238E27FC236}">
                <a16:creationId xmlns:a16="http://schemas.microsoft.com/office/drawing/2014/main" id="{9340A176-934C-28C9-E140-48DBFBA9FD12}"/>
              </a:ext>
            </a:extLst>
          </p:cNvPr>
          <p:cNvCxnSpPr/>
          <p:nvPr/>
        </p:nvCxnSpPr>
        <p:spPr>
          <a:xfrm>
            <a:off x="6067633" y="1420778"/>
            <a:ext cx="0" cy="3411881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DD1A4205-0897-4A23-2B1E-495D5B549841}"/>
              </a:ext>
            </a:extLst>
          </p:cNvPr>
          <p:cNvSpPr txBox="1"/>
          <p:nvPr/>
        </p:nvSpPr>
        <p:spPr>
          <a:xfrm>
            <a:off x="602674" y="4995595"/>
            <a:ext cx="102061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it-IT" b="1" dirty="0" err="1"/>
              <a:t>Partial</a:t>
            </a:r>
            <a:r>
              <a:rPr lang="it-IT" b="1" dirty="0"/>
              <a:t> </a:t>
            </a:r>
            <a:r>
              <a:rPr lang="it-IT" b="1" dirty="0" err="1"/>
              <a:t>replacement</a:t>
            </a:r>
            <a:r>
              <a:rPr lang="it-IT" b="1" dirty="0"/>
              <a:t> &gt; Full </a:t>
            </a:r>
            <a:r>
              <a:rPr lang="it-IT" b="1" dirty="0" err="1"/>
              <a:t>replacement</a:t>
            </a:r>
            <a:endParaRPr lang="it-IT" b="1" dirty="0"/>
          </a:p>
          <a:p>
            <a:pPr marL="285750" indent="-2857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it-IT" b="1" dirty="0">
                <a:solidFill>
                  <a:srgbClr val="822433"/>
                </a:solidFill>
              </a:rPr>
              <a:t>SRA Half</a:t>
            </a:r>
            <a:r>
              <a:rPr lang="it-IT" dirty="0"/>
              <a:t> </a:t>
            </a:r>
            <a:r>
              <a:rPr lang="it-IT" dirty="0" err="1"/>
              <a:t>provides</a:t>
            </a:r>
            <a:r>
              <a:rPr lang="it-IT" dirty="0"/>
              <a:t> the </a:t>
            </a:r>
            <a:r>
              <a:rPr lang="it-IT" b="1" dirty="0"/>
              <a:t>best </a:t>
            </a:r>
            <a:r>
              <a:rPr lang="it-IT" b="1" dirty="0" err="1"/>
              <a:t>quality</a:t>
            </a:r>
            <a:r>
              <a:rPr lang="it-IT" b="1" dirty="0"/>
              <a:t> trade-</a:t>
            </a:r>
            <a:r>
              <a:rPr lang="it-IT" b="1" dirty="0" err="1"/>
              <a:t>offs</a:t>
            </a:r>
            <a:endParaRPr lang="it-IT" b="1" dirty="0"/>
          </a:p>
          <a:p>
            <a:pPr marL="285750" indent="-2857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it-IT" dirty="0" err="1"/>
              <a:t>Efficiency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b="1" dirty="0" err="1"/>
              <a:t>architecture</a:t>
            </a:r>
            <a:r>
              <a:rPr lang="it-IT" b="1" dirty="0"/>
              <a:t> </a:t>
            </a:r>
            <a:r>
              <a:rPr lang="it-IT" dirty="0"/>
              <a:t>and</a:t>
            </a:r>
            <a:r>
              <a:rPr lang="it-IT" b="1" dirty="0"/>
              <a:t> </a:t>
            </a:r>
            <a:r>
              <a:rPr lang="it-IT" b="1" dirty="0" err="1"/>
              <a:t>implementation</a:t>
            </a:r>
            <a:r>
              <a:rPr lang="it-IT" dirty="0"/>
              <a:t> </a:t>
            </a:r>
            <a:r>
              <a:rPr lang="it-IT" dirty="0" err="1"/>
              <a:t>dependent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8390321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18764">
        <p159:morph option="byObject"/>
      </p:transition>
    </mc:Choice>
    <mc:Fallback xmlns="">
      <p:transition spd="slow" advTm="18764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logo, symbol, emblem, graphics&#10;&#10;Description automatically generated">
            <a:extLst>
              <a:ext uri="{FF2B5EF4-FFF2-40B4-BE49-F238E27FC236}">
                <a16:creationId xmlns:a16="http://schemas.microsoft.com/office/drawing/2014/main" id="{ACDC7525-862D-6825-7F83-F9612C20055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25" t="13953" r="7371" b="6977"/>
          <a:stretch/>
        </p:blipFill>
        <p:spPr>
          <a:xfrm>
            <a:off x="944880" y="-1712"/>
            <a:ext cx="985520" cy="1129472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C6EA02-13FD-0993-E1E5-E18649D6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9/9</a:t>
            </a:r>
          </a:p>
        </p:txBody>
      </p:sp>
      <p:pic>
        <p:nvPicPr>
          <p:cNvPr id="8" name="Picture 7" descr="A picture containing logo, symbol, emblem, trademark&#10;&#10;Description automatically generated">
            <a:extLst>
              <a:ext uri="{FF2B5EF4-FFF2-40B4-BE49-F238E27FC236}">
                <a16:creationId xmlns:a16="http://schemas.microsoft.com/office/drawing/2014/main" id="{AB6D99D0-AD8A-8D75-1184-B15FA95669D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67" t="14737" r="9302" b="9252"/>
          <a:stretch/>
        </p:blipFill>
        <p:spPr>
          <a:xfrm>
            <a:off x="944880" y="0"/>
            <a:ext cx="985520" cy="112776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F6B1135-D3D5-821B-3C54-0586D9F14115}"/>
              </a:ext>
            </a:extLst>
          </p:cNvPr>
          <p:cNvSpPr txBox="1"/>
          <p:nvPr/>
        </p:nvSpPr>
        <p:spPr>
          <a:xfrm>
            <a:off x="419100" y="2781174"/>
            <a:ext cx="10972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400" dirty="0">
                <a:ln w="0"/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 for the attention!</a:t>
            </a:r>
            <a:endParaRPr lang="en-US" sz="6000" dirty="0">
              <a:ln w="0"/>
              <a:solidFill>
                <a:schemeClr val="bg1"/>
              </a:solidFill>
              <a:latin typeface="Arial Nova" panose="020B05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0A199D-6947-7795-AFAB-0287A09D589A}"/>
              </a:ext>
            </a:extLst>
          </p:cNvPr>
          <p:cNvSpPr txBox="1"/>
          <p:nvPr/>
        </p:nvSpPr>
        <p:spPr>
          <a:xfrm>
            <a:off x="3545595" y="6399252"/>
            <a:ext cx="51008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Mattia Di Marco, Simone La Bella  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8A8B8D-6A1A-D786-8957-46460A64FB70}"/>
              </a:ext>
            </a:extLst>
          </p:cNvPr>
          <p:cNvSpPr txBox="1"/>
          <p:nvPr/>
        </p:nvSpPr>
        <p:spPr>
          <a:xfrm>
            <a:off x="9173593" y="6399252"/>
            <a:ext cx="30184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Academic Year 2025/26</a:t>
            </a:r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5017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18764">
        <p159:morph option="byObject"/>
      </p:transition>
    </mc:Choice>
    <mc:Fallback xmlns="">
      <p:transition spd="slow" advTm="18764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Thesis">
      <a:dk1>
        <a:sysClr val="windowText" lastClr="000000"/>
      </a:dk1>
      <a:lt1>
        <a:sysClr val="window" lastClr="FFFFFF"/>
      </a:lt1>
      <a:dk2>
        <a:srgbClr val="822433"/>
      </a:dk2>
      <a:lt2>
        <a:srgbClr val="E7E6E6"/>
      </a:lt2>
      <a:accent1>
        <a:srgbClr val="C00000"/>
      </a:accent1>
      <a:accent2>
        <a:srgbClr val="F995BB"/>
      </a:accent2>
      <a:accent3>
        <a:srgbClr val="FBCDE0"/>
      </a:accent3>
      <a:accent4>
        <a:srgbClr val="FEDEEB"/>
      </a:accent4>
      <a:accent5>
        <a:srgbClr val="92D050"/>
      </a:accent5>
      <a:accent6>
        <a:srgbClr val="48A1FA"/>
      </a:accent6>
      <a:hlink>
        <a:srgbClr val="FF0000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3">
    <wetp:webextensionref xmlns:r="http://schemas.openxmlformats.org/officeDocument/2006/relationships" r:id="rId1"/>
  </wetp:taskpane>
  <wetp:taskpane dockstate="right" visibility="0" width="525" row="2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19C12FA2-8EBE-47B9-8787-22614A1C53E2}">
  <we:reference id="wa200005542" version="1.0.0.0" store="en-US" storeType="OMEX"/>
  <we:alternateReferences>
    <we:reference id="WA200005542" version="1.0.0.0" store="WA200005542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1B52D26F-26FE-4606-86C9-69FCF55E2141}">
  <we:reference id="wa104380955" version="3.16.2.1" store="en-US" storeType="OMEX"/>
  <we:alternateReferences>
    <we:reference id="WA104380955" version="3.16.2.1" store="WA104380955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16876</TotalTime>
  <Words>718</Words>
  <Application>Microsoft Office PowerPoint</Application>
  <PresentationFormat>Widescreen</PresentationFormat>
  <Paragraphs>168</Paragraphs>
  <Slides>10</Slides>
  <Notes>10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10</vt:i4>
      </vt:variant>
    </vt:vector>
  </HeadingPairs>
  <TitlesOfParts>
    <vt:vector size="15" baseType="lpstr">
      <vt:lpstr>Arial</vt:lpstr>
      <vt:lpstr>Arial Nova</vt:lpstr>
      <vt:lpstr>Calibri</vt:lpstr>
      <vt:lpstr>Cambria Math</vt:lpstr>
      <vt:lpstr>Office Theme</vt:lpstr>
      <vt:lpstr>Efficient Attention Impact on Transformer Backbones for Perceptual Similarity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Advancements in EEG Denoising and Artifact Removal using Transformers</dc:title>
  <dc:creator>Martina Doku</dc:creator>
  <cp:lastModifiedBy>simone la bella</cp:lastModifiedBy>
  <cp:revision>269</cp:revision>
  <dcterms:created xsi:type="dcterms:W3CDTF">2023-07-04T10:18:11Z</dcterms:created>
  <dcterms:modified xsi:type="dcterms:W3CDTF">2026-09-08T16:27:36Z</dcterms:modified>
</cp:coreProperties>
</file>