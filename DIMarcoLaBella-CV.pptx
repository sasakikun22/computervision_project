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2"/>
  </p:notesMasterIdLst>
  <p:sldIdLst>
    <p:sldId id="256" r:id="rId2"/>
    <p:sldId id="280" r:id="rId3"/>
    <p:sldId id="341" r:id="rId4"/>
    <p:sldId id="370" r:id="rId5"/>
    <p:sldId id="342" r:id="rId6"/>
    <p:sldId id="349" r:id="rId7"/>
    <p:sldId id="371" r:id="rId8"/>
    <p:sldId id="350" r:id="rId9"/>
    <p:sldId id="372" r:id="rId10"/>
    <p:sldId id="276"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a:srgbClr val="7A0E21"/>
    <a:srgbClr val="7F7F7F"/>
    <a:srgbClr val="FFFFFF"/>
    <a:srgbClr val="8C1C2C"/>
    <a:srgbClr val="0000C9"/>
    <a:srgbClr val="D0586C"/>
    <a:srgbClr val="00E700"/>
    <a:srgbClr val="0000FA"/>
    <a:srgbClr val="FDFDF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0785" autoAdjust="0"/>
  </p:normalViewPr>
  <p:slideViewPr>
    <p:cSldViewPr snapToGrid="0">
      <p:cViewPr varScale="1">
        <p:scale>
          <a:sx n="104" d="100"/>
          <a:sy n="104" d="100"/>
        </p:scale>
        <p:origin x="870" y="10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49" d="100"/>
          <a:sy n="49" d="100"/>
        </p:scale>
        <p:origin x="2740" y="4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36D48C-17FB-4B39-A02A-7BFB1526C0F4}" type="datetimeFigureOut">
              <a:rPr lang="en-US" smtClean="0"/>
              <a:t>9/9/2026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FCA171-2CCA-4F87-810B-58CEB317CFF1}" type="slidenum">
              <a:rPr lang="en-US" smtClean="0"/>
              <a:t>‹N›</a:t>
            </a:fld>
            <a:endParaRPr lang="en-US"/>
          </a:p>
        </p:txBody>
      </p:sp>
    </p:spTree>
    <p:extLst>
      <p:ext uri="{BB962C8B-B14F-4D97-AF65-F5344CB8AC3E}">
        <p14:creationId xmlns:p14="http://schemas.microsoft.com/office/powerpoint/2010/main" val="23448361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FCA171-2CCA-4F87-810B-58CEB317CFF1}" type="slidenum">
              <a:rPr lang="en-US" smtClean="0"/>
              <a:t>1</a:t>
            </a:fld>
            <a:endParaRPr lang="en-US" dirty="0"/>
          </a:p>
        </p:txBody>
      </p:sp>
    </p:spTree>
    <p:extLst>
      <p:ext uri="{BB962C8B-B14F-4D97-AF65-F5344CB8AC3E}">
        <p14:creationId xmlns:p14="http://schemas.microsoft.com/office/powerpoint/2010/main" val="23763743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7A410-65F5-2249-6625-0CB792C6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66971D-B1C7-65B3-876E-F739CDD589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DB13EC-99F2-686D-003E-A2E57E3E008A}"/>
              </a:ext>
            </a:extLst>
          </p:cNvPr>
          <p:cNvSpPr>
            <a:spLocks noGrp="1"/>
          </p:cNvSpPr>
          <p:nvPr>
            <p:ph type="body" idx="1"/>
          </p:nvPr>
        </p:nvSpPr>
        <p:spPr/>
        <p:txBody>
          <a:bodyPr/>
          <a:lstStyle/>
          <a:p>
            <a:pPr algn="ctr"/>
            <a:r>
              <a:rPr lang="en-US" sz="1800" dirty="0"/>
              <a:t>The aim of the project is to study the impact of different efficient attention mechanisms in a Vision Transformer for a perceptual image similarity task.</a:t>
            </a:r>
          </a:p>
          <a:p>
            <a:pPr algn="ctr"/>
            <a:r>
              <a:rPr lang="en-US" sz="1800" dirty="0"/>
              <a:t>Our starting point is a DINO </a:t>
            </a:r>
            <a:r>
              <a:rPr lang="en-US" sz="1800" dirty="0" err="1"/>
              <a:t>ViT</a:t>
            </a:r>
            <a:r>
              <a:rPr lang="en-US" sz="1800" dirty="0"/>
              <a:t> backbone inserted into a DreamSim-like pipeline.</a:t>
            </a:r>
          </a:p>
          <a:p>
            <a:pPr algn="ctr"/>
            <a:r>
              <a:rPr lang="en-US" sz="1800" dirty="0"/>
              <a:t>The main goal is to understand whether the standard self-attention mechanism can be replaced with more efficient alternatives while preserving performance.</a:t>
            </a:r>
          </a:p>
          <a:p>
            <a:pPr algn="ctr"/>
            <a:endParaRPr lang="en-GB" sz="1800" dirty="0"/>
          </a:p>
        </p:txBody>
      </p:sp>
      <p:sp>
        <p:nvSpPr>
          <p:cNvPr id="4" name="Slide Number Placeholder 3">
            <a:extLst>
              <a:ext uri="{FF2B5EF4-FFF2-40B4-BE49-F238E27FC236}">
                <a16:creationId xmlns:a16="http://schemas.microsoft.com/office/drawing/2014/main" id="{4CC5C2F2-4F33-81DA-ED00-596050F5F48B}"/>
              </a:ext>
            </a:extLst>
          </p:cNvPr>
          <p:cNvSpPr>
            <a:spLocks noGrp="1"/>
          </p:cNvSpPr>
          <p:nvPr>
            <p:ph type="sldNum" sz="quarter" idx="5"/>
          </p:nvPr>
        </p:nvSpPr>
        <p:spPr/>
        <p:txBody>
          <a:bodyPr/>
          <a:lstStyle/>
          <a:p>
            <a:fld id="{81FCA171-2CCA-4F87-810B-58CEB317CFF1}" type="slidenum">
              <a:rPr lang="en-US" smtClean="0"/>
              <a:t>2</a:t>
            </a:fld>
            <a:endParaRPr lang="en-US"/>
          </a:p>
        </p:txBody>
      </p:sp>
    </p:spTree>
    <p:extLst>
      <p:ext uri="{BB962C8B-B14F-4D97-AF65-F5344CB8AC3E}">
        <p14:creationId xmlns:p14="http://schemas.microsoft.com/office/powerpoint/2010/main" val="33796682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BA97-AB57-63C1-B21E-D0EBA25FD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5F0F8C-2A16-C9F6-2FDF-821CD6CB47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67A76-F7AD-18EE-1DF3-6482FFA36A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use the NIGHTS dataset. Each sample contains a reference image, a left image, a right image, and a human preference indicating which of the two images is closer to the reference.</a:t>
            </a:r>
          </a:p>
        </p:txBody>
      </p:sp>
      <p:sp>
        <p:nvSpPr>
          <p:cNvPr id="4" name="Slide Number Placeholder 3">
            <a:extLst>
              <a:ext uri="{FF2B5EF4-FFF2-40B4-BE49-F238E27FC236}">
                <a16:creationId xmlns:a16="http://schemas.microsoft.com/office/drawing/2014/main" id="{34E287A4-4C0C-B610-449B-628CBEECAEA0}"/>
              </a:ext>
            </a:extLst>
          </p:cNvPr>
          <p:cNvSpPr>
            <a:spLocks noGrp="1"/>
          </p:cNvSpPr>
          <p:nvPr>
            <p:ph type="sldNum" sz="quarter" idx="5"/>
          </p:nvPr>
        </p:nvSpPr>
        <p:spPr/>
        <p:txBody>
          <a:bodyPr/>
          <a:lstStyle/>
          <a:p>
            <a:fld id="{81FCA171-2CCA-4F87-810B-58CEB317CFF1}" type="slidenum">
              <a:rPr lang="en-US" smtClean="0"/>
              <a:t>3</a:t>
            </a:fld>
            <a:endParaRPr lang="en-US"/>
          </a:p>
        </p:txBody>
      </p:sp>
    </p:spTree>
    <p:extLst>
      <p:ext uri="{BB962C8B-B14F-4D97-AF65-F5344CB8AC3E}">
        <p14:creationId xmlns:p14="http://schemas.microsoft.com/office/powerpoint/2010/main" val="8595911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D6F8B-F48F-C28D-114B-261293B74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8C8B9-7D4E-F1F2-677A-E0E185AAEE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BE6630-2A52-BAD6-AAC3-D451913A7A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filtered the dataset to keep samples with at least 6 grades and due to computational constraints we used 50% of the dataset.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our main evaluation metric, we use 2AFC, or Two-Alternative Forced Choice, which measures whether the model agrees with the human preference between the left and right images.</a:t>
            </a:r>
          </a:p>
        </p:txBody>
      </p:sp>
      <p:sp>
        <p:nvSpPr>
          <p:cNvPr id="4" name="Slide Number Placeholder 3">
            <a:extLst>
              <a:ext uri="{FF2B5EF4-FFF2-40B4-BE49-F238E27FC236}">
                <a16:creationId xmlns:a16="http://schemas.microsoft.com/office/drawing/2014/main" id="{05FAC66C-CECD-E83F-08BA-46B24558B9C0}"/>
              </a:ext>
            </a:extLst>
          </p:cNvPr>
          <p:cNvSpPr>
            <a:spLocks noGrp="1"/>
          </p:cNvSpPr>
          <p:nvPr>
            <p:ph type="sldNum" sz="quarter" idx="5"/>
          </p:nvPr>
        </p:nvSpPr>
        <p:spPr/>
        <p:txBody>
          <a:bodyPr/>
          <a:lstStyle/>
          <a:p>
            <a:fld id="{81FCA171-2CCA-4F87-810B-58CEB317CFF1}" type="slidenum">
              <a:rPr lang="en-US" smtClean="0"/>
              <a:t>4</a:t>
            </a:fld>
            <a:endParaRPr lang="en-US"/>
          </a:p>
        </p:txBody>
      </p:sp>
    </p:spTree>
    <p:extLst>
      <p:ext uri="{BB962C8B-B14F-4D97-AF65-F5344CB8AC3E}">
        <p14:creationId xmlns:p14="http://schemas.microsoft.com/office/powerpoint/2010/main" val="17592791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52937-8550-19DB-607A-BFBF9553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8BF83A-D643-1796-4212-CB8F707FB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C42D1C-55A6-8DF9-7AC7-2E36CACD3540}"/>
              </a:ext>
            </a:extLst>
          </p:cNvPr>
          <p:cNvSpPr>
            <a:spLocks noGrp="1"/>
          </p:cNvSpPr>
          <p:nvPr>
            <p:ph type="body" idx="1"/>
          </p:nvPr>
        </p:nvSpPr>
        <p:spPr/>
        <p:txBody>
          <a:bodyPr/>
          <a:lstStyle/>
          <a:p>
            <a:endParaRPr lang="en-US" dirty="0"/>
          </a:p>
          <a:p>
            <a:r>
              <a:rPr lang="en-US" dirty="0"/>
              <a:t>We built our own DreamSim-like pipeline using DINO </a:t>
            </a:r>
            <a:r>
              <a:rPr lang="en-US" dirty="0" err="1"/>
              <a:t>ViT</a:t>
            </a:r>
            <a:r>
              <a:rPr lang="en-US" dirty="0"/>
              <a:t> as the backbone. u can see the pipeline structure in the slide. </a:t>
            </a:r>
          </a:p>
          <a:p>
            <a:r>
              <a:rPr lang="en-US" dirty="0"/>
              <a:t>We tested three different efficient attention mechanisms using two configurations. In the full configuration, we replaced the attention mechanism in all 12 Transformer blocks, while in the half configuration, we replaced it only in the last 6 blocks.</a:t>
            </a:r>
          </a:p>
        </p:txBody>
      </p:sp>
      <p:sp>
        <p:nvSpPr>
          <p:cNvPr id="4" name="Slide Number Placeholder 3">
            <a:extLst>
              <a:ext uri="{FF2B5EF4-FFF2-40B4-BE49-F238E27FC236}">
                <a16:creationId xmlns:a16="http://schemas.microsoft.com/office/drawing/2014/main" id="{99EB4916-8331-AE14-ACFC-1FD7325E6A81}"/>
              </a:ext>
            </a:extLst>
          </p:cNvPr>
          <p:cNvSpPr>
            <a:spLocks noGrp="1"/>
          </p:cNvSpPr>
          <p:nvPr>
            <p:ph type="sldNum" sz="quarter" idx="5"/>
          </p:nvPr>
        </p:nvSpPr>
        <p:spPr/>
        <p:txBody>
          <a:bodyPr/>
          <a:lstStyle/>
          <a:p>
            <a:fld id="{81FCA171-2CCA-4F87-810B-58CEB317CFF1}" type="slidenum">
              <a:rPr lang="en-US" smtClean="0"/>
              <a:t>5</a:t>
            </a:fld>
            <a:endParaRPr lang="en-US"/>
          </a:p>
        </p:txBody>
      </p:sp>
    </p:spTree>
    <p:extLst>
      <p:ext uri="{BB962C8B-B14F-4D97-AF65-F5344CB8AC3E}">
        <p14:creationId xmlns:p14="http://schemas.microsoft.com/office/powerpoint/2010/main" val="2764815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FFDF6-5402-13E5-D1F0-BD5FFBFD6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7C7EFF-AAC3-54DF-62E3-0E67D335DC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F9033C-1E4D-97CD-C218-63AFD748E6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552E866-2D7A-559D-337C-72B56CAB21D3}"/>
              </a:ext>
            </a:extLst>
          </p:cNvPr>
          <p:cNvSpPr>
            <a:spLocks noGrp="1"/>
          </p:cNvSpPr>
          <p:nvPr>
            <p:ph type="sldNum" sz="quarter" idx="5"/>
          </p:nvPr>
        </p:nvSpPr>
        <p:spPr/>
        <p:txBody>
          <a:bodyPr/>
          <a:lstStyle/>
          <a:p>
            <a:fld id="{81FCA171-2CCA-4F87-810B-58CEB317CFF1}" type="slidenum">
              <a:rPr lang="en-US" smtClean="0"/>
              <a:t>6</a:t>
            </a:fld>
            <a:endParaRPr lang="en-US"/>
          </a:p>
        </p:txBody>
      </p:sp>
    </p:spTree>
    <p:extLst>
      <p:ext uri="{BB962C8B-B14F-4D97-AF65-F5344CB8AC3E}">
        <p14:creationId xmlns:p14="http://schemas.microsoft.com/office/powerpoint/2010/main" val="3315322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D7816-99CC-5044-5C33-847987060B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97450-550F-4C87-26C9-E6D4E5972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78597C-A50D-40FB-901B-9C77CB8283A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21A72AE5-56D0-A244-FBF2-ADD2A0F16BAD}"/>
              </a:ext>
            </a:extLst>
          </p:cNvPr>
          <p:cNvSpPr>
            <a:spLocks noGrp="1"/>
          </p:cNvSpPr>
          <p:nvPr>
            <p:ph type="sldNum" sz="quarter" idx="5"/>
          </p:nvPr>
        </p:nvSpPr>
        <p:spPr/>
        <p:txBody>
          <a:bodyPr/>
          <a:lstStyle/>
          <a:p>
            <a:fld id="{81FCA171-2CCA-4F87-810B-58CEB317CFF1}" type="slidenum">
              <a:rPr lang="en-US" smtClean="0"/>
              <a:t>7</a:t>
            </a:fld>
            <a:endParaRPr lang="en-US"/>
          </a:p>
        </p:txBody>
      </p:sp>
    </p:spTree>
    <p:extLst>
      <p:ext uri="{BB962C8B-B14F-4D97-AF65-F5344CB8AC3E}">
        <p14:creationId xmlns:p14="http://schemas.microsoft.com/office/powerpoint/2010/main" val="4210743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B9A6C-8BF3-EDE7-351D-F56471294C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3B318E-D264-06C4-A4B9-90ADDC0488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80FF3E-CE24-D3DD-6EA2-C66FCFD2AB4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Calibri" panose="020F0502020204030204" pitchFamily="34" charset="0"/>
                <a:ea typeface="Calibri" panose="020F0502020204030204" pitchFamily="34" charset="0"/>
                <a:cs typeface="Arial" panose="020B0604020202020204" pitchFamily="34" charset="0"/>
              </a:rPr>
              <a:t>Prima di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entrare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nel</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dettaglio</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della</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presentazione</a:t>
            </a:r>
            <a:r>
              <a:rPr lang="en-US" sz="1800" kern="100" dirty="0">
                <a:effectLst/>
                <a:latin typeface="Calibri" panose="020F0502020204030204" pitchFamily="34" charset="0"/>
                <a:ea typeface="Calibri" panose="020F0502020204030204" pitchFamily="34" charset="0"/>
                <a:cs typeface="Arial" panose="020B0604020202020204" pitchFamily="34" charset="0"/>
              </a:rPr>
              <a:t>, è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importante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spiegare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cos’è</a:t>
            </a:r>
            <a:r>
              <a:rPr lang="en-US" sz="1800" kern="100" dirty="0">
                <a:effectLst/>
                <a:latin typeface="Calibri" panose="020F0502020204030204" pitchFamily="34" charset="0"/>
                <a:ea typeface="Calibri" panose="020F0502020204030204" pitchFamily="34" charset="0"/>
                <a:cs typeface="Arial" panose="020B0604020202020204" pitchFamily="34" charset="0"/>
              </a:rPr>
              <a:t> un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tumore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cerebrale</a:t>
            </a:r>
            <a:r>
              <a:rPr lang="en-US" sz="1800" kern="100" dirty="0">
                <a:effectLst/>
                <a:latin typeface="Calibri" panose="020F0502020204030204" pitchFamily="34" charset="0"/>
                <a:ea typeface="Calibri" panose="020F0502020204030204" pitchFamily="34" charset="0"/>
                <a:cs typeface="Arial" panose="020B0604020202020204" pitchFamily="34" charset="0"/>
              </a:rPr>
              <a:t> e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perche</a:t>
            </a:r>
            <a:r>
              <a:rPr lang="en-US" sz="1800" kern="100" dirty="0">
                <a:effectLst/>
                <a:latin typeface="Calibri" panose="020F0502020204030204" pitchFamily="34" charset="0"/>
                <a:ea typeface="Calibri" panose="020F0502020204030204" pitchFamily="34" charset="0"/>
                <a:cs typeface="Arial" panose="020B0604020202020204" pitchFamily="34" charset="0"/>
              </a:rPr>
              <a:t> è un area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cruciale</a:t>
            </a:r>
            <a:r>
              <a:rPr lang="en-US" sz="1800" kern="100" dirty="0">
                <a:effectLst/>
                <a:latin typeface="Calibri" panose="020F0502020204030204" pitchFamily="34" charset="0"/>
                <a:ea typeface="Calibri" panose="020F0502020204030204" pitchFamily="34" charset="0"/>
                <a:cs typeface="Arial" panose="020B0604020202020204" pitchFamily="34" charset="0"/>
              </a:rPr>
              <a:t> di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ricerca</a:t>
            </a:r>
            <a:r>
              <a:rPr lang="en-US" sz="1800" kern="100" dirty="0">
                <a:effectLst/>
                <a:latin typeface="Calibri" panose="020F0502020204030204" pitchFamily="34" charset="0"/>
                <a:ea typeface="Calibri" panose="020F0502020204030204" pitchFamily="34" charset="0"/>
                <a:cs typeface="Arial" panose="020B0604020202020204" pitchFamily="34" charset="0"/>
              </a:rPr>
              <a:t>.</a:t>
            </a:r>
          </a:p>
          <a:p>
            <a:endParaRPr lang="en-US" dirty="0"/>
          </a:p>
          <a:p>
            <a:r>
              <a:rPr lang="en-US" dirty="0"/>
              <a:t>I </a:t>
            </a:r>
            <a:r>
              <a:rPr lang="en-US" dirty="0" err="1"/>
              <a:t>tumori</a:t>
            </a:r>
            <a:r>
              <a:rPr lang="en-US" dirty="0"/>
              <a:t> </a:t>
            </a:r>
            <a:r>
              <a:rPr lang="en-US" dirty="0" err="1"/>
              <a:t>cerebrali</a:t>
            </a:r>
            <a:r>
              <a:rPr lang="en-US" dirty="0"/>
              <a:t> </a:t>
            </a:r>
            <a:r>
              <a:rPr lang="en-US" dirty="0" err="1"/>
              <a:t>sono</a:t>
            </a:r>
            <a:r>
              <a:rPr lang="en-US" dirty="0"/>
              <a:t> </a:t>
            </a:r>
            <a:r>
              <a:rPr lang="en-US" dirty="0" err="1"/>
              <a:t>delle</a:t>
            </a:r>
            <a:r>
              <a:rPr lang="en-US" dirty="0"/>
              <a:t> masse </a:t>
            </a:r>
            <a:r>
              <a:rPr lang="en-US" dirty="0" err="1"/>
              <a:t>anomale</a:t>
            </a:r>
            <a:r>
              <a:rPr lang="en-US" dirty="0"/>
              <a:t> di cellule </a:t>
            </a:r>
            <a:r>
              <a:rPr lang="en-US" dirty="0" err="1"/>
              <a:t>che</a:t>
            </a:r>
            <a:r>
              <a:rPr lang="en-US" dirty="0"/>
              <a:t> </a:t>
            </a:r>
            <a:r>
              <a:rPr lang="en-US" dirty="0" err="1"/>
              <a:t>crescono</a:t>
            </a:r>
            <a:r>
              <a:rPr lang="en-US" dirty="0"/>
              <a:t> </a:t>
            </a:r>
            <a:r>
              <a:rPr lang="en-US" dirty="0" err="1"/>
              <a:t>all’interno</a:t>
            </a:r>
            <a:r>
              <a:rPr lang="en-US" dirty="0"/>
              <a:t> del </a:t>
            </a:r>
            <a:r>
              <a:rPr lang="en-US" dirty="0" err="1"/>
              <a:t>cervello</a:t>
            </a:r>
            <a:r>
              <a:rPr lang="en-US" dirty="0"/>
              <a:t>, ne </a:t>
            </a:r>
            <a:r>
              <a:rPr lang="en-US" dirty="0" err="1"/>
              <a:t>esistono</a:t>
            </a:r>
            <a:r>
              <a:rPr lang="en-US" dirty="0"/>
              <a:t> </a:t>
            </a:r>
            <a:r>
              <a:rPr lang="en-US" dirty="0" err="1"/>
              <a:t>varie</a:t>
            </a:r>
            <a:r>
              <a:rPr lang="en-US" dirty="0"/>
              <a:t> </a:t>
            </a:r>
            <a:r>
              <a:rPr lang="en-US" dirty="0" err="1"/>
              <a:t>tipologie</a:t>
            </a:r>
            <a:r>
              <a:rPr lang="en-US" dirty="0"/>
              <a:t> e </a:t>
            </a:r>
            <a:r>
              <a:rPr lang="en-US" dirty="0" err="1"/>
              <a:t>si</a:t>
            </a:r>
            <a:r>
              <a:rPr lang="en-US" dirty="0"/>
              <a:t> </a:t>
            </a:r>
            <a:r>
              <a:rPr lang="en-US" dirty="0" err="1"/>
              <a:t>possono</a:t>
            </a:r>
            <a:r>
              <a:rPr lang="en-US" dirty="0"/>
              <a:t> </a:t>
            </a:r>
            <a:r>
              <a:rPr lang="en-US" dirty="0" err="1"/>
              <a:t>classificare</a:t>
            </a:r>
            <a:r>
              <a:rPr lang="en-US" dirty="0"/>
              <a:t> in </a:t>
            </a:r>
            <a:r>
              <a:rPr lang="en-US" dirty="0" err="1"/>
              <a:t>primari</a:t>
            </a:r>
            <a:r>
              <a:rPr lang="en-US" dirty="0"/>
              <a:t> e </a:t>
            </a:r>
            <a:r>
              <a:rPr lang="en-US" dirty="0" err="1"/>
              <a:t>secondari</a:t>
            </a:r>
            <a:r>
              <a:rPr lang="en-US" dirty="0"/>
              <a:t> in base al modo </a:t>
            </a:r>
            <a:r>
              <a:rPr lang="en-US" dirty="0" err="1"/>
              <a:t>nella</a:t>
            </a:r>
            <a:r>
              <a:rPr lang="en-US" dirty="0"/>
              <a:t> quale </a:t>
            </a:r>
            <a:r>
              <a:rPr lang="en-US" dirty="0" err="1"/>
              <a:t>si</a:t>
            </a:r>
            <a:r>
              <a:rPr lang="en-US" dirty="0"/>
              <a:t> </a:t>
            </a:r>
            <a:r>
              <a:rPr lang="en-US" dirty="0" err="1"/>
              <a:t>creano</a:t>
            </a:r>
            <a:r>
              <a:rPr lang="en-US" dirty="0"/>
              <a:t>. Sono </a:t>
            </a:r>
            <a:r>
              <a:rPr lang="en-US" dirty="0" err="1"/>
              <a:t>formati</a:t>
            </a:r>
            <a:r>
              <a:rPr lang="en-US" dirty="0"/>
              <a:t> da </a:t>
            </a:r>
            <a:r>
              <a:rPr lang="en-US" dirty="0" err="1"/>
              <a:t>diversi</a:t>
            </a:r>
            <a:r>
              <a:rPr lang="en-US" dirty="0"/>
              <a:t> </a:t>
            </a:r>
            <a:r>
              <a:rPr lang="en-US" dirty="0" err="1"/>
              <a:t>tessuti</a:t>
            </a:r>
            <a:r>
              <a:rPr lang="en-US" dirty="0"/>
              <a:t> </a:t>
            </a:r>
            <a:r>
              <a:rPr lang="en-US" dirty="0" err="1"/>
              <a:t>ognuno</a:t>
            </a:r>
            <a:r>
              <a:rPr lang="en-US" dirty="0"/>
              <a:t> con </a:t>
            </a:r>
            <a:r>
              <a:rPr lang="en-US" dirty="0" err="1"/>
              <a:t>caratteristiche</a:t>
            </a:r>
            <a:r>
              <a:rPr lang="en-US" dirty="0"/>
              <a:t> </a:t>
            </a:r>
            <a:r>
              <a:rPr lang="en-US" dirty="0" err="1"/>
              <a:t>proprie</a:t>
            </a:r>
            <a:r>
              <a:rPr lang="en-US" dirty="0"/>
              <a:t>.</a:t>
            </a:r>
          </a:p>
          <a:p>
            <a:endParaRPr lang="en-US" dirty="0"/>
          </a:p>
          <a:p>
            <a:r>
              <a:rPr lang="en-US" dirty="0" err="1"/>
              <a:t>L’utilizzo</a:t>
            </a:r>
            <a:r>
              <a:rPr lang="en-US" dirty="0"/>
              <a:t> </a:t>
            </a:r>
            <a:r>
              <a:rPr lang="en-US" dirty="0" err="1"/>
              <a:t>della</a:t>
            </a:r>
            <a:r>
              <a:rPr lang="en-US" dirty="0"/>
              <a:t> </a:t>
            </a:r>
            <a:r>
              <a:rPr lang="en-US" dirty="0" err="1"/>
              <a:t>risonanza</a:t>
            </a:r>
            <a:r>
              <a:rPr lang="en-US" dirty="0"/>
              <a:t> </a:t>
            </a:r>
            <a:r>
              <a:rPr lang="en-US" dirty="0" err="1"/>
              <a:t>magnetica</a:t>
            </a:r>
            <a:r>
              <a:rPr lang="en-US" dirty="0"/>
              <a:t> ci </a:t>
            </a:r>
            <a:r>
              <a:rPr lang="en-US" dirty="0" err="1"/>
              <a:t>permette</a:t>
            </a:r>
            <a:r>
              <a:rPr lang="en-US" dirty="0"/>
              <a:t> di </a:t>
            </a:r>
            <a:r>
              <a:rPr lang="en-US" dirty="0" err="1"/>
              <a:t>distinguere</a:t>
            </a:r>
            <a:r>
              <a:rPr lang="en-US" dirty="0"/>
              <a:t> in </a:t>
            </a:r>
            <a:r>
              <a:rPr lang="en-US" dirty="0" err="1"/>
              <a:t>maniera</a:t>
            </a:r>
            <a:r>
              <a:rPr lang="en-US" dirty="0"/>
              <a:t> </a:t>
            </a:r>
            <a:r>
              <a:rPr lang="en-US" dirty="0" err="1"/>
              <a:t>accurata</a:t>
            </a:r>
            <a:r>
              <a:rPr lang="en-US" dirty="0"/>
              <a:t> </a:t>
            </a:r>
            <a:r>
              <a:rPr lang="en-US" dirty="0" err="1"/>
              <a:t>questi</a:t>
            </a:r>
            <a:r>
              <a:rPr lang="en-US" dirty="0"/>
              <a:t> </a:t>
            </a:r>
            <a:r>
              <a:rPr lang="en-US" dirty="0" err="1"/>
              <a:t>tessuti</a:t>
            </a:r>
            <a:r>
              <a:rPr lang="en-US" dirty="0"/>
              <a:t>.</a:t>
            </a:r>
          </a:p>
        </p:txBody>
      </p:sp>
      <p:sp>
        <p:nvSpPr>
          <p:cNvPr id="4" name="Slide Number Placeholder 3">
            <a:extLst>
              <a:ext uri="{FF2B5EF4-FFF2-40B4-BE49-F238E27FC236}">
                <a16:creationId xmlns:a16="http://schemas.microsoft.com/office/drawing/2014/main" id="{0C3C54F0-9E61-5873-5FD9-EA45AA3A037E}"/>
              </a:ext>
            </a:extLst>
          </p:cNvPr>
          <p:cNvSpPr>
            <a:spLocks noGrp="1"/>
          </p:cNvSpPr>
          <p:nvPr>
            <p:ph type="sldNum" sz="quarter" idx="5"/>
          </p:nvPr>
        </p:nvSpPr>
        <p:spPr/>
        <p:txBody>
          <a:bodyPr/>
          <a:lstStyle/>
          <a:p>
            <a:fld id="{81FCA171-2CCA-4F87-810B-58CEB317CFF1}" type="slidenum">
              <a:rPr lang="en-US" smtClean="0"/>
              <a:t>8</a:t>
            </a:fld>
            <a:endParaRPr lang="en-US"/>
          </a:p>
        </p:txBody>
      </p:sp>
    </p:spTree>
    <p:extLst>
      <p:ext uri="{BB962C8B-B14F-4D97-AF65-F5344CB8AC3E}">
        <p14:creationId xmlns:p14="http://schemas.microsoft.com/office/powerpoint/2010/main" val="11331563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03B33-E473-2B92-3C56-4DCC02F2A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93E52-1420-FCA8-71E2-2DECAFB1E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9C1E36-413F-6926-5549-64A516390B4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00" dirty="0">
                <a:effectLst/>
                <a:latin typeface="Calibri" panose="020F0502020204030204" pitchFamily="34" charset="0"/>
                <a:ea typeface="Calibri" panose="020F0502020204030204" pitchFamily="34" charset="0"/>
                <a:cs typeface="Arial" panose="020B0604020202020204" pitchFamily="34" charset="0"/>
              </a:rPr>
              <a:t>Prima di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entrare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nel</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dettaglio</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della</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presentazione</a:t>
            </a:r>
            <a:r>
              <a:rPr lang="en-US" sz="1800" kern="100" dirty="0">
                <a:effectLst/>
                <a:latin typeface="Calibri" panose="020F0502020204030204" pitchFamily="34" charset="0"/>
                <a:ea typeface="Calibri" panose="020F0502020204030204" pitchFamily="34" charset="0"/>
                <a:cs typeface="Arial" panose="020B0604020202020204" pitchFamily="34" charset="0"/>
              </a:rPr>
              <a:t>, è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importante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spiegare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cos’è</a:t>
            </a:r>
            <a:r>
              <a:rPr lang="en-US" sz="1800" kern="100" dirty="0">
                <a:effectLst/>
                <a:latin typeface="Calibri" panose="020F0502020204030204" pitchFamily="34" charset="0"/>
                <a:ea typeface="Calibri" panose="020F0502020204030204" pitchFamily="34" charset="0"/>
                <a:cs typeface="Arial" panose="020B0604020202020204" pitchFamily="34" charset="0"/>
              </a:rPr>
              <a:t> un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tumore</a:t>
            </a:r>
            <a:r>
              <a:rPr lang="en-US" sz="1800" kern="100" dirty="0">
                <a:effectLst/>
                <a:latin typeface="Calibri" panose="020F0502020204030204" pitchFamily="34" charset="0"/>
                <a:ea typeface="Calibri" panose="020F0502020204030204" pitchFamily="34" charset="0"/>
                <a:cs typeface="Arial" panose="020B0604020202020204" pitchFamily="34" charset="0"/>
              </a:rPr>
              <a:t>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cerebrale</a:t>
            </a:r>
            <a:r>
              <a:rPr lang="en-US" sz="1800" kern="100" dirty="0">
                <a:effectLst/>
                <a:latin typeface="Calibri" panose="020F0502020204030204" pitchFamily="34" charset="0"/>
                <a:ea typeface="Calibri" panose="020F0502020204030204" pitchFamily="34" charset="0"/>
                <a:cs typeface="Arial" panose="020B0604020202020204" pitchFamily="34" charset="0"/>
              </a:rPr>
              <a:t> e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perche</a:t>
            </a:r>
            <a:r>
              <a:rPr lang="en-US" sz="1800" kern="100" dirty="0">
                <a:effectLst/>
                <a:latin typeface="Calibri" panose="020F0502020204030204" pitchFamily="34" charset="0"/>
                <a:ea typeface="Calibri" panose="020F0502020204030204" pitchFamily="34" charset="0"/>
                <a:cs typeface="Arial" panose="020B0604020202020204" pitchFamily="34" charset="0"/>
              </a:rPr>
              <a:t> è un area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cruciale</a:t>
            </a:r>
            <a:r>
              <a:rPr lang="en-US" sz="1800" kern="100" dirty="0">
                <a:effectLst/>
                <a:latin typeface="Calibri" panose="020F0502020204030204" pitchFamily="34" charset="0"/>
                <a:ea typeface="Calibri" panose="020F0502020204030204" pitchFamily="34" charset="0"/>
                <a:cs typeface="Arial" panose="020B0604020202020204" pitchFamily="34" charset="0"/>
              </a:rPr>
              <a:t> di </a:t>
            </a:r>
            <a:r>
              <a:rPr lang="en-US" sz="1800" kern="100" dirty="0" err="1">
                <a:effectLst/>
                <a:latin typeface="Calibri" panose="020F0502020204030204" pitchFamily="34" charset="0"/>
                <a:ea typeface="Calibri" panose="020F0502020204030204" pitchFamily="34" charset="0"/>
                <a:cs typeface="Arial" panose="020B0604020202020204" pitchFamily="34" charset="0"/>
              </a:rPr>
              <a:t>ricerca</a:t>
            </a:r>
            <a:r>
              <a:rPr lang="en-US" sz="1800" kern="100" dirty="0">
                <a:effectLst/>
                <a:latin typeface="Calibri" panose="020F0502020204030204" pitchFamily="34" charset="0"/>
                <a:ea typeface="Calibri" panose="020F0502020204030204" pitchFamily="34" charset="0"/>
                <a:cs typeface="Arial" panose="020B0604020202020204" pitchFamily="34" charset="0"/>
              </a:rPr>
              <a:t>.</a:t>
            </a:r>
          </a:p>
          <a:p>
            <a:endParaRPr lang="en-US" dirty="0"/>
          </a:p>
          <a:p>
            <a:r>
              <a:rPr lang="en-US" dirty="0"/>
              <a:t>I </a:t>
            </a:r>
            <a:r>
              <a:rPr lang="en-US" dirty="0" err="1"/>
              <a:t>tumori</a:t>
            </a:r>
            <a:r>
              <a:rPr lang="en-US" dirty="0"/>
              <a:t> </a:t>
            </a:r>
            <a:r>
              <a:rPr lang="en-US" dirty="0" err="1"/>
              <a:t>cerebrali</a:t>
            </a:r>
            <a:r>
              <a:rPr lang="en-US" dirty="0"/>
              <a:t> </a:t>
            </a:r>
            <a:r>
              <a:rPr lang="en-US" dirty="0" err="1"/>
              <a:t>sono</a:t>
            </a:r>
            <a:r>
              <a:rPr lang="en-US" dirty="0"/>
              <a:t> </a:t>
            </a:r>
            <a:r>
              <a:rPr lang="en-US" dirty="0" err="1"/>
              <a:t>delle</a:t>
            </a:r>
            <a:r>
              <a:rPr lang="en-US" dirty="0"/>
              <a:t> masse </a:t>
            </a:r>
            <a:r>
              <a:rPr lang="en-US" dirty="0" err="1"/>
              <a:t>anomale</a:t>
            </a:r>
            <a:r>
              <a:rPr lang="en-US" dirty="0"/>
              <a:t> di cellule </a:t>
            </a:r>
            <a:r>
              <a:rPr lang="en-US" dirty="0" err="1"/>
              <a:t>che</a:t>
            </a:r>
            <a:r>
              <a:rPr lang="en-US" dirty="0"/>
              <a:t> </a:t>
            </a:r>
            <a:r>
              <a:rPr lang="en-US" dirty="0" err="1"/>
              <a:t>crescono</a:t>
            </a:r>
            <a:r>
              <a:rPr lang="en-US" dirty="0"/>
              <a:t> </a:t>
            </a:r>
            <a:r>
              <a:rPr lang="en-US" dirty="0" err="1"/>
              <a:t>all’interno</a:t>
            </a:r>
            <a:r>
              <a:rPr lang="en-US" dirty="0"/>
              <a:t> del </a:t>
            </a:r>
            <a:r>
              <a:rPr lang="en-US" dirty="0" err="1"/>
              <a:t>cervello</a:t>
            </a:r>
            <a:r>
              <a:rPr lang="en-US" dirty="0"/>
              <a:t>, ne </a:t>
            </a:r>
            <a:r>
              <a:rPr lang="en-US" dirty="0" err="1"/>
              <a:t>esistono</a:t>
            </a:r>
            <a:r>
              <a:rPr lang="en-US" dirty="0"/>
              <a:t> </a:t>
            </a:r>
            <a:r>
              <a:rPr lang="en-US" dirty="0" err="1"/>
              <a:t>varie</a:t>
            </a:r>
            <a:r>
              <a:rPr lang="en-US" dirty="0"/>
              <a:t> </a:t>
            </a:r>
            <a:r>
              <a:rPr lang="en-US" dirty="0" err="1"/>
              <a:t>tipologie</a:t>
            </a:r>
            <a:r>
              <a:rPr lang="en-US" dirty="0"/>
              <a:t> e </a:t>
            </a:r>
            <a:r>
              <a:rPr lang="en-US" dirty="0" err="1"/>
              <a:t>si</a:t>
            </a:r>
            <a:r>
              <a:rPr lang="en-US" dirty="0"/>
              <a:t> </a:t>
            </a:r>
            <a:r>
              <a:rPr lang="en-US" dirty="0" err="1"/>
              <a:t>possono</a:t>
            </a:r>
            <a:r>
              <a:rPr lang="en-US" dirty="0"/>
              <a:t> </a:t>
            </a:r>
            <a:r>
              <a:rPr lang="en-US" dirty="0" err="1"/>
              <a:t>classificare</a:t>
            </a:r>
            <a:r>
              <a:rPr lang="en-US" dirty="0"/>
              <a:t> in </a:t>
            </a:r>
            <a:r>
              <a:rPr lang="en-US" dirty="0" err="1"/>
              <a:t>primari</a:t>
            </a:r>
            <a:r>
              <a:rPr lang="en-US" dirty="0"/>
              <a:t> e </a:t>
            </a:r>
            <a:r>
              <a:rPr lang="en-US" dirty="0" err="1"/>
              <a:t>secondari</a:t>
            </a:r>
            <a:r>
              <a:rPr lang="en-US" dirty="0"/>
              <a:t> in base al modo </a:t>
            </a:r>
            <a:r>
              <a:rPr lang="en-US" dirty="0" err="1"/>
              <a:t>nella</a:t>
            </a:r>
            <a:r>
              <a:rPr lang="en-US" dirty="0"/>
              <a:t> quale </a:t>
            </a:r>
            <a:r>
              <a:rPr lang="en-US" dirty="0" err="1"/>
              <a:t>si</a:t>
            </a:r>
            <a:r>
              <a:rPr lang="en-US" dirty="0"/>
              <a:t> </a:t>
            </a:r>
            <a:r>
              <a:rPr lang="en-US" dirty="0" err="1"/>
              <a:t>creano</a:t>
            </a:r>
            <a:r>
              <a:rPr lang="en-US" dirty="0"/>
              <a:t>. Sono </a:t>
            </a:r>
            <a:r>
              <a:rPr lang="en-US" dirty="0" err="1"/>
              <a:t>formati</a:t>
            </a:r>
            <a:r>
              <a:rPr lang="en-US" dirty="0"/>
              <a:t> da </a:t>
            </a:r>
            <a:r>
              <a:rPr lang="en-US" dirty="0" err="1"/>
              <a:t>diversi</a:t>
            </a:r>
            <a:r>
              <a:rPr lang="en-US" dirty="0"/>
              <a:t> </a:t>
            </a:r>
            <a:r>
              <a:rPr lang="en-US" dirty="0" err="1"/>
              <a:t>tessuti</a:t>
            </a:r>
            <a:r>
              <a:rPr lang="en-US" dirty="0"/>
              <a:t> </a:t>
            </a:r>
            <a:r>
              <a:rPr lang="en-US" dirty="0" err="1"/>
              <a:t>ognuno</a:t>
            </a:r>
            <a:r>
              <a:rPr lang="en-US" dirty="0"/>
              <a:t> con </a:t>
            </a:r>
            <a:r>
              <a:rPr lang="en-US" dirty="0" err="1"/>
              <a:t>caratteristiche</a:t>
            </a:r>
            <a:r>
              <a:rPr lang="en-US" dirty="0"/>
              <a:t> </a:t>
            </a:r>
            <a:r>
              <a:rPr lang="en-US" dirty="0" err="1"/>
              <a:t>proprie</a:t>
            </a:r>
            <a:r>
              <a:rPr lang="en-US" dirty="0"/>
              <a:t>.</a:t>
            </a:r>
          </a:p>
          <a:p>
            <a:endParaRPr lang="en-US" dirty="0"/>
          </a:p>
          <a:p>
            <a:r>
              <a:rPr lang="en-US" dirty="0" err="1"/>
              <a:t>L’utilizzo</a:t>
            </a:r>
            <a:r>
              <a:rPr lang="en-US" dirty="0"/>
              <a:t> </a:t>
            </a:r>
            <a:r>
              <a:rPr lang="en-US" dirty="0" err="1"/>
              <a:t>della</a:t>
            </a:r>
            <a:r>
              <a:rPr lang="en-US" dirty="0"/>
              <a:t> </a:t>
            </a:r>
            <a:r>
              <a:rPr lang="en-US" dirty="0" err="1"/>
              <a:t>risonanza</a:t>
            </a:r>
            <a:r>
              <a:rPr lang="en-US" dirty="0"/>
              <a:t> </a:t>
            </a:r>
            <a:r>
              <a:rPr lang="en-US" dirty="0" err="1"/>
              <a:t>magnetica</a:t>
            </a:r>
            <a:r>
              <a:rPr lang="en-US" dirty="0"/>
              <a:t> ci </a:t>
            </a:r>
            <a:r>
              <a:rPr lang="en-US" dirty="0" err="1"/>
              <a:t>permette</a:t>
            </a:r>
            <a:r>
              <a:rPr lang="en-US" dirty="0"/>
              <a:t> di </a:t>
            </a:r>
            <a:r>
              <a:rPr lang="en-US" dirty="0" err="1"/>
              <a:t>distinguere</a:t>
            </a:r>
            <a:r>
              <a:rPr lang="en-US" dirty="0"/>
              <a:t> in </a:t>
            </a:r>
            <a:r>
              <a:rPr lang="en-US" dirty="0" err="1"/>
              <a:t>maniera</a:t>
            </a:r>
            <a:r>
              <a:rPr lang="en-US" dirty="0"/>
              <a:t> </a:t>
            </a:r>
            <a:r>
              <a:rPr lang="en-US" dirty="0" err="1"/>
              <a:t>accurata</a:t>
            </a:r>
            <a:r>
              <a:rPr lang="en-US" dirty="0"/>
              <a:t> </a:t>
            </a:r>
            <a:r>
              <a:rPr lang="en-US" dirty="0" err="1"/>
              <a:t>questi</a:t>
            </a:r>
            <a:r>
              <a:rPr lang="en-US" dirty="0"/>
              <a:t> </a:t>
            </a:r>
            <a:r>
              <a:rPr lang="en-US" dirty="0" err="1"/>
              <a:t>tessuti</a:t>
            </a:r>
            <a:r>
              <a:rPr lang="en-US" dirty="0"/>
              <a:t>.</a:t>
            </a:r>
          </a:p>
        </p:txBody>
      </p:sp>
      <p:sp>
        <p:nvSpPr>
          <p:cNvPr id="4" name="Slide Number Placeholder 3">
            <a:extLst>
              <a:ext uri="{FF2B5EF4-FFF2-40B4-BE49-F238E27FC236}">
                <a16:creationId xmlns:a16="http://schemas.microsoft.com/office/drawing/2014/main" id="{BFE55A56-C7FE-0A0E-5407-FD34AD37EEE9}"/>
              </a:ext>
            </a:extLst>
          </p:cNvPr>
          <p:cNvSpPr>
            <a:spLocks noGrp="1"/>
          </p:cNvSpPr>
          <p:nvPr>
            <p:ph type="sldNum" sz="quarter" idx="5"/>
          </p:nvPr>
        </p:nvSpPr>
        <p:spPr/>
        <p:txBody>
          <a:bodyPr/>
          <a:lstStyle/>
          <a:p>
            <a:fld id="{81FCA171-2CCA-4F87-810B-58CEB317CFF1}" type="slidenum">
              <a:rPr lang="en-US" smtClean="0"/>
              <a:t>9</a:t>
            </a:fld>
            <a:endParaRPr lang="en-US"/>
          </a:p>
        </p:txBody>
      </p:sp>
    </p:spTree>
    <p:extLst>
      <p:ext uri="{BB962C8B-B14F-4D97-AF65-F5344CB8AC3E}">
        <p14:creationId xmlns:p14="http://schemas.microsoft.com/office/powerpoint/2010/main" val="5849173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1FCA171-2CCA-4F87-810B-58CEB317CFF1}" type="slidenum">
              <a:rPr lang="en-US" smtClean="0"/>
              <a:t>10</a:t>
            </a:fld>
            <a:endParaRPr lang="en-US"/>
          </a:p>
        </p:txBody>
      </p:sp>
    </p:spTree>
    <p:extLst>
      <p:ext uri="{BB962C8B-B14F-4D97-AF65-F5344CB8AC3E}">
        <p14:creationId xmlns:p14="http://schemas.microsoft.com/office/powerpoint/2010/main" val="576767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C8D4D-32C8-C619-ACAC-1C11F2FECF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44D2CD6-F7CC-5A03-46BA-65EE3FAD80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3A2520C-AB31-32D0-28F5-FA0672054FBB}"/>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3EABC6C1-7281-F2DF-88AD-DBF632488A8B}"/>
              </a:ext>
            </a:extLst>
          </p:cNvPr>
          <p:cNvSpPr>
            <a:spLocks noGrp="1"/>
          </p:cNvSpPr>
          <p:nvPr>
            <p:ph type="ftr" sz="quarter" idx="11"/>
          </p:nvPr>
        </p:nvSpPr>
        <p:spPr/>
        <p:txBody>
          <a:bodyPr/>
          <a:lstStyle/>
          <a:p>
            <a:pPr algn="r"/>
            <a:r>
              <a:rPr lang="en-US" dirty="0"/>
              <a:t>Martina Doku - Advancements in EEG Denoising and Artifact Removal using Transformers</a:t>
            </a:r>
          </a:p>
        </p:txBody>
      </p:sp>
      <p:sp>
        <p:nvSpPr>
          <p:cNvPr id="6" name="Slide Number Placeholder 5">
            <a:extLst>
              <a:ext uri="{FF2B5EF4-FFF2-40B4-BE49-F238E27FC236}">
                <a16:creationId xmlns:a16="http://schemas.microsoft.com/office/drawing/2014/main" id="{C56471E1-974B-9B57-80FB-B65AE6AB939C}"/>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2277693570"/>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224FB-E121-1804-A68B-7609327559E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E01F007-E1C1-E59F-F3FB-DC706FAA7897}"/>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279F06D6-E013-C05E-9C7B-C8C957F0B522}"/>
              </a:ext>
            </a:extLst>
          </p:cNvPr>
          <p:cNvSpPr>
            <a:spLocks noGrp="1"/>
          </p:cNvSpPr>
          <p:nvPr>
            <p:ph type="ftr" sz="quarter" idx="11"/>
          </p:nvPr>
        </p:nvSpPr>
        <p:spPr>
          <a:xfrm>
            <a:off x="838200" y="6311900"/>
            <a:ext cx="11353800" cy="546100"/>
          </a:xfrm>
          <a:solidFill>
            <a:schemeClr val="tx2"/>
          </a:solidFill>
        </p:spPr>
        <p:txBody>
          <a:bodyPr/>
          <a:lstStyle>
            <a:lvl1pPr algn="r">
              <a:defRPr/>
            </a:lvl1pPr>
          </a:lstStyle>
          <a:p>
            <a:r>
              <a:rPr lang="en-US" dirty="0"/>
              <a:t>Martina Doku - Advancements in EEG Denoising and Artifact Removal using Transformers</a:t>
            </a:r>
          </a:p>
        </p:txBody>
      </p:sp>
      <p:sp>
        <p:nvSpPr>
          <p:cNvPr id="6" name="Slide Number Placeholder 5">
            <a:extLst>
              <a:ext uri="{FF2B5EF4-FFF2-40B4-BE49-F238E27FC236}">
                <a16:creationId xmlns:a16="http://schemas.microsoft.com/office/drawing/2014/main" id="{3B8010D8-6002-A8F4-4D5E-E95C1D9C149D}"/>
              </a:ext>
            </a:extLst>
          </p:cNvPr>
          <p:cNvSpPr>
            <a:spLocks noGrp="1"/>
          </p:cNvSpPr>
          <p:nvPr>
            <p:ph type="sldNum" sz="quarter" idx="12"/>
          </p:nvPr>
        </p:nvSpPr>
        <p:spPr>
          <a:xfrm>
            <a:off x="0" y="6311901"/>
            <a:ext cx="838200" cy="546099"/>
          </a:xfrm>
          <a:solidFill>
            <a:schemeClr val="tx2"/>
          </a:solidFill>
        </p:spPr>
        <p:txBody>
          <a:bodyPr/>
          <a:lstStyle>
            <a:lvl1pPr algn="ctr">
              <a:defRPr>
                <a:solidFill>
                  <a:schemeClr val="bg1"/>
                </a:solidFill>
              </a:defRPr>
            </a:lvl1pPr>
          </a:lstStyle>
          <a:p>
            <a:fld id="{064EB808-9DE5-4B01-8298-DD0372440E09}" type="slidenum">
              <a:rPr lang="en-US" smtClean="0"/>
              <a:pPr/>
              <a:t>‹N›</a:t>
            </a:fld>
            <a:endParaRPr lang="en-US" dirty="0"/>
          </a:p>
        </p:txBody>
      </p:sp>
    </p:spTree>
    <p:extLst>
      <p:ext uri="{BB962C8B-B14F-4D97-AF65-F5344CB8AC3E}">
        <p14:creationId xmlns:p14="http://schemas.microsoft.com/office/powerpoint/2010/main" val="639955282"/>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91D7C-77AE-E08F-A431-309BDA94FC6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BC3B671-3464-4301-C2F7-FCFA238D5E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C30B6E5-B8CE-4D71-F8E3-ACC98E65201F}"/>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D1ABE147-B685-AEE8-8F87-72C5A12DF950}"/>
              </a:ext>
            </a:extLst>
          </p:cNvPr>
          <p:cNvSpPr>
            <a:spLocks noGrp="1"/>
          </p:cNvSpPr>
          <p:nvPr>
            <p:ph type="ftr" sz="quarter" idx="11"/>
          </p:nvPr>
        </p:nvSpPr>
        <p:spPr/>
        <p:txBody>
          <a:bodyPr/>
          <a:lstStyle/>
          <a:p>
            <a:pPr algn="r"/>
            <a:r>
              <a:rPr lang="en-US"/>
              <a:t>Martina Doku - Advancements in EEG Denoising and Artifact Removal using Transformers</a:t>
            </a:r>
            <a:endParaRPr lang="en-US" dirty="0"/>
          </a:p>
        </p:txBody>
      </p:sp>
      <p:sp>
        <p:nvSpPr>
          <p:cNvPr id="6" name="Slide Number Placeholder 5">
            <a:extLst>
              <a:ext uri="{FF2B5EF4-FFF2-40B4-BE49-F238E27FC236}">
                <a16:creationId xmlns:a16="http://schemas.microsoft.com/office/drawing/2014/main" id="{191DEF5C-05F4-0FC6-CA1C-A108C086CCC4}"/>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3386600572"/>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038E78-03D5-BB16-215F-C437D266F0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9C775D-B685-CAF0-3C27-52D3570184E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D69DF9-898E-6EBB-37F8-93F5B5191B1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2D5B7A5-002A-E426-57CA-177151D585DD}"/>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8DAB1ED3-AA76-3DE3-2E9A-24177434964A}"/>
              </a:ext>
            </a:extLst>
          </p:cNvPr>
          <p:cNvSpPr>
            <a:spLocks noGrp="1"/>
          </p:cNvSpPr>
          <p:nvPr>
            <p:ph type="ftr" sz="quarter" idx="11"/>
          </p:nvPr>
        </p:nvSpPr>
        <p:spPr/>
        <p:txBody>
          <a:bodyPr/>
          <a:lstStyle>
            <a:lvl1pPr algn="r">
              <a:defRPr/>
            </a:lvl1pPr>
          </a:lstStyle>
          <a:p>
            <a:r>
              <a:rPr lang="en-US"/>
              <a:t>Martina Doku - Advancements in EEG Denoising and Artifact Removal using Transformers</a:t>
            </a:r>
          </a:p>
        </p:txBody>
      </p:sp>
      <p:sp>
        <p:nvSpPr>
          <p:cNvPr id="7" name="Slide Number Placeholder 6">
            <a:extLst>
              <a:ext uri="{FF2B5EF4-FFF2-40B4-BE49-F238E27FC236}">
                <a16:creationId xmlns:a16="http://schemas.microsoft.com/office/drawing/2014/main" id="{9136E4BA-174F-4F7C-4D01-AE0DEDAF9D21}"/>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723634328"/>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D14F8-AC16-062A-02BC-9C53B12839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937D4D8-1840-933A-7EC6-959092D7503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E749A01-7143-7746-D1D3-8830F16420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5A4FDF2-D8DF-7BC8-5F5B-4A71386D43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B3DAD9-A7B4-22ED-B581-4E9C66594F9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2BAA1B-405D-BB4B-3A14-816F7B100233}"/>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7B810233-128D-943B-6A82-6986DD39B726}"/>
              </a:ext>
            </a:extLst>
          </p:cNvPr>
          <p:cNvSpPr>
            <a:spLocks noGrp="1"/>
          </p:cNvSpPr>
          <p:nvPr>
            <p:ph type="ftr" sz="quarter" idx="11"/>
          </p:nvPr>
        </p:nvSpPr>
        <p:spPr/>
        <p:txBody>
          <a:bodyPr/>
          <a:lstStyle/>
          <a:p>
            <a:pPr algn="r"/>
            <a:r>
              <a:rPr lang="en-US"/>
              <a:t>Martina Doku - Advancements in EEG Denoising and Artifact Removal using Transformers</a:t>
            </a:r>
            <a:endParaRPr lang="en-US" dirty="0"/>
          </a:p>
        </p:txBody>
      </p:sp>
      <p:sp>
        <p:nvSpPr>
          <p:cNvPr id="9" name="Slide Number Placeholder 8">
            <a:extLst>
              <a:ext uri="{FF2B5EF4-FFF2-40B4-BE49-F238E27FC236}">
                <a16:creationId xmlns:a16="http://schemas.microsoft.com/office/drawing/2014/main" id="{5C117291-A7AD-EED3-F282-EEC91B061364}"/>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4068483710"/>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040BA-1863-2FFA-E73F-64FD37150CE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1976D8F-0BF3-46FF-D83C-4CEF76C911EB}"/>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CF162A52-56A8-5A9A-503C-018A13951DEF}"/>
              </a:ext>
            </a:extLst>
          </p:cNvPr>
          <p:cNvSpPr>
            <a:spLocks noGrp="1"/>
          </p:cNvSpPr>
          <p:nvPr>
            <p:ph type="ftr" sz="quarter" idx="11"/>
          </p:nvPr>
        </p:nvSpPr>
        <p:spPr/>
        <p:txBody>
          <a:bodyPr/>
          <a:lstStyle/>
          <a:p>
            <a:pPr algn="r"/>
            <a:r>
              <a:rPr lang="en-US"/>
              <a:t>Martina Doku - Advancements in EEG Denoising and Artifact Removal using Transformers</a:t>
            </a:r>
            <a:endParaRPr lang="en-US" dirty="0"/>
          </a:p>
        </p:txBody>
      </p:sp>
      <p:sp>
        <p:nvSpPr>
          <p:cNvPr id="5" name="Slide Number Placeholder 4">
            <a:extLst>
              <a:ext uri="{FF2B5EF4-FFF2-40B4-BE49-F238E27FC236}">
                <a16:creationId xmlns:a16="http://schemas.microsoft.com/office/drawing/2014/main" id="{DCF2FDF4-75D9-642D-E08A-2BF689977B09}"/>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2363577825"/>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D76A80A-9268-9641-6A4D-E8B548B2E5EE}"/>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F7378F6C-5654-05AB-6DE1-551391275FA8}"/>
              </a:ext>
            </a:extLst>
          </p:cNvPr>
          <p:cNvSpPr>
            <a:spLocks noGrp="1"/>
          </p:cNvSpPr>
          <p:nvPr>
            <p:ph type="ftr" sz="quarter" idx="11"/>
          </p:nvPr>
        </p:nvSpPr>
        <p:spPr/>
        <p:txBody>
          <a:bodyPr/>
          <a:lstStyle/>
          <a:p>
            <a:pPr algn="r"/>
            <a:r>
              <a:rPr lang="en-US" dirty="0"/>
              <a:t>Martina Doku - Advancements in EEG Denoising and Artifact Removal using Transformers</a:t>
            </a:r>
          </a:p>
        </p:txBody>
      </p:sp>
      <p:sp>
        <p:nvSpPr>
          <p:cNvPr id="4" name="Slide Number Placeholder 3">
            <a:extLst>
              <a:ext uri="{FF2B5EF4-FFF2-40B4-BE49-F238E27FC236}">
                <a16:creationId xmlns:a16="http://schemas.microsoft.com/office/drawing/2014/main" id="{AA18B9C3-D6AD-1AAA-D0B9-0EB8E75E4655}"/>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741888034"/>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4E792-F9EF-5D98-723B-03C30B9370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58FC964-0B83-DFDE-0824-26DEB5917AC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05A971F-743D-CC0E-C4C3-3001F71F2A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1363ED-1EB2-987E-7B7F-C0A62AC5E6F4}"/>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17AA18A9-5BE0-B91D-E9E2-DB9ADF522468}"/>
              </a:ext>
            </a:extLst>
          </p:cNvPr>
          <p:cNvSpPr>
            <a:spLocks noGrp="1"/>
          </p:cNvSpPr>
          <p:nvPr>
            <p:ph type="ftr" sz="quarter" idx="11"/>
          </p:nvPr>
        </p:nvSpPr>
        <p:spPr/>
        <p:txBody>
          <a:bodyPr/>
          <a:lstStyle/>
          <a:p>
            <a:pPr algn="r"/>
            <a:r>
              <a:rPr lang="en-US" dirty="0"/>
              <a:t>Martina Doku - Advancements in EEG Denoising and Artifact Removal using Transformers</a:t>
            </a:r>
          </a:p>
        </p:txBody>
      </p:sp>
      <p:sp>
        <p:nvSpPr>
          <p:cNvPr id="7" name="Slide Number Placeholder 6">
            <a:extLst>
              <a:ext uri="{FF2B5EF4-FFF2-40B4-BE49-F238E27FC236}">
                <a16:creationId xmlns:a16="http://schemas.microsoft.com/office/drawing/2014/main" id="{41BF40B2-123B-AD71-6955-812C16770564}"/>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1693571726"/>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90BC5-6005-F4CC-4CBB-A17C543082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9C2B4-4DC9-BA27-6321-EE3D9FBECD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9025B6-CAFA-E9D2-4461-53F577E0B9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936CAD-9A79-72B8-15D4-7732B214A5DE}"/>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B1F6F5E-559F-FB58-E3C4-6E69E7E433A0}"/>
              </a:ext>
            </a:extLst>
          </p:cNvPr>
          <p:cNvSpPr>
            <a:spLocks noGrp="1"/>
          </p:cNvSpPr>
          <p:nvPr>
            <p:ph type="ftr" sz="quarter" idx="11"/>
          </p:nvPr>
        </p:nvSpPr>
        <p:spPr/>
        <p:txBody>
          <a:bodyPr/>
          <a:lstStyle/>
          <a:p>
            <a:r>
              <a:rPr lang="en-US"/>
              <a:t>Martina Doku - Advancements in EEG Denoising and Artifact Removal using Transformers</a:t>
            </a:r>
          </a:p>
        </p:txBody>
      </p:sp>
      <p:sp>
        <p:nvSpPr>
          <p:cNvPr id="7" name="Slide Number Placeholder 6">
            <a:extLst>
              <a:ext uri="{FF2B5EF4-FFF2-40B4-BE49-F238E27FC236}">
                <a16:creationId xmlns:a16="http://schemas.microsoft.com/office/drawing/2014/main" id="{4763CE32-2BFD-374D-7A90-D369D4D91799}"/>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1492499118"/>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D8624-EEEF-20FE-9B0E-F7A543AD392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8281B93-8DF0-665E-4483-277B0C7E0EA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CC5162-8676-C808-9A49-C99206E8C7DA}"/>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47427840-CFD7-4D00-43AD-C18576D13674}"/>
              </a:ext>
            </a:extLst>
          </p:cNvPr>
          <p:cNvSpPr>
            <a:spLocks noGrp="1"/>
          </p:cNvSpPr>
          <p:nvPr>
            <p:ph type="ftr" sz="quarter" idx="11"/>
          </p:nvPr>
        </p:nvSpPr>
        <p:spPr/>
        <p:txBody>
          <a:bodyPr/>
          <a:lstStyle/>
          <a:p>
            <a:pPr algn="r"/>
            <a:r>
              <a:rPr lang="en-US"/>
              <a:t>Martina Doku - Advancements in EEG Denoising and Artifact Removal using Transformers</a:t>
            </a:r>
            <a:endParaRPr lang="en-US" dirty="0"/>
          </a:p>
        </p:txBody>
      </p:sp>
      <p:sp>
        <p:nvSpPr>
          <p:cNvPr id="6" name="Slide Number Placeholder 5">
            <a:extLst>
              <a:ext uri="{FF2B5EF4-FFF2-40B4-BE49-F238E27FC236}">
                <a16:creationId xmlns:a16="http://schemas.microsoft.com/office/drawing/2014/main" id="{BAFBB7ED-D096-47E1-7C0F-B69D0E216B67}"/>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3305236077"/>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1F6703-86D6-70CF-EC9D-7D337267140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184A2C2-8214-EA24-CFBA-48FC24617DE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94A020-9B17-F443-8316-35E69CFA0360}"/>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99B075B0-6902-FA83-F852-34CD64D371A9}"/>
              </a:ext>
            </a:extLst>
          </p:cNvPr>
          <p:cNvSpPr>
            <a:spLocks noGrp="1"/>
          </p:cNvSpPr>
          <p:nvPr>
            <p:ph type="ftr" sz="quarter" idx="11"/>
          </p:nvPr>
        </p:nvSpPr>
        <p:spPr/>
        <p:txBody>
          <a:bodyPr/>
          <a:lstStyle/>
          <a:p>
            <a:r>
              <a:rPr lang="en-US"/>
              <a:t>Martina Doku - Advancements in EEG Denoising and Artifact Removal using Transformers</a:t>
            </a:r>
          </a:p>
        </p:txBody>
      </p:sp>
      <p:sp>
        <p:nvSpPr>
          <p:cNvPr id="6" name="Slide Number Placeholder 5">
            <a:extLst>
              <a:ext uri="{FF2B5EF4-FFF2-40B4-BE49-F238E27FC236}">
                <a16:creationId xmlns:a16="http://schemas.microsoft.com/office/drawing/2014/main" id="{1D30F0E2-7D14-E612-20FD-A2B04155EDEE}"/>
              </a:ext>
            </a:extLst>
          </p:cNvPr>
          <p:cNvSpPr>
            <a:spLocks noGrp="1"/>
          </p:cNvSpPr>
          <p:nvPr>
            <p:ph type="sldNum" sz="quarter" idx="12"/>
          </p:nvPr>
        </p:nvSpPr>
        <p:spPr/>
        <p:txBody>
          <a:bodyPr/>
          <a:lstStyle/>
          <a:p>
            <a:fld id="{064EB808-9DE5-4B01-8298-DD0372440E09}" type="slidenum">
              <a:rPr lang="en-US" smtClean="0"/>
              <a:t>‹N›</a:t>
            </a:fld>
            <a:endParaRPr lang="en-US"/>
          </a:p>
        </p:txBody>
      </p:sp>
    </p:spTree>
    <p:extLst>
      <p:ext uri="{BB962C8B-B14F-4D97-AF65-F5344CB8AC3E}">
        <p14:creationId xmlns:p14="http://schemas.microsoft.com/office/powerpoint/2010/main" val="2414830519"/>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80A2A69-4679-D2A5-C398-48C84D0C82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6A7114-EA36-8529-ED0A-BD6E3335AC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237DDCF-C16C-FCCC-8AC2-1AF909F4EFFA}"/>
              </a:ext>
            </a:extLst>
          </p:cNvPr>
          <p:cNvSpPr>
            <a:spLocks noGrp="1"/>
          </p:cNvSpPr>
          <p:nvPr>
            <p:ph type="dt" sz="half" idx="2"/>
          </p:nvPr>
        </p:nvSpPr>
        <p:spPr>
          <a:xfrm>
            <a:off x="9898117" y="6402387"/>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2DB26200-65B6-EF43-2BB6-D11A147A9B54}"/>
              </a:ext>
            </a:extLst>
          </p:cNvPr>
          <p:cNvSpPr>
            <a:spLocks noGrp="1"/>
          </p:cNvSpPr>
          <p:nvPr>
            <p:ph type="ftr" sz="quarter" idx="3"/>
          </p:nvPr>
        </p:nvSpPr>
        <p:spPr>
          <a:xfrm>
            <a:off x="-1" y="6316318"/>
            <a:ext cx="12192000" cy="546100"/>
          </a:xfrm>
          <a:prstGeom prst="rect">
            <a:avLst/>
          </a:prstGeom>
          <a:solidFill>
            <a:schemeClr val="tx2"/>
          </a:solidFill>
        </p:spPr>
        <p:txBody>
          <a:bodyPr vert="horz" lIns="91440" tIns="45720" rIns="91440" bIns="45720" rtlCol="0" anchor="ctr"/>
          <a:lstStyle>
            <a:lvl1pPr algn="l">
              <a:defRPr sz="1200">
                <a:solidFill>
                  <a:schemeClr val="bg1"/>
                </a:solidFill>
              </a:defRPr>
            </a:lvl1pPr>
          </a:lstStyle>
          <a:p>
            <a:pPr algn="r"/>
            <a:r>
              <a:rPr lang="en-US" dirty="0"/>
              <a:t>Martina Doku - Advancements in EEG Denoising and Artifact Removal using Transformers</a:t>
            </a:r>
          </a:p>
        </p:txBody>
      </p:sp>
      <p:sp>
        <p:nvSpPr>
          <p:cNvPr id="6" name="Slide Number Placeholder 5">
            <a:extLst>
              <a:ext uri="{FF2B5EF4-FFF2-40B4-BE49-F238E27FC236}">
                <a16:creationId xmlns:a16="http://schemas.microsoft.com/office/drawing/2014/main" id="{91A96455-1244-8EB7-F622-CE8CF0C796FE}"/>
              </a:ext>
            </a:extLst>
          </p:cNvPr>
          <p:cNvSpPr>
            <a:spLocks noGrp="1"/>
          </p:cNvSpPr>
          <p:nvPr>
            <p:ph type="sldNum" sz="quarter" idx="4"/>
          </p:nvPr>
        </p:nvSpPr>
        <p:spPr>
          <a:xfrm>
            <a:off x="-1" y="6311900"/>
            <a:ext cx="756745" cy="546100"/>
          </a:xfrm>
          <a:prstGeom prst="rect">
            <a:avLst/>
          </a:prstGeom>
        </p:spPr>
        <p:txBody>
          <a:bodyPr vert="horz" lIns="91440" tIns="45720" rIns="91440" bIns="45720" rtlCol="0" anchor="ctr"/>
          <a:lstStyle>
            <a:lvl1pPr algn="r">
              <a:defRPr sz="1200">
                <a:solidFill>
                  <a:schemeClr val="bg1"/>
                </a:solidFill>
              </a:defRPr>
            </a:lvl1pPr>
          </a:lstStyle>
          <a:p>
            <a:pPr algn="ctr"/>
            <a:fld id="{064EB808-9DE5-4B01-8298-DD0372440E09}" type="slidenum">
              <a:rPr lang="en-US" smtClean="0"/>
              <a:pPr algn="ctr"/>
              <a:t>‹N›</a:t>
            </a:fld>
            <a:endParaRPr lang="en-US" dirty="0"/>
          </a:p>
        </p:txBody>
      </p:sp>
    </p:spTree>
    <p:extLst>
      <p:ext uri="{BB962C8B-B14F-4D97-AF65-F5344CB8AC3E}">
        <p14:creationId xmlns:p14="http://schemas.microsoft.com/office/powerpoint/2010/main" val="531837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rapezoid 4">
            <a:extLst>
              <a:ext uri="{FF2B5EF4-FFF2-40B4-BE49-F238E27FC236}">
                <a16:creationId xmlns:a16="http://schemas.microsoft.com/office/drawing/2014/main" id="{5D61347F-E20F-EF09-9374-B50B76CF364B}"/>
              </a:ext>
            </a:extLst>
          </p:cNvPr>
          <p:cNvSpPr/>
          <p:nvPr/>
        </p:nvSpPr>
        <p:spPr>
          <a:xfrm>
            <a:off x="6496739" y="0"/>
            <a:ext cx="5847521" cy="6858127"/>
          </a:xfrm>
          <a:custGeom>
            <a:avLst/>
            <a:gdLst>
              <a:gd name="connsiteX0" fmla="*/ 0 w 8070573"/>
              <a:gd name="connsiteY0" fmla="*/ 6927575 h 6927575"/>
              <a:gd name="connsiteX1" fmla="*/ 2338195 w 8070573"/>
              <a:gd name="connsiteY1" fmla="*/ 0 h 6927575"/>
              <a:gd name="connsiteX2" fmla="*/ 5732378 w 8070573"/>
              <a:gd name="connsiteY2" fmla="*/ 0 h 6927575"/>
              <a:gd name="connsiteX3" fmla="*/ 8070573 w 8070573"/>
              <a:gd name="connsiteY3" fmla="*/ 6927575 h 6927575"/>
              <a:gd name="connsiteX4" fmla="*/ 0 w 8070573"/>
              <a:gd name="connsiteY4" fmla="*/ 6927575 h 6927575"/>
              <a:gd name="connsiteX0" fmla="*/ 0 w 8070573"/>
              <a:gd name="connsiteY0" fmla="*/ 6957392 h 6957392"/>
              <a:gd name="connsiteX1" fmla="*/ 2338195 w 8070573"/>
              <a:gd name="connsiteY1" fmla="*/ 29817 h 6957392"/>
              <a:gd name="connsiteX2" fmla="*/ 5424265 w 8070573"/>
              <a:gd name="connsiteY2" fmla="*/ 0 h 6957392"/>
              <a:gd name="connsiteX3" fmla="*/ 8070573 w 8070573"/>
              <a:gd name="connsiteY3" fmla="*/ 6957392 h 6957392"/>
              <a:gd name="connsiteX4" fmla="*/ 0 w 8070573"/>
              <a:gd name="connsiteY4" fmla="*/ 6957392 h 6957392"/>
              <a:gd name="connsiteX0" fmla="*/ 0 w 8070573"/>
              <a:gd name="connsiteY0" fmla="*/ 6927575 h 6927575"/>
              <a:gd name="connsiteX1" fmla="*/ 2338195 w 8070573"/>
              <a:gd name="connsiteY1" fmla="*/ 0 h 6927575"/>
              <a:gd name="connsiteX2" fmla="*/ 5603170 w 8070573"/>
              <a:gd name="connsiteY2" fmla="*/ 69575 h 6927575"/>
              <a:gd name="connsiteX3" fmla="*/ 8070573 w 8070573"/>
              <a:gd name="connsiteY3" fmla="*/ 6927575 h 6927575"/>
              <a:gd name="connsiteX4" fmla="*/ 0 w 8070573"/>
              <a:gd name="connsiteY4" fmla="*/ 6927575 h 6927575"/>
              <a:gd name="connsiteX0" fmla="*/ 0 w 8070573"/>
              <a:gd name="connsiteY0" fmla="*/ 6887819 h 6887819"/>
              <a:gd name="connsiteX1" fmla="*/ 2348134 w 8070573"/>
              <a:gd name="connsiteY1" fmla="*/ 0 h 6887819"/>
              <a:gd name="connsiteX2" fmla="*/ 5603170 w 8070573"/>
              <a:gd name="connsiteY2" fmla="*/ 29819 h 6887819"/>
              <a:gd name="connsiteX3" fmla="*/ 8070573 w 8070573"/>
              <a:gd name="connsiteY3" fmla="*/ 6887819 h 6887819"/>
              <a:gd name="connsiteX4" fmla="*/ 0 w 8070573"/>
              <a:gd name="connsiteY4" fmla="*/ 6887819 h 6887819"/>
              <a:gd name="connsiteX0" fmla="*/ 0 w 5754756"/>
              <a:gd name="connsiteY0" fmla="*/ 6887819 h 6887819"/>
              <a:gd name="connsiteX1" fmla="*/ 2348134 w 5754756"/>
              <a:gd name="connsiteY1" fmla="*/ 0 h 6887819"/>
              <a:gd name="connsiteX2" fmla="*/ 5603170 w 5754756"/>
              <a:gd name="connsiteY2" fmla="*/ 29819 h 6887819"/>
              <a:gd name="connsiteX3" fmla="*/ 5754756 w 5754756"/>
              <a:gd name="connsiteY3" fmla="*/ 6887819 h 6887819"/>
              <a:gd name="connsiteX4" fmla="*/ 0 w 5754756"/>
              <a:gd name="connsiteY4" fmla="*/ 6887819 h 6887819"/>
              <a:gd name="connsiteX0" fmla="*/ 0 w 5754756"/>
              <a:gd name="connsiteY0" fmla="*/ 6887819 h 6887819"/>
              <a:gd name="connsiteX1" fmla="*/ 2348134 w 5754756"/>
              <a:gd name="connsiteY1" fmla="*/ 0 h 6887819"/>
              <a:gd name="connsiteX2" fmla="*/ 5613109 w 5754756"/>
              <a:gd name="connsiteY2" fmla="*/ 39758 h 6887819"/>
              <a:gd name="connsiteX3" fmla="*/ 5754756 w 5754756"/>
              <a:gd name="connsiteY3" fmla="*/ 6887819 h 6887819"/>
              <a:gd name="connsiteX4" fmla="*/ 0 w 5754756"/>
              <a:gd name="connsiteY4" fmla="*/ 6887819 h 6887819"/>
              <a:gd name="connsiteX0" fmla="*/ 0 w 5754756"/>
              <a:gd name="connsiteY0" fmla="*/ 6887819 h 6887819"/>
              <a:gd name="connsiteX1" fmla="*/ 2348134 w 5754756"/>
              <a:gd name="connsiteY1" fmla="*/ 0 h 6887819"/>
              <a:gd name="connsiteX2" fmla="*/ 5632987 w 5754756"/>
              <a:gd name="connsiteY2" fmla="*/ 39758 h 6887819"/>
              <a:gd name="connsiteX3" fmla="*/ 5754756 w 5754756"/>
              <a:gd name="connsiteY3" fmla="*/ 6887819 h 6887819"/>
              <a:gd name="connsiteX4" fmla="*/ 0 w 5754756"/>
              <a:gd name="connsiteY4" fmla="*/ 6887819 h 6887819"/>
              <a:gd name="connsiteX0" fmla="*/ 0 w 5754756"/>
              <a:gd name="connsiteY0" fmla="*/ 6887819 h 6887819"/>
              <a:gd name="connsiteX1" fmla="*/ 2348134 w 5754756"/>
              <a:gd name="connsiteY1" fmla="*/ 0 h 6887819"/>
              <a:gd name="connsiteX2" fmla="*/ 5672743 w 5754756"/>
              <a:gd name="connsiteY2" fmla="*/ 29819 h 6887819"/>
              <a:gd name="connsiteX3" fmla="*/ 5754756 w 5754756"/>
              <a:gd name="connsiteY3" fmla="*/ 6887819 h 6887819"/>
              <a:gd name="connsiteX4" fmla="*/ 0 w 5754756"/>
              <a:gd name="connsiteY4" fmla="*/ 6887819 h 6887819"/>
              <a:gd name="connsiteX0" fmla="*/ 0 w 5754756"/>
              <a:gd name="connsiteY0" fmla="*/ 6887947 h 6887947"/>
              <a:gd name="connsiteX1" fmla="*/ 2348134 w 5754756"/>
              <a:gd name="connsiteY1" fmla="*/ 128 h 6887947"/>
              <a:gd name="connsiteX2" fmla="*/ 5653179 w 5754756"/>
              <a:gd name="connsiteY2" fmla="*/ 0 h 6887947"/>
              <a:gd name="connsiteX3" fmla="*/ 5754756 w 5754756"/>
              <a:gd name="connsiteY3" fmla="*/ 6887947 h 6887947"/>
              <a:gd name="connsiteX4" fmla="*/ 0 w 5754756"/>
              <a:gd name="connsiteY4" fmla="*/ 6887947 h 68879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54756" h="6887947">
                <a:moveTo>
                  <a:pt x="0" y="6887947"/>
                </a:moveTo>
                <a:lnTo>
                  <a:pt x="2348134" y="128"/>
                </a:lnTo>
                <a:lnTo>
                  <a:pt x="5653179" y="0"/>
                </a:lnTo>
                <a:lnTo>
                  <a:pt x="5754756" y="6887947"/>
                </a:lnTo>
                <a:lnTo>
                  <a:pt x="0" y="6887947"/>
                </a:lnTo>
                <a:close/>
              </a:path>
            </a:pathLst>
          </a:custGeom>
          <a:solidFill>
            <a:schemeClr val="tx2"/>
          </a:solidFill>
          <a:ln>
            <a:solidFill>
              <a:schemeClr val="tx2"/>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B8A86E1-BE62-D938-D35E-99376D84CB22}"/>
              </a:ext>
            </a:extLst>
          </p:cNvPr>
          <p:cNvSpPr>
            <a:spLocks noGrp="1"/>
          </p:cNvSpPr>
          <p:nvPr>
            <p:ph type="ctrTitle"/>
          </p:nvPr>
        </p:nvSpPr>
        <p:spPr>
          <a:xfrm>
            <a:off x="457201" y="1415568"/>
            <a:ext cx="7500795" cy="1084124"/>
          </a:xfrm>
        </p:spPr>
        <p:txBody>
          <a:bodyPr anchor="t">
            <a:normAutofit fontScale="90000"/>
          </a:bodyPr>
          <a:lstStyle/>
          <a:p>
            <a:pPr algn="l"/>
            <a:r>
              <a:rPr lang="en-US" sz="3000" b="1" dirty="0">
                <a:solidFill>
                  <a:schemeClr val="tx2"/>
                </a:solidFill>
                <a:latin typeface="Arial" panose="020B0604020202020204" pitchFamily="34" charset="0"/>
                <a:cs typeface="Arial" panose="020B0604020202020204" pitchFamily="34" charset="0"/>
              </a:rPr>
              <a:t>Efficient Attention Impact on</a:t>
            </a:r>
            <a:br>
              <a:rPr lang="en-US" sz="3000" b="1" dirty="0">
                <a:solidFill>
                  <a:schemeClr val="tx2"/>
                </a:solidFill>
                <a:latin typeface="Arial" panose="020B0604020202020204" pitchFamily="34" charset="0"/>
                <a:cs typeface="Arial" panose="020B0604020202020204" pitchFamily="34" charset="0"/>
              </a:rPr>
            </a:br>
            <a:r>
              <a:rPr lang="en-US" sz="3000" b="1" dirty="0">
                <a:solidFill>
                  <a:schemeClr val="tx2"/>
                </a:solidFill>
                <a:latin typeface="Arial" panose="020B0604020202020204" pitchFamily="34" charset="0"/>
                <a:cs typeface="Arial" panose="020B0604020202020204" pitchFamily="34" charset="0"/>
              </a:rPr>
              <a:t>Transformer Backbones for Perceptual</a:t>
            </a:r>
            <a:br>
              <a:rPr lang="en-US" sz="3000" b="1" dirty="0">
                <a:solidFill>
                  <a:schemeClr val="tx2"/>
                </a:solidFill>
                <a:latin typeface="Arial" panose="020B0604020202020204" pitchFamily="34" charset="0"/>
                <a:cs typeface="Arial" panose="020B0604020202020204" pitchFamily="34" charset="0"/>
              </a:rPr>
            </a:br>
            <a:r>
              <a:rPr lang="en-US" sz="3000" b="1" dirty="0">
                <a:solidFill>
                  <a:schemeClr val="tx2"/>
                </a:solidFill>
                <a:latin typeface="Arial" panose="020B0604020202020204" pitchFamily="34" charset="0"/>
                <a:cs typeface="Arial" panose="020B0604020202020204" pitchFamily="34" charset="0"/>
              </a:rPr>
              <a:t>Similarity</a:t>
            </a:r>
          </a:p>
        </p:txBody>
      </p:sp>
      <p:pic>
        <p:nvPicPr>
          <p:cNvPr id="7" name="Picture 6" descr="A red background with white text">
            <a:extLst>
              <a:ext uri="{FF2B5EF4-FFF2-40B4-BE49-F238E27FC236}">
                <a16:creationId xmlns:a16="http://schemas.microsoft.com/office/drawing/2014/main" id="{48A6E0BC-8AD6-A8AF-2A65-4A17387CA52A}"/>
              </a:ext>
            </a:extLst>
          </p:cNvPr>
          <p:cNvPicPr>
            <a:picLocks noChangeAspect="1"/>
          </p:cNvPicPr>
          <p:nvPr/>
        </p:nvPicPr>
        <p:blipFill rotWithShape="1">
          <a:blip r:embed="rId3">
            <a:extLst>
              <a:ext uri="{28A0092B-C50C-407E-A947-70E740481C1C}">
                <a14:useLocalDpi xmlns:a14="http://schemas.microsoft.com/office/drawing/2010/main" val="0"/>
              </a:ext>
            </a:extLst>
          </a:blip>
          <a:srcRect l="16473" t="70984" r="28224"/>
          <a:stretch/>
        </p:blipFill>
        <p:spPr>
          <a:xfrm>
            <a:off x="7337563" y="4999383"/>
            <a:ext cx="4854437" cy="1858617"/>
          </a:xfrm>
          <a:prstGeom prst="rect">
            <a:avLst/>
          </a:prstGeom>
        </p:spPr>
      </p:pic>
      <p:sp>
        <p:nvSpPr>
          <p:cNvPr id="9" name="Subtitle 2">
            <a:extLst>
              <a:ext uri="{FF2B5EF4-FFF2-40B4-BE49-F238E27FC236}">
                <a16:creationId xmlns:a16="http://schemas.microsoft.com/office/drawing/2014/main" id="{D70D6E17-8477-273E-A68A-EC1C0C61FCD7}"/>
              </a:ext>
            </a:extLst>
          </p:cNvPr>
          <p:cNvSpPr txBox="1">
            <a:spLocks/>
          </p:cNvSpPr>
          <p:nvPr/>
        </p:nvSpPr>
        <p:spPr>
          <a:xfrm>
            <a:off x="457201" y="2822743"/>
            <a:ext cx="6629400" cy="193654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1600" dirty="0">
                <a:solidFill>
                  <a:schemeClr val="tx2"/>
                </a:solidFill>
              </a:rPr>
              <a:t>Master of Science in AI &amp; Robotics</a:t>
            </a:r>
          </a:p>
          <a:p>
            <a:pPr algn="l"/>
            <a:r>
              <a:rPr lang="en-GB" sz="1600" dirty="0">
                <a:solidFill>
                  <a:schemeClr val="tx2"/>
                </a:solidFill>
              </a:rPr>
              <a:t>Computer Vision</a:t>
            </a:r>
          </a:p>
        </p:txBody>
      </p:sp>
      <p:sp>
        <p:nvSpPr>
          <p:cNvPr id="10" name="Subtitle 2">
            <a:extLst>
              <a:ext uri="{FF2B5EF4-FFF2-40B4-BE49-F238E27FC236}">
                <a16:creationId xmlns:a16="http://schemas.microsoft.com/office/drawing/2014/main" id="{90936BE8-9BFF-F7ED-4065-FB579F3038CB}"/>
              </a:ext>
            </a:extLst>
          </p:cNvPr>
          <p:cNvSpPr txBox="1">
            <a:spLocks/>
          </p:cNvSpPr>
          <p:nvPr/>
        </p:nvSpPr>
        <p:spPr>
          <a:xfrm>
            <a:off x="457201" y="3915260"/>
            <a:ext cx="6629400" cy="92654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it-IT" sz="1800" b="1" dirty="0"/>
              <a:t>Mattia Di Marco </a:t>
            </a:r>
            <a:r>
              <a:rPr lang="it-IT" sz="1600" dirty="0"/>
              <a:t>2019367</a:t>
            </a:r>
          </a:p>
          <a:p>
            <a:pPr algn="l"/>
            <a:r>
              <a:rPr lang="it-IT" sz="1800" b="1" dirty="0"/>
              <a:t>Simone La Bella </a:t>
            </a:r>
            <a:r>
              <a:rPr lang="it-IT" sz="1600" dirty="0"/>
              <a:t>1995847</a:t>
            </a:r>
            <a:endParaRPr lang="en-US" sz="1800" b="1" dirty="0"/>
          </a:p>
          <a:p>
            <a:pPr algn="l"/>
            <a:endParaRPr lang="en-US" sz="1600" b="1" dirty="0"/>
          </a:p>
        </p:txBody>
      </p:sp>
      <p:sp>
        <p:nvSpPr>
          <p:cNvPr id="11" name="Subtitle 2">
            <a:extLst>
              <a:ext uri="{FF2B5EF4-FFF2-40B4-BE49-F238E27FC236}">
                <a16:creationId xmlns:a16="http://schemas.microsoft.com/office/drawing/2014/main" id="{F8E3E8EF-ABFD-AD29-8289-EB7AA8C15414}"/>
              </a:ext>
            </a:extLst>
          </p:cNvPr>
          <p:cNvSpPr txBox="1">
            <a:spLocks/>
          </p:cNvSpPr>
          <p:nvPr/>
        </p:nvSpPr>
        <p:spPr>
          <a:xfrm>
            <a:off x="457201" y="5928691"/>
            <a:ext cx="2117034" cy="268288"/>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it-IT" sz="1400" dirty="0"/>
              <a:t>Academic Year 2025/26</a:t>
            </a:r>
            <a:endParaRPr lang="en-US" sz="1400" dirty="0"/>
          </a:p>
        </p:txBody>
      </p:sp>
    </p:spTree>
    <p:extLst>
      <p:ext uri="{BB962C8B-B14F-4D97-AF65-F5344CB8AC3E}">
        <p14:creationId xmlns:p14="http://schemas.microsoft.com/office/powerpoint/2010/main" val="2195670701"/>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46501-349A-DEAD-85FC-C2E3C49BD008}"/>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6879A579-C185-004B-B27D-E02ADEF23809}"/>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BF045425-52E2-0DB2-AB35-0173EB3D0D4E}"/>
              </a:ext>
            </a:extLst>
          </p:cNvPr>
          <p:cNvSpPr>
            <a:spLocks noGrp="1"/>
          </p:cNvSpPr>
          <p:nvPr>
            <p:ph type="sldNum" sz="quarter" idx="12"/>
          </p:nvPr>
        </p:nvSpPr>
        <p:spPr>
          <a:xfrm>
            <a:off x="0" y="6311901"/>
            <a:ext cx="838200" cy="546099"/>
          </a:xfrm>
        </p:spPr>
        <p:txBody>
          <a:bodyPr/>
          <a:lstStyle/>
          <a:p>
            <a:r>
              <a:rPr lang="en-US" dirty="0"/>
              <a:t>1/9</a:t>
            </a:r>
          </a:p>
        </p:txBody>
      </p:sp>
      <p:sp>
        <p:nvSpPr>
          <p:cNvPr id="4" name="TextBox 3">
            <a:extLst>
              <a:ext uri="{FF2B5EF4-FFF2-40B4-BE49-F238E27FC236}">
                <a16:creationId xmlns:a16="http://schemas.microsoft.com/office/drawing/2014/main" id="{58F7A708-BA81-AE6B-435C-19F0BA1582C9}"/>
              </a:ext>
            </a:extLst>
          </p:cNvPr>
          <p:cNvSpPr txBox="1"/>
          <p:nvPr/>
        </p:nvSpPr>
        <p:spPr>
          <a:xfrm>
            <a:off x="2192572" y="567855"/>
            <a:ext cx="9203635" cy="584775"/>
          </a:xfrm>
          <a:prstGeom prst="rect">
            <a:avLst/>
          </a:prstGeom>
          <a:noFill/>
        </p:spPr>
        <p:txBody>
          <a:bodyPr wrap="square" rtlCol="0">
            <a:spAutoFit/>
          </a:bodyPr>
          <a:lstStyle/>
          <a:p>
            <a:r>
              <a:rPr lang="en-US" sz="3200" b="1" dirty="0">
                <a:ln w="0"/>
                <a:solidFill>
                  <a:schemeClr val="tx2"/>
                </a:solidFill>
              </a:rPr>
              <a:t>Project overview</a:t>
            </a:r>
          </a:p>
        </p:txBody>
      </p:sp>
      <p:sp>
        <p:nvSpPr>
          <p:cNvPr id="3" name="Footer Placeholder 2">
            <a:extLst>
              <a:ext uri="{FF2B5EF4-FFF2-40B4-BE49-F238E27FC236}">
                <a16:creationId xmlns:a16="http://schemas.microsoft.com/office/drawing/2014/main" id="{9E96CE06-B2B2-65FC-EFC6-C04BC8159E02}"/>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sp>
        <p:nvSpPr>
          <p:cNvPr id="18" name="Rectangle 17">
            <a:extLst>
              <a:ext uri="{FF2B5EF4-FFF2-40B4-BE49-F238E27FC236}">
                <a16:creationId xmlns:a16="http://schemas.microsoft.com/office/drawing/2014/main" id="{DAAC11BF-435D-7A4B-BB40-227FC1A9443A}"/>
              </a:ext>
            </a:extLst>
          </p:cNvPr>
          <p:cNvSpPr/>
          <p:nvPr/>
        </p:nvSpPr>
        <p:spPr>
          <a:xfrm>
            <a:off x="7371347" y="1273635"/>
            <a:ext cx="1193533" cy="9329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CasellaDiTesto 1">
            <a:extLst>
              <a:ext uri="{FF2B5EF4-FFF2-40B4-BE49-F238E27FC236}">
                <a16:creationId xmlns:a16="http://schemas.microsoft.com/office/drawing/2014/main" id="{7E6763F0-76E2-0C94-9C1F-BF6DC9F73F35}"/>
              </a:ext>
            </a:extLst>
          </p:cNvPr>
          <p:cNvSpPr txBox="1"/>
          <p:nvPr/>
        </p:nvSpPr>
        <p:spPr>
          <a:xfrm>
            <a:off x="2192572" y="1002144"/>
            <a:ext cx="8835646" cy="646331"/>
          </a:xfrm>
          <a:prstGeom prst="rect">
            <a:avLst/>
          </a:prstGeom>
          <a:noFill/>
        </p:spPr>
        <p:txBody>
          <a:bodyPr wrap="square" rtlCol="0">
            <a:spAutoFit/>
          </a:bodyPr>
          <a:lstStyle/>
          <a:p>
            <a:r>
              <a:rPr lang="en-US" b="1" dirty="0">
                <a:solidFill>
                  <a:schemeClr val="tx2"/>
                </a:solidFill>
              </a:rPr>
              <a:t>Impact of efficient attention mechanisms on a DINO-based DreamSim-like pipeline</a:t>
            </a:r>
          </a:p>
        </p:txBody>
      </p:sp>
      <p:sp>
        <p:nvSpPr>
          <p:cNvPr id="24" name="TextBox 14">
            <a:extLst>
              <a:ext uri="{FF2B5EF4-FFF2-40B4-BE49-F238E27FC236}">
                <a16:creationId xmlns:a16="http://schemas.microsoft.com/office/drawing/2014/main" id="{515AF610-9472-0F09-009F-441D9C0A6CCA}"/>
              </a:ext>
            </a:extLst>
          </p:cNvPr>
          <p:cNvSpPr txBox="1"/>
          <p:nvPr/>
        </p:nvSpPr>
        <p:spPr>
          <a:xfrm>
            <a:off x="1259502" y="2413468"/>
            <a:ext cx="3893301" cy="400110"/>
          </a:xfrm>
          <a:prstGeom prst="rect">
            <a:avLst/>
          </a:prstGeom>
          <a:noFill/>
        </p:spPr>
        <p:txBody>
          <a:bodyPr wrap="square" rtlCol="0">
            <a:spAutoFit/>
          </a:bodyPr>
          <a:lstStyle/>
          <a:p>
            <a:pPr marL="342900" indent="-342900">
              <a:buFont typeface="Arial" panose="020B0604020202020204" pitchFamily="34" charset="0"/>
              <a:buChar char="•"/>
            </a:pPr>
            <a:r>
              <a:rPr lang="en-GB" sz="2000" b="1" dirty="0">
                <a:solidFill>
                  <a:schemeClr val="tx2"/>
                </a:solidFill>
              </a:rPr>
              <a:t>Task</a:t>
            </a:r>
            <a:endParaRPr lang="en-GB" b="1" dirty="0">
              <a:solidFill>
                <a:schemeClr val="tx2"/>
              </a:solidFill>
            </a:endParaRPr>
          </a:p>
        </p:txBody>
      </p:sp>
      <p:sp>
        <p:nvSpPr>
          <p:cNvPr id="7" name="Freccia a destra 6">
            <a:extLst>
              <a:ext uri="{FF2B5EF4-FFF2-40B4-BE49-F238E27FC236}">
                <a16:creationId xmlns:a16="http://schemas.microsoft.com/office/drawing/2014/main" id="{F0C3B79B-A475-9A22-EF94-48DFD8F0165B}"/>
              </a:ext>
            </a:extLst>
          </p:cNvPr>
          <p:cNvSpPr/>
          <p:nvPr/>
        </p:nvSpPr>
        <p:spPr>
          <a:xfrm>
            <a:off x="3587417" y="2533748"/>
            <a:ext cx="868219" cy="210343"/>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tx2"/>
              </a:solidFill>
            </a:endParaRPr>
          </a:p>
        </p:txBody>
      </p:sp>
      <p:sp>
        <p:nvSpPr>
          <p:cNvPr id="9" name="CasellaDiTesto 8">
            <a:extLst>
              <a:ext uri="{FF2B5EF4-FFF2-40B4-BE49-F238E27FC236}">
                <a16:creationId xmlns:a16="http://schemas.microsoft.com/office/drawing/2014/main" id="{5D7E3F1F-8435-E3B4-70F2-88AE49778BDA}"/>
              </a:ext>
            </a:extLst>
          </p:cNvPr>
          <p:cNvSpPr txBox="1"/>
          <p:nvPr/>
        </p:nvSpPr>
        <p:spPr>
          <a:xfrm>
            <a:off x="5152803" y="2403169"/>
            <a:ext cx="6119090" cy="369332"/>
          </a:xfrm>
          <a:prstGeom prst="rect">
            <a:avLst/>
          </a:prstGeom>
          <a:noFill/>
        </p:spPr>
        <p:txBody>
          <a:bodyPr wrap="square">
            <a:spAutoFit/>
          </a:bodyPr>
          <a:lstStyle/>
          <a:p>
            <a:r>
              <a:rPr lang="it-IT" dirty="0" err="1"/>
              <a:t>Perceptual</a:t>
            </a:r>
            <a:r>
              <a:rPr lang="it-IT" dirty="0"/>
              <a:t> image </a:t>
            </a:r>
            <a:r>
              <a:rPr lang="it-IT" dirty="0" err="1"/>
              <a:t>similarity</a:t>
            </a:r>
            <a:r>
              <a:rPr lang="it-IT" dirty="0"/>
              <a:t> </a:t>
            </a:r>
            <a:r>
              <a:rPr lang="it-IT" dirty="0" err="1"/>
              <a:t>using</a:t>
            </a:r>
            <a:r>
              <a:rPr lang="it-IT" dirty="0"/>
              <a:t> </a:t>
            </a:r>
            <a:r>
              <a:rPr lang="it-IT" b="1" dirty="0"/>
              <a:t>NIGHTS</a:t>
            </a:r>
            <a:r>
              <a:rPr lang="it-IT" dirty="0"/>
              <a:t> dataset</a:t>
            </a:r>
          </a:p>
        </p:txBody>
      </p:sp>
      <p:sp>
        <p:nvSpPr>
          <p:cNvPr id="10" name="TextBox 14">
            <a:extLst>
              <a:ext uri="{FF2B5EF4-FFF2-40B4-BE49-F238E27FC236}">
                <a16:creationId xmlns:a16="http://schemas.microsoft.com/office/drawing/2014/main" id="{82DA6DA9-3381-954E-B2E0-94A953F41C16}"/>
              </a:ext>
            </a:extLst>
          </p:cNvPr>
          <p:cNvSpPr txBox="1"/>
          <p:nvPr/>
        </p:nvSpPr>
        <p:spPr>
          <a:xfrm>
            <a:off x="1259502" y="3978221"/>
            <a:ext cx="2762024" cy="400110"/>
          </a:xfrm>
          <a:prstGeom prst="rect">
            <a:avLst/>
          </a:prstGeom>
          <a:noFill/>
        </p:spPr>
        <p:txBody>
          <a:bodyPr wrap="square" rtlCol="0">
            <a:spAutoFit/>
          </a:bodyPr>
          <a:lstStyle/>
          <a:p>
            <a:pPr marL="342900" indent="-342900">
              <a:buFont typeface="Arial" panose="020B0604020202020204" pitchFamily="34" charset="0"/>
              <a:buChar char="•"/>
            </a:pPr>
            <a:r>
              <a:rPr lang="en-GB" sz="2000" b="1" dirty="0">
                <a:solidFill>
                  <a:schemeClr val="tx2"/>
                </a:solidFill>
              </a:rPr>
              <a:t>Goal</a:t>
            </a:r>
            <a:endParaRPr lang="en-GB" b="1" dirty="0">
              <a:solidFill>
                <a:schemeClr val="tx2"/>
              </a:solidFill>
            </a:endParaRPr>
          </a:p>
        </p:txBody>
      </p:sp>
      <p:sp>
        <p:nvSpPr>
          <p:cNvPr id="11" name="Freccia a destra 10">
            <a:extLst>
              <a:ext uri="{FF2B5EF4-FFF2-40B4-BE49-F238E27FC236}">
                <a16:creationId xmlns:a16="http://schemas.microsoft.com/office/drawing/2014/main" id="{7B62DCCF-86F5-7112-597D-E77009B819D1}"/>
              </a:ext>
            </a:extLst>
          </p:cNvPr>
          <p:cNvSpPr/>
          <p:nvPr/>
        </p:nvSpPr>
        <p:spPr>
          <a:xfrm>
            <a:off x="3587416" y="3323828"/>
            <a:ext cx="868219" cy="210343"/>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tx2"/>
              </a:solidFill>
            </a:endParaRPr>
          </a:p>
        </p:txBody>
      </p:sp>
      <p:sp>
        <p:nvSpPr>
          <p:cNvPr id="13" name="CasellaDiTesto 12">
            <a:extLst>
              <a:ext uri="{FF2B5EF4-FFF2-40B4-BE49-F238E27FC236}">
                <a16:creationId xmlns:a16="http://schemas.microsoft.com/office/drawing/2014/main" id="{3ADE3FE8-DF1D-EFF2-98DA-3AB31913C03E}"/>
              </a:ext>
            </a:extLst>
          </p:cNvPr>
          <p:cNvSpPr txBox="1"/>
          <p:nvPr/>
        </p:nvSpPr>
        <p:spPr>
          <a:xfrm>
            <a:off x="5152803" y="3203529"/>
            <a:ext cx="6119090" cy="369332"/>
          </a:xfrm>
          <a:prstGeom prst="rect">
            <a:avLst/>
          </a:prstGeom>
          <a:noFill/>
        </p:spPr>
        <p:txBody>
          <a:bodyPr wrap="square">
            <a:spAutoFit/>
          </a:bodyPr>
          <a:lstStyle/>
          <a:p>
            <a:r>
              <a:rPr lang="it-IT" dirty="0"/>
              <a:t>DINO </a:t>
            </a:r>
            <a:r>
              <a:rPr lang="it-IT" dirty="0" err="1"/>
              <a:t>ViT</a:t>
            </a:r>
            <a:r>
              <a:rPr lang="it-IT" dirty="0"/>
              <a:t>-B/16 + </a:t>
            </a:r>
            <a:r>
              <a:rPr lang="it-IT" b="1" dirty="0" err="1"/>
              <a:t>Efficient</a:t>
            </a:r>
            <a:r>
              <a:rPr lang="it-IT" b="1" dirty="0"/>
              <a:t> </a:t>
            </a:r>
            <a:r>
              <a:rPr lang="it-IT" b="1" dirty="0" err="1"/>
              <a:t>Attention</a:t>
            </a:r>
            <a:r>
              <a:rPr lang="it-IT" b="1" dirty="0"/>
              <a:t> Layer</a:t>
            </a:r>
          </a:p>
        </p:txBody>
      </p:sp>
      <p:sp>
        <p:nvSpPr>
          <p:cNvPr id="14" name="TextBox 14">
            <a:extLst>
              <a:ext uri="{FF2B5EF4-FFF2-40B4-BE49-F238E27FC236}">
                <a16:creationId xmlns:a16="http://schemas.microsoft.com/office/drawing/2014/main" id="{640AB877-24DA-55DC-066C-CFD03FD91059}"/>
              </a:ext>
            </a:extLst>
          </p:cNvPr>
          <p:cNvSpPr txBox="1"/>
          <p:nvPr/>
        </p:nvSpPr>
        <p:spPr>
          <a:xfrm>
            <a:off x="1259502" y="3183071"/>
            <a:ext cx="2762024" cy="400110"/>
          </a:xfrm>
          <a:prstGeom prst="rect">
            <a:avLst/>
          </a:prstGeom>
          <a:noFill/>
        </p:spPr>
        <p:txBody>
          <a:bodyPr wrap="square" rtlCol="0">
            <a:spAutoFit/>
          </a:bodyPr>
          <a:lstStyle/>
          <a:p>
            <a:pPr marL="342900" indent="-342900">
              <a:buFont typeface="Arial" panose="020B0604020202020204" pitchFamily="34" charset="0"/>
              <a:buChar char="•"/>
            </a:pPr>
            <a:r>
              <a:rPr lang="en-GB" sz="2000" b="1" dirty="0">
                <a:solidFill>
                  <a:schemeClr val="tx2"/>
                </a:solidFill>
              </a:rPr>
              <a:t>Backbone</a:t>
            </a:r>
            <a:endParaRPr lang="en-GB" b="1" dirty="0">
              <a:solidFill>
                <a:schemeClr val="tx2"/>
              </a:solidFill>
            </a:endParaRPr>
          </a:p>
        </p:txBody>
      </p:sp>
      <p:sp>
        <p:nvSpPr>
          <p:cNvPr id="15" name="Freccia a destra 14">
            <a:extLst>
              <a:ext uri="{FF2B5EF4-FFF2-40B4-BE49-F238E27FC236}">
                <a16:creationId xmlns:a16="http://schemas.microsoft.com/office/drawing/2014/main" id="{2ACBFC32-EA8B-BB9C-D5E8-C265A479ACCD}"/>
              </a:ext>
            </a:extLst>
          </p:cNvPr>
          <p:cNvSpPr/>
          <p:nvPr/>
        </p:nvSpPr>
        <p:spPr>
          <a:xfrm>
            <a:off x="3587416" y="4113909"/>
            <a:ext cx="868219" cy="210343"/>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tx2"/>
              </a:solidFill>
            </a:endParaRPr>
          </a:p>
        </p:txBody>
      </p:sp>
      <p:sp>
        <p:nvSpPr>
          <p:cNvPr id="19" name="CasellaDiTesto 18">
            <a:extLst>
              <a:ext uri="{FF2B5EF4-FFF2-40B4-BE49-F238E27FC236}">
                <a16:creationId xmlns:a16="http://schemas.microsoft.com/office/drawing/2014/main" id="{16987BAE-0A96-8703-C66D-0DCA921358FC}"/>
              </a:ext>
            </a:extLst>
          </p:cNvPr>
          <p:cNvSpPr txBox="1"/>
          <p:nvPr/>
        </p:nvSpPr>
        <p:spPr>
          <a:xfrm>
            <a:off x="5152803" y="3983386"/>
            <a:ext cx="6119090" cy="646331"/>
          </a:xfrm>
          <a:prstGeom prst="rect">
            <a:avLst/>
          </a:prstGeom>
          <a:noFill/>
        </p:spPr>
        <p:txBody>
          <a:bodyPr wrap="square">
            <a:spAutoFit/>
          </a:bodyPr>
          <a:lstStyle/>
          <a:p>
            <a:r>
              <a:rPr lang="en-US" b="1" dirty="0"/>
              <a:t>Reduce computational cost </a:t>
            </a:r>
            <a:r>
              <a:rPr lang="en-US" dirty="0"/>
              <a:t>while preserving perceptual accuracy</a:t>
            </a:r>
            <a:endParaRPr lang="it-IT" dirty="0"/>
          </a:p>
        </p:txBody>
      </p:sp>
    </p:spTree>
    <p:extLst>
      <p:ext uri="{BB962C8B-B14F-4D97-AF65-F5344CB8AC3E}">
        <p14:creationId xmlns:p14="http://schemas.microsoft.com/office/powerpoint/2010/main" val="3765083196"/>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70FF9-83B7-826D-22B1-CE8CA0859ECF}"/>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E78249CB-FF1D-0EE8-3FB3-B72DDACC9590}"/>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AEE468AE-1268-D60F-05FE-B566965B4854}"/>
              </a:ext>
            </a:extLst>
          </p:cNvPr>
          <p:cNvSpPr>
            <a:spLocks noGrp="1"/>
          </p:cNvSpPr>
          <p:nvPr>
            <p:ph type="sldNum" sz="quarter" idx="12"/>
          </p:nvPr>
        </p:nvSpPr>
        <p:spPr>
          <a:xfrm>
            <a:off x="0" y="6311901"/>
            <a:ext cx="838200" cy="546099"/>
          </a:xfrm>
        </p:spPr>
        <p:txBody>
          <a:bodyPr/>
          <a:lstStyle/>
          <a:p>
            <a:r>
              <a:rPr lang="en-US" dirty="0"/>
              <a:t>2/9</a:t>
            </a:r>
          </a:p>
        </p:txBody>
      </p:sp>
      <p:sp>
        <p:nvSpPr>
          <p:cNvPr id="4" name="TextBox 3">
            <a:extLst>
              <a:ext uri="{FF2B5EF4-FFF2-40B4-BE49-F238E27FC236}">
                <a16:creationId xmlns:a16="http://schemas.microsoft.com/office/drawing/2014/main" id="{D2A13934-421F-0669-C5F3-46FC380A77F3}"/>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NIGHTS Dataset &amp; Perceptual Similarity Task</a:t>
            </a:r>
          </a:p>
        </p:txBody>
      </p:sp>
      <p:sp>
        <p:nvSpPr>
          <p:cNvPr id="3" name="Footer Placeholder 2">
            <a:extLst>
              <a:ext uri="{FF2B5EF4-FFF2-40B4-BE49-F238E27FC236}">
                <a16:creationId xmlns:a16="http://schemas.microsoft.com/office/drawing/2014/main" id="{708D876E-1E15-6828-D1C9-2AE886CC9719}"/>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sp>
        <p:nvSpPr>
          <p:cNvPr id="36" name="TextBox 14">
            <a:extLst>
              <a:ext uri="{FF2B5EF4-FFF2-40B4-BE49-F238E27FC236}">
                <a16:creationId xmlns:a16="http://schemas.microsoft.com/office/drawing/2014/main" id="{5B041BB1-2591-9C60-6C41-0D1C07DDA809}"/>
              </a:ext>
            </a:extLst>
          </p:cNvPr>
          <p:cNvSpPr txBox="1"/>
          <p:nvPr/>
        </p:nvSpPr>
        <p:spPr>
          <a:xfrm>
            <a:off x="719196" y="1353727"/>
            <a:ext cx="2762024" cy="369332"/>
          </a:xfrm>
          <a:prstGeom prst="rect">
            <a:avLst/>
          </a:prstGeom>
          <a:noFill/>
        </p:spPr>
        <p:txBody>
          <a:bodyPr wrap="square" rtlCol="0">
            <a:spAutoFit/>
          </a:bodyPr>
          <a:lstStyle/>
          <a:p>
            <a:pPr algn="ctr"/>
            <a:r>
              <a:rPr lang="en-GB" dirty="0"/>
              <a:t>Each sample contains:</a:t>
            </a:r>
          </a:p>
        </p:txBody>
      </p:sp>
      <p:pic>
        <p:nvPicPr>
          <p:cNvPr id="14" name="Immagine 13">
            <a:extLst>
              <a:ext uri="{FF2B5EF4-FFF2-40B4-BE49-F238E27FC236}">
                <a16:creationId xmlns:a16="http://schemas.microsoft.com/office/drawing/2014/main" id="{D2BE9C4D-765E-3EF8-C2CB-14E85FDDB8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28054" y="2591671"/>
            <a:ext cx="2135428" cy="2135428"/>
          </a:xfrm>
          <a:prstGeom prst="rect">
            <a:avLst/>
          </a:prstGeom>
        </p:spPr>
      </p:pic>
      <p:pic>
        <p:nvPicPr>
          <p:cNvPr id="15" name="Immagine 14">
            <a:extLst>
              <a:ext uri="{FF2B5EF4-FFF2-40B4-BE49-F238E27FC236}">
                <a16:creationId xmlns:a16="http://schemas.microsoft.com/office/drawing/2014/main" id="{FB21191B-55F2-5624-9B4D-6C7682A7EC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66030" y="2591671"/>
            <a:ext cx="2135428" cy="2135428"/>
          </a:xfrm>
          <a:prstGeom prst="rect">
            <a:avLst/>
          </a:prstGeom>
        </p:spPr>
      </p:pic>
      <p:pic>
        <p:nvPicPr>
          <p:cNvPr id="17" name="Immagine 16">
            <a:extLst>
              <a:ext uri="{FF2B5EF4-FFF2-40B4-BE49-F238E27FC236}">
                <a16:creationId xmlns:a16="http://schemas.microsoft.com/office/drawing/2014/main" id="{CAF00B43-E83C-BB56-B445-8856351C22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99519" y="2591671"/>
            <a:ext cx="2135428" cy="2135428"/>
          </a:xfrm>
          <a:prstGeom prst="rect">
            <a:avLst/>
          </a:prstGeom>
        </p:spPr>
      </p:pic>
      <p:sp>
        <p:nvSpPr>
          <p:cNvPr id="18" name="TextBox 14">
            <a:extLst>
              <a:ext uri="{FF2B5EF4-FFF2-40B4-BE49-F238E27FC236}">
                <a16:creationId xmlns:a16="http://schemas.microsoft.com/office/drawing/2014/main" id="{B9AFFD03-C52C-7035-03D3-D656C89DF911}"/>
              </a:ext>
            </a:extLst>
          </p:cNvPr>
          <p:cNvSpPr txBox="1"/>
          <p:nvPr/>
        </p:nvSpPr>
        <p:spPr>
          <a:xfrm>
            <a:off x="686221" y="4765610"/>
            <a:ext cx="2762024" cy="369332"/>
          </a:xfrm>
          <a:prstGeom prst="rect">
            <a:avLst/>
          </a:prstGeom>
          <a:noFill/>
        </p:spPr>
        <p:txBody>
          <a:bodyPr wrap="square" rtlCol="0">
            <a:spAutoFit/>
          </a:bodyPr>
          <a:lstStyle/>
          <a:p>
            <a:pPr algn="ctr"/>
            <a:r>
              <a:rPr lang="en-GB" dirty="0"/>
              <a:t>Reference Image</a:t>
            </a:r>
          </a:p>
        </p:txBody>
      </p:sp>
      <p:cxnSp>
        <p:nvCxnSpPr>
          <p:cNvPr id="20" name="Connettore diritto 19">
            <a:extLst>
              <a:ext uri="{FF2B5EF4-FFF2-40B4-BE49-F238E27FC236}">
                <a16:creationId xmlns:a16="http://schemas.microsoft.com/office/drawing/2014/main" id="{EDA4590F-F373-4D6A-A5BB-1FE908186220}"/>
              </a:ext>
            </a:extLst>
          </p:cNvPr>
          <p:cNvCxnSpPr/>
          <p:nvPr/>
        </p:nvCxnSpPr>
        <p:spPr>
          <a:xfrm>
            <a:off x="3481220" y="2044804"/>
            <a:ext cx="0" cy="3411881"/>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TextBox 14">
            <a:extLst>
              <a:ext uri="{FF2B5EF4-FFF2-40B4-BE49-F238E27FC236}">
                <a16:creationId xmlns:a16="http://schemas.microsoft.com/office/drawing/2014/main" id="{FE988D5A-1CA6-9D4B-C88F-BA3B3B815F7D}"/>
              </a:ext>
            </a:extLst>
          </p:cNvPr>
          <p:cNvSpPr txBox="1"/>
          <p:nvPr/>
        </p:nvSpPr>
        <p:spPr>
          <a:xfrm>
            <a:off x="3653630" y="4789747"/>
            <a:ext cx="2762024" cy="369332"/>
          </a:xfrm>
          <a:prstGeom prst="rect">
            <a:avLst/>
          </a:prstGeom>
          <a:noFill/>
        </p:spPr>
        <p:txBody>
          <a:bodyPr wrap="square" rtlCol="0">
            <a:spAutoFit/>
          </a:bodyPr>
          <a:lstStyle/>
          <a:p>
            <a:pPr algn="ctr"/>
            <a:r>
              <a:rPr lang="en-GB" dirty="0"/>
              <a:t>Left Candidate</a:t>
            </a:r>
          </a:p>
        </p:txBody>
      </p:sp>
      <p:sp>
        <p:nvSpPr>
          <p:cNvPr id="22" name="TextBox 14">
            <a:extLst>
              <a:ext uri="{FF2B5EF4-FFF2-40B4-BE49-F238E27FC236}">
                <a16:creationId xmlns:a16="http://schemas.microsoft.com/office/drawing/2014/main" id="{21413C15-136B-435F-6CFE-3525F2A17A2E}"/>
              </a:ext>
            </a:extLst>
          </p:cNvPr>
          <p:cNvSpPr txBox="1"/>
          <p:nvPr/>
        </p:nvSpPr>
        <p:spPr>
          <a:xfrm>
            <a:off x="6415654" y="4789747"/>
            <a:ext cx="2762024" cy="369332"/>
          </a:xfrm>
          <a:prstGeom prst="rect">
            <a:avLst/>
          </a:prstGeom>
          <a:noFill/>
        </p:spPr>
        <p:txBody>
          <a:bodyPr wrap="square" rtlCol="0">
            <a:spAutoFit/>
          </a:bodyPr>
          <a:lstStyle/>
          <a:p>
            <a:pPr algn="ctr"/>
            <a:r>
              <a:rPr lang="en-GB" dirty="0"/>
              <a:t>Right Candidate</a:t>
            </a:r>
          </a:p>
        </p:txBody>
      </p:sp>
      <p:pic>
        <p:nvPicPr>
          <p:cNvPr id="24" name="Elemento grafico 23">
            <a:extLst>
              <a:ext uri="{FF2B5EF4-FFF2-40B4-BE49-F238E27FC236}">
                <a16:creationId xmlns:a16="http://schemas.microsoft.com/office/drawing/2014/main" id="{B18E7831-502B-2D64-DC82-BD27A2CB674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040839" y="2832550"/>
            <a:ext cx="1957197" cy="1957197"/>
          </a:xfrm>
          <a:prstGeom prst="rect">
            <a:avLst/>
          </a:prstGeom>
        </p:spPr>
      </p:pic>
      <p:sp>
        <p:nvSpPr>
          <p:cNvPr id="26" name="TextBox 14">
            <a:extLst>
              <a:ext uri="{FF2B5EF4-FFF2-40B4-BE49-F238E27FC236}">
                <a16:creationId xmlns:a16="http://schemas.microsoft.com/office/drawing/2014/main" id="{E8ACA850-2867-ACA0-D042-1610CD16883A}"/>
              </a:ext>
            </a:extLst>
          </p:cNvPr>
          <p:cNvSpPr txBox="1"/>
          <p:nvPr/>
        </p:nvSpPr>
        <p:spPr>
          <a:xfrm>
            <a:off x="9638425" y="4865439"/>
            <a:ext cx="2762024" cy="369332"/>
          </a:xfrm>
          <a:prstGeom prst="rect">
            <a:avLst/>
          </a:prstGeom>
          <a:noFill/>
        </p:spPr>
        <p:txBody>
          <a:bodyPr wrap="square" rtlCol="0">
            <a:spAutoFit/>
          </a:bodyPr>
          <a:lstStyle/>
          <a:p>
            <a:pPr algn="ctr"/>
            <a:r>
              <a:rPr lang="en-GB" dirty="0"/>
              <a:t>Human Preferences</a:t>
            </a:r>
          </a:p>
        </p:txBody>
      </p:sp>
      <p:sp>
        <p:nvSpPr>
          <p:cNvPr id="7" name="Freccia a destra 6">
            <a:extLst>
              <a:ext uri="{FF2B5EF4-FFF2-40B4-BE49-F238E27FC236}">
                <a16:creationId xmlns:a16="http://schemas.microsoft.com/office/drawing/2014/main" id="{FDD6FF7C-84E7-76C8-2662-2FF821ACD724}"/>
              </a:ext>
            </a:extLst>
          </p:cNvPr>
          <p:cNvSpPr/>
          <p:nvPr/>
        </p:nvSpPr>
        <p:spPr>
          <a:xfrm>
            <a:off x="9055968" y="3683138"/>
            <a:ext cx="868219" cy="210343"/>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solidFill>
                <a:schemeClr val="tx2"/>
              </a:solidFill>
            </a:endParaRPr>
          </a:p>
        </p:txBody>
      </p:sp>
    </p:spTree>
    <p:extLst>
      <p:ext uri="{BB962C8B-B14F-4D97-AF65-F5344CB8AC3E}">
        <p14:creationId xmlns:p14="http://schemas.microsoft.com/office/powerpoint/2010/main" val="2272508659"/>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F9098-A5D4-E510-49B4-97CBBE5EDC1D}"/>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62AE0F82-6670-2B39-20E4-6A5A06E0CAC6}"/>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CBABF8DB-32E6-2F15-0E1B-AF147C1F7167}"/>
              </a:ext>
            </a:extLst>
          </p:cNvPr>
          <p:cNvSpPr>
            <a:spLocks noGrp="1"/>
          </p:cNvSpPr>
          <p:nvPr>
            <p:ph type="sldNum" sz="quarter" idx="12"/>
          </p:nvPr>
        </p:nvSpPr>
        <p:spPr>
          <a:xfrm>
            <a:off x="0" y="6311901"/>
            <a:ext cx="838200" cy="546099"/>
          </a:xfrm>
        </p:spPr>
        <p:txBody>
          <a:bodyPr/>
          <a:lstStyle/>
          <a:p>
            <a:r>
              <a:rPr lang="en-US" dirty="0"/>
              <a:t>3/9</a:t>
            </a:r>
          </a:p>
        </p:txBody>
      </p:sp>
      <p:sp>
        <p:nvSpPr>
          <p:cNvPr id="4" name="TextBox 3">
            <a:extLst>
              <a:ext uri="{FF2B5EF4-FFF2-40B4-BE49-F238E27FC236}">
                <a16:creationId xmlns:a16="http://schemas.microsoft.com/office/drawing/2014/main" id="{0030995D-E261-CC62-259B-342D5CA1BE16}"/>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NIGHTS Dataset &amp; Perceptual Similarity Task</a:t>
            </a:r>
          </a:p>
        </p:txBody>
      </p:sp>
      <p:sp>
        <p:nvSpPr>
          <p:cNvPr id="3" name="Footer Placeholder 2">
            <a:extLst>
              <a:ext uri="{FF2B5EF4-FFF2-40B4-BE49-F238E27FC236}">
                <a16:creationId xmlns:a16="http://schemas.microsoft.com/office/drawing/2014/main" id="{E8AD93D7-BBC3-0D27-552A-F07D83388BE5}"/>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pic>
        <p:nvPicPr>
          <p:cNvPr id="7" name="Elemento grafico 6">
            <a:extLst>
              <a:ext uri="{FF2B5EF4-FFF2-40B4-BE49-F238E27FC236}">
                <a16:creationId xmlns:a16="http://schemas.microsoft.com/office/drawing/2014/main" id="{D8C4B8D1-38C4-A693-86AB-99764890E25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48519" y="2115126"/>
            <a:ext cx="2082799" cy="2082799"/>
          </a:xfrm>
          <a:prstGeom prst="rect">
            <a:avLst/>
          </a:prstGeom>
        </p:spPr>
      </p:pic>
      <mc:AlternateContent xmlns:mc="http://schemas.openxmlformats.org/markup-compatibility/2006" xmlns:a14="http://schemas.microsoft.com/office/drawing/2010/main">
        <mc:Choice Requires="a14">
          <p:sp>
            <p:nvSpPr>
              <p:cNvPr id="8" name="TextBox 14">
                <a:extLst>
                  <a:ext uri="{FF2B5EF4-FFF2-40B4-BE49-F238E27FC236}">
                    <a16:creationId xmlns:a16="http://schemas.microsoft.com/office/drawing/2014/main" id="{C2F6C2E9-644A-0DC8-5265-0B2AC7543605}"/>
                  </a:ext>
                </a:extLst>
              </p:cNvPr>
              <p:cNvSpPr txBox="1"/>
              <p:nvPr/>
            </p:nvSpPr>
            <p:spPr>
              <a:xfrm>
                <a:off x="1572953" y="4108055"/>
                <a:ext cx="2762024" cy="369332"/>
              </a:xfrm>
              <a:prstGeom prst="rect">
                <a:avLst/>
              </a:prstGeom>
              <a:noFill/>
            </p:spPr>
            <p:txBody>
              <a:bodyPr wrap="square" rtlCol="0">
                <a:spAutoFit/>
              </a:bodyPr>
              <a:lstStyle/>
              <a:p>
                <a:pPr algn="ctr"/>
                <a:r>
                  <a:rPr lang="en-GB" dirty="0"/>
                  <a:t>Sampled with </a:t>
                </a:r>
                <a14:m>
                  <m:oMath xmlns:m="http://schemas.openxmlformats.org/officeDocument/2006/math">
                    <m:r>
                      <a:rPr lang="en-GB" i="1" smtClean="0">
                        <a:latin typeface="Cambria Math" panose="02040503050406030204" pitchFamily="18" charset="0"/>
                        <a:ea typeface="Cambria Math" panose="02040503050406030204" pitchFamily="18" charset="0"/>
                      </a:rPr>
                      <m:t>≥</m:t>
                    </m:r>
                    <m:r>
                      <a:rPr lang="it-IT" b="0" i="1" smtClean="0">
                        <a:latin typeface="Cambria Math" panose="02040503050406030204" pitchFamily="18" charset="0"/>
                        <a:ea typeface="Cambria Math" panose="02040503050406030204" pitchFamily="18" charset="0"/>
                      </a:rPr>
                      <m:t>6</m:t>
                    </m:r>
                  </m:oMath>
                </a14:m>
                <a:endParaRPr lang="en-GB" dirty="0"/>
              </a:p>
            </p:txBody>
          </p:sp>
        </mc:Choice>
        <mc:Fallback xmlns="">
          <p:sp>
            <p:nvSpPr>
              <p:cNvPr id="8" name="TextBox 14">
                <a:extLst>
                  <a:ext uri="{FF2B5EF4-FFF2-40B4-BE49-F238E27FC236}">
                    <a16:creationId xmlns:a16="http://schemas.microsoft.com/office/drawing/2014/main" id="{C2F6C2E9-644A-0DC8-5265-0B2AC7543605}"/>
                  </a:ext>
                </a:extLst>
              </p:cNvPr>
              <p:cNvSpPr txBox="1">
                <a:spLocks noRot="1" noChangeAspect="1" noMove="1" noResize="1" noEditPoints="1" noAdjustHandles="1" noChangeArrowheads="1" noChangeShapeType="1" noTextEdit="1"/>
              </p:cNvSpPr>
              <p:nvPr/>
            </p:nvSpPr>
            <p:spPr>
              <a:xfrm>
                <a:off x="1572953" y="4108055"/>
                <a:ext cx="2762024" cy="369332"/>
              </a:xfrm>
              <a:prstGeom prst="rect">
                <a:avLst/>
              </a:prstGeom>
              <a:blipFill>
                <a:blip r:embed="rId6"/>
                <a:stretch>
                  <a:fillRect t="-10000" b="-26667"/>
                </a:stretch>
              </a:blipFill>
            </p:spPr>
            <p:txBody>
              <a:bodyPr/>
              <a:lstStyle/>
              <a:p>
                <a:r>
                  <a:rPr lang="it-IT">
                    <a:noFill/>
                  </a:rPr>
                  <a:t> </a:t>
                </a:r>
              </a:p>
            </p:txBody>
          </p:sp>
        </mc:Fallback>
      </mc:AlternateContent>
      <p:sp>
        <p:nvSpPr>
          <p:cNvPr id="15" name="CasellaDiTesto 14">
            <a:extLst>
              <a:ext uri="{FF2B5EF4-FFF2-40B4-BE49-F238E27FC236}">
                <a16:creationId xmlns:a16="http://schemas.microsoft.com/office/drawing/2014/main" id="{C6243C04-0B27-BCAC-BCFF-2EA0F45D19E1}"/>
              </a:ext>
            </a:extLst>
          </p:cNvPr>
          <p:cNvSpPr txBox="1"/>
          <p:nvPr/>
        </p:nvSpPr>
        <p:spPr>
          <a:xfrm>
            <a:off x="7601526" y="2115126"/>
            <a:ext cx="6096000" cy="369332"/>
          </a:xfrm>
          <a:prstGeom prst="rect">
            <a:avLst/>
          </a:prstGeom>
          <a:noFill/>
        </p:spPr>
        <p:txBody>
          <a:bodyPr wrap="square">
            <a:spAutoFit/>
          </a:bodyPr>
          <a:lstStyle/>
          <a:p>
            <a:r>
              <a:rPr lang="it-IT" dirty="0" err="1"/>
              <a:t>Metric</a:t>
            </a:r>
            <a:r>
              <a:rPr lang="it-IT" dirty="0"/>
              <a:t>: </a:t>
            </a:r>
            <a:r>
              <a:rPr lang="it-IT" b="1" dirty="0">
                <a:solidFill>
                  <a:schemeClr val="tx2"/>
                </a:solidFill>
              </a:rPr>
              <a:t>2AFC</a:t>
            </a:r>
            <a:r>
              <a:rPr lang="it-IT" b="1" dirty="0"/>
              <a:t> </a:t>
            </a:r>
            <a:r>
              <a:rPr lang="it-IT" b="1" dirty="0" err="1">
                <a:solidFill>
                  <a:schemeClr val="tx2"/>
                </a:solidFill>
              </a:rPr>
              <a:t>accuracy</a:t>
            </a:r>
            <a:endParaRPr lang="it-IT" dirty="0">
              <a:solidFill>
                <a:schemeClr val="tx2"/>
              </a:solidFill>
            </a:endParaRPr>
          </a:p>
        </p:txBody>
      </p:sp>
      <p:cxnSp>
        <p:nvCxnSpPr>
          <p:cNvPr id="16" name="Connettore diritto 15">
            <a:extLst>
              <a:ext uri="{FF2B5EF4-FFF2-40B4-BE49-F238E27FC236}">
                <a16:creationId xmlns:a16="http://schemas.microsoft.com/office/drawing/2014/main" id="{226968A9-9915-0CD3-90FF-718FA1F408F4}"/>
              </a:ext>
            </a:extLst>
          </p:cNvPr>
          <p:cNvCxnSpPr/>
          <p:nvPr/>
        </p:nvCxnSpPr>
        <p:spPr>
          <a:xfrm>
            <a:off x="5827257" y="1723059"/>
            <a:ext cx="0" cy="3411881"/>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CasellaDiTesto 16">
                <a:extLst>
                  <a:ext uri="{FF2B5EF4-FFF2-40B4-BE49-F238E27FC236}">
                    <a16:creationId xmlns:a16="http://schemas.microsoft.com/office/drawing/2014/main" id="{53A6A8AE-ED78-DFF5-1A18-5DB8E2DCDDA0}"/>
                  </a:ext>
                </a:extLst>
              </p:cNvPr>
              <p:cNvSpPr txBox="1"/>
              <p:nvPr/>
            </p:nvSpPr>
            <p:spPr>
              <a:xfrm>
                <a:off x="6515100" y="3036211"/>
                <a:ext cx="4963602"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2</m:t>
                      </m:r>
                      <m:r>
                        <a:rPr lang="it-IT" b="0" i="1" smtClean="0">
                          <a:latin typeface="Cambria Math" panose="02040503050406030204" pitchFamily="18" charset="0"/>
                        </a:rPr>
                        <m:t>𝐴𝐹𝐶</m:t>
                      </m:r>
                      <m:r>
                        <a:rPr lang="it-IT" b="0" i="1" smtClean="0">
                          <a:latin typeface="Cambria Math" panose="02040503050406030204" pitchFamily="18" charset="0"/>
                        </a:rPr>
                        <m:t>=</m:t>
                      </m:r>
                      <m:f>
                        <m:fPr>
                          <m:ctrlPr>
                            <a:rPr lang="it-IT" i="1" smtClean="0">
                              <a:latin typeface="Cambria Math" panose="02040503050406030204" pitchFamily="18" charset="0"/>
                            </a:rPr>
                          </m:ctrlPr>
                        </m:fPr>
                        <m:num>
                          <m:r>
                            <a:rPr lang="it-IT" b="0" i="1" smtClean="0">
                              <a:latin typeface="Cambria Math" panose="02040503050406030204" pitchFamily="18" charset="0"/>
                            </a:rPr>
                            <m:t>𝑐𝑜𝑟𝑟𝑒𝑛𝑡</m:t>
                          </m:r>
                          <m:r>
                            <a:rPr lang="it-IT" b="0" i="1" smtClean="0">
                              <a:latin typeface="Cambria Math" panose="02040503050406030204" pitchFamily="18" charset="0"/>
                            </a:rPr>
                            <m:t> </m:t>
                          </m:r>
                          <m:r>
                            <a:rPr lang="it-IT" b="0" i="1" smtClean="0">
                              <a:latin typeface="Cambria Math" panose="02040503050406030204" pitchFamily="18" charset="0"/>
                            </a:rPr>
                            <m:t>h𝑢𝑚𝑎𝑛</m:t>
                          </m:r>
                          <m:r>
                            <a:rPr lang="it-IT" b="0" i="1" smtClean="0">
                              <a:latin typeface="Cambria Math" panose="02040503050406030204" pitchFamily="18" charset="0"/>
                            </a:rPr>
                            <m:t> </m:t>
                          </m:r>
                          <m:r>
                            <a:rPr lang="it-IT" b="0" i="1" smtClean="0">
                              <a:latin typeface="Cambria Math" panose="02040503050406030204" pitchFamily="18" charset="0"/>
                            </a:rPr>
                            <m:t>𝑝𝑟𝑒𝑓𝑒𝑟𝑒𝑛𝑐𝑒</m:t>
                          </m:r>
                          <m:r>
                            <a:rPr lang="it-IT" b="0" i="1" smtClean="0">
                              <a:latin typeface="Cambria Math" panose="02040503050406030204" pitchFamily="18" charset="0"/>
                            </a:rPr>
                            <m:t> </m:t>
                          </m:r>
                          <m:r>
                            <a:rPr lang="it-IT" b="0" i="1" smtClean="0">
                              <a:latin typeface="Cambria Math" panose="02040503050406030204" pitchFamily="18" charset="0"/>
                            </a:rPr>
                            <m:t>𝑝𝑟𝑒𝑑𝑖𝑐𝑡𝑖𝑜𝑛𝑠</m:t>
                          </m:r>
                        </m:num>
                        <m:den>
                          <m:r>
                            <a:rPr lang="it-IT" b="0" i="1" smtClean="0">
                              <a:latin typeface="Cambria Math" panose="02040503050406030204" pitchFamily="18" charset="0"/>
                            </a:rPr>
                            <m:t>𝑡𝑜𝑡𝑎𝑙</m:t>
                          </m:r>
                          <m:r>
                            <a:rPr lang="it-IT" b="0" i="1" smtClean="0">
                              <a:latin typeface="Cambria Math" panose="02040503050406030204" pitchFamily="18" charset="0"/>
                            </a:rPr>
                            <m:t> </m:t>
                          </m:r>
                          <m:r>
                            <a:rPr lang="it-IT" b="0" i="1" smtClean="0">
                              <a:latin typeface="Cambria Math" panose="02040503050406030204" pitchFamily="18" charset="0"/>
                            </a:rPr>
                            <m:t>𝑐𝑜𝑚𝑝𝑎𝑟𝑖𝑠𝑖𝑜𝑛</m:t>
                          </m:r>
                        </m:den>
                      </m:f>
                    </m:oMath>
                  </m:oMathPara>
                </a14:m>
                <a:endParaRPr lang="it-IT" dirty="0"/>
              </a:p>
            </p:txBody>
          </p:sp>
        </mc:Choice>
        <mc:Fallback xmlns="">
          <p:sp>
            <p:nvSpPr>
              <p:cNvPr id="17" name="CasellaDiTesto 16">
                <a:extLst>
                  <a:ext uri="{FF2B5EF4-FFF2-40B4-BE49-F238E27FC236}">
                    <a16:creationId xmlns:a16="http://schemas.microsoft.com/office/drawing/2014/main" id="{53A6A8AE-ED78-DFF5-1A18-5DB8E2DCDDA0}"/>
                  </a:ext>
                </a:extLst>
              </p:cNvPr>
              <p:cNvSpPr txBox="1">
                <a:spLocks noRot="1" noChangeAspect="1" noMove="1" noResize="1" noEditPoints="1" noAdjustHandles="1" noChangeArrowheads="1" noChangeShapeType="1" noTextEdit="1"/>
              </p:cNvSpPr>
              <p:nvPr/>
            </p:nvSpPr>
            <p:spPr>
              <a:xfrm>
                <a:off x="6515100" y="3036211"/>
                <a:ext cx="4963602" cy="573234"/>
              </a:xfrm>
              <a:prstGeom prst="rect">
                <a:avLst/>
              </a:prstGeom>
              <a:blipFill>
                <a:blip r:embed="rId7"/>
                <a:stretch>
                  <a:fillRect/>
                </a:stretch>
              </a:blipFill>
            </p:spPr>
            <p:txBody>
              <a:bodyPr/>
              <a:lstStyle/>
              <a:p>
                <a:r>
                  <a:rPr lang="it-IT">
                    <a:noFill/>
                  </a:rPr>
                  <a:t> </a:t>
                </a:r>
              </a:p>
            </p:txBody>
          </p:sp>
        </mc:Fallback>
      </mc:AlternateContent>
      <p:sp>
        <p:nvSpPr>
          <p:cNvPr id="19" name="CasellaDiTesto 18">
            <a:extLst>
              <a:ext uri="{FF2B5EF4-FFF2-40B4-BE49-F238E27FC236}">
                <a16:creationId xmlns:a16="http://schemas.microsoft.com/office/drawing/2014/main" id="{E91D6593-9D91-36A8-8E60-DA83D2E39FA4}"/>
              </a:ext>
            </a:extLst>
          </p:cNvPr>
          <p:cNvSpPr txBox="1"/>
          <p:nvPr/>
        </p:nvSpPr>
        <p:spPr>
          <a:xfrm>
            <a:off x="7225145" y="4197925"/>
            <a:ext cx="6848762" cy="923330"/>
          </a:xfrm>
          <a:prstGeom prst="rect">
            <a:avLst/>
          </a:prstGeom>
          <a:noFill/>
        </p:spPr>
        <p:txBody>
          <a:bodyPr wrap="square">
            <a:spAutoFit/>
          </a:bodyPr>
          <a:lstStyle/>
          <a:p>
            <a:r>
              <a:rPr lang="en-US" b="1" dirty="0"/>
              <a:t>Training:</a:t>
            </a:r>
            <a:r>
              <a:rPr lang="en-US" dirty="0"/>
              <a:t> 50% of train split</a:t>
            </a:r>
            <a:br>
              <a:rPr lang="en-US" dirty="0"/>
            </a:br>
            <a:r>
              <a:rPr lang="en-US" b="1" dirty="0"/>
              <a:t>Validation:</a:t>
            </a:r>
            <a:r>
              <a:rPr lang="en-US" dirty="0"/>
              <a:t> 50% of validation split</a:t>
            </a:r>
            <a:br>
              <a:rPr lang="en-US" dirty="0"/>
            </a:br>
            <a:r>
              <a:rPr lang="en-US" b="1" dirty="0"/>
              <a:t>Test:</a:t>
            </a:r>
            <a:r>
              <a:rPr lang="en-US" dirty="0"/>
              <a:t> full filtered test split</a:t>
            </a:r>
            <a:endParaRPr lang="it-IT" dirty="0"/>
          </a:p>
        </p:txBody>
      </p:sp>
    </p:spTree>
    <p:extLst>
      <p:ext uri="{BB962C8B-B14F-4D97-AF65-F5344CB8AC3E}">
        <p14:creationId xmlns:p14="http://schemas.microsoft.com/office/powerpoint/2010/main" val="2504187359"/>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8BB28-9E49-F428-5C66-501446FAD7CA}"/>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E591C1FD-122B-6874-03FC-04F953484719}"/>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3201932E-C157-B849-E433-5A05F2C2849E}"/>
              </a:ext>
            </a:extLst>
          </p:cNvPr>
          <p:cNvSpPr>
            <a:spLocks noGrp="1"/>
          </p:cNvSpPr>
          <p:nvPr>
            <p:ph type="sldNum" sz="quarter" idx="12"/>
          </p:nvPr>
        </p:nvSpPr>
        <p:spPr>
          <a:xfrm>
            <a:off x="0" y="6311901"/>
            <a:ext cx="838200" cy="546099"/>
          </a:xfrm>
        </p:spPr>
        <p:txBody>
          <a:bodyPr/>
          <a:lstStyle/>
          <a:p>
            <a:r>
              <a:rPr lang="en-US" dirty="0"/>
              <a:t>4/9</a:t>
            </a:r>
          </a:p>
        </p:txBody>
      </p:sp>
      <p:sp>
        <p:nvSpPr>
          <p:cNvPr id="4" name="TextBox 3">
            <a:extLst>
              <a:ext uri="{FF2B5EF4-FFF2-40B4-BE49-F238E27FC236}">
                <a16:creationId xmlns:a16="http://schemas.microsoft.com/office/drawing/2014/main" id="{90FF8DF4-9F6F-32E7-D372-85B139CB97E8}"/>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DreamSim-like Perceptual Similarity Pipeline</a:t>
            </a:r>
          </a:p>
        </p:txBody>
      </p:sp>
      <p:sp>
        <p:nvSpPr>
          <p:cNvPr id="3" name="Footer Placeholder 2">
            <a:extLst>
              <a:ext uri="{FF2B5EF4-FFF2-40B4-BE49-F238E27FC236}">
                <a16:creationId xmlns:a16="http://schemas.microsoft.com/office/drawing/2014/main" id="{ED7CDE1B-3EA6-C0D7-2339-F65602E94E0C}"/>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pic>
        <p:nvPicPr>
          <p:cNvPr id="17" name="Immagine 16">
            <a:extLst>
              <a:ext uri="{FF2B5EF4-FFF2-40B4-BE49-F238E27FC236}">
                <a16:creationId xmlns:a16="http://schemas.microsoft.com/office/drawing/2014/main" id="{E4B381E0-2F0A-C2C2-7619-80CA17E6C5EC}"/>
              </a:ext>
            </a:extLst>
          </p:cNvPr>
          <p:cNvPicPr>
            <a:picLocks noChangeAspect="1"/>
          </p:cNvPicPr>
          <p:nvPr/>
        </p:nvPicPr>
        <p:blipFill>
          <a:blip r:embed="rId4">
            <a:extLst>
              <a:ext uri="{28A0092B-C50C-407E-A947-70E740481C1C}">
                <a14:useLocalDpi xmlns:a14="http://schemas.microsoft.com/office/drawing/2010/main" val="0"/>
              </a:ext>
            </a:extLst>
          </a:blip>
          <a:srcRect t="32330" b="30152"/>
          <a:stretch>
            <a:fillRect/>
          </a:stretch>
        </p:blipFill>
        <p:spPr>
          <a:xfrm>
            <a:off x="598144" y="1444707"/>
            <a:ext cx="10727228" cy="2265103"/>
          </a:xfrm>
          <a:prstGeom prst="rect">
            <a:avLst/>
          </a:prstGeom>
        </p:spPr>
      </p:pic>
      <p:sp>
        <p:nvSpPr>
          <p:cNvPr id="20" name="CasellaDiTesto 19">
            <a:extLst>
              <a:ext uri="{FF2B5EF4-FFF2-40B4-BE49-F238E27FC236}">
                <a16:creationId xmlns:a16="http://schemas.microsoft.com/office/drawing/2014/main" id="{5782E409-BCEC-4335-D841-E836DB064B47}"/>
              </a:ext>
            </a:extLst>
          </p:cNvPr>
          <p:cNvSpPr txBox="1"/>
          <p:nvPr/>
        </p:nvSpPr>
        <p:spPr>
          <a:xfrm>
            <a:off x="523054" y="3970102"/>
            <a:ext cx="5872061" cy="369332"/>
          </a:xfrm>
          <a:prstGeom prst="rect">
            <a:avLst/>
          </a:prstGeom>
          <a:noFill/>
        </p:spPr>
        <p:txBody>
          <a:bodyPr wrap="square">
            <a:spAutoFit/>
          </a:bodyPr>
          <a:lstStyle/>
          <a:p>
            <a:pPr algn="ctr"/>
            <a:r>
              <a:rPr lang="it-IT" b="1" dirty="0" err="1">
                <a:solidFill>
                  <a:schemeClr val="tx2"/>
                </a:solidFill>
              </a:rPr>
              <a:t>What</a:t>
            </a:r>
            <a:r>
              <a:rPr lang="it-IT" b="1" dirty="0">
                <a:solidFill>
                  <a:schemeClr val="tx2"/>
                </a:solidFill>
              </a:rPr>
              <a:t> </a:t>
            </a:r>
            <a:r>
              <a:rPr lang="it-IT" b="1" dirty="0" err="1">
                <a:solidFill>
                  <a:schemeClr val="tx2"/>
                </a:solidFill>
              </a:rPr>
              <a:t>we</a:t>
            </a:r>
            <a:r>
              <a:rPr lang="it-IT" b="1" dirty="0">
                <a:solidFill>
                  <a:schemeClr val="tx2"/>
                </a:solidFill>
              </a:rPr>
              <a:t> </a:t>
            </a:r>
            <a:r>
              <a:rPr lang="it-IT" b="1" dirty="0" err="1">
                <a:solidFill>
                  <a:schemeClr val="tx2"/>
                </a:solidFill>
              </a:rPr>
              <a:t>tested</a:t>
            </a:r>
            <a:r>
              <a:rPr lang="it-IT" b="1" dirty="0">
                <a:solidFill>
                  <a:schemeClr val="tx2"/>
                </a:solidFill>
              </a:rPr>
              <a:t>?</a:t>
            </a:r>
          </a:p>
        </p:txBody>
      </p:sp>
      <p:sp>
        <p:nvSpPr>
          <p:cNvPr id="21" name="CasellaDiTesto 20">
            <a:extLst>
              <a:ext uri="{FF2B5EF4-FFF2-40B4-BE49-F238E27FC236}">
                <a16:creationId xmlns:a16="http://schemas.microsoft.com/office/drawing/2014/main" id="{0BCF0979-87B1-4F20-F6C6-FCC5E4FDF993}"/>
              </a:ext>
            </a:extLst>
          </p:cNvPr>
          <p:cNvSpPr txBox="1"/>
          <p:nvPr/>
        </p:nvSpPr>
        <p:spPr>
          <a:xfrm>
            <a:off x="598144" y="4514638"/>
            <a:ext cx="5796973" cy="1200329"/>
          </a:xfrm>
          <a:prstGeom prst="rect">
            <a:avLst/>
          </a:prstGeom>
          <a:noFill/>
        </p:spPr>
        <p:txBody>
          <a:bodyPr wrap="square">
            <a:spAutoFit/>
          </a:bodyPr>
          <a:lstStyle/>
          <a:p>
            <a:r>
              <a:rPr lang="it-IT" b="1" dirty="0"/>
              <a:t>Baseline</a:t>
            </a:r>
            <a:r>
              <a:rPr lang="it-IT" dirty="0"/>
              <a:t> 	</a:t>
            </a:r>
            <a:r>
              <a:rPr lang="it-IT" dirty="0">
                <a:solidFill>
                  <a:schemeClr val="tx2"/>
                </a:solidFill>
              </a:rPr>
              <a:t>→	</a:t>
            </a:r>
            <a:r>
              <a:rPr lang="it-IT" dirty="0"/>
              <a:t>Standard Self-</a:t>
            </a:r>
            <a:r>
              <a:rPr lang="it-IT" dirty="0" err="1"/>
              <a:t>Attention</a:t>
            </a:r>
            <a:r>
              <a:rPr lang="it-IT" dirty="0"/>
              <a:t>  </a:t>
            </a:r>
            <a:endParaRPr lang="it-IT" dirty="0">
              <a:solidFill>
                <a:schemeClr val="tx2"/>
              </a:solidFill>
            </a:endParaRPr>
          </a:p>
          <a:p>
            <a:r>
              <a:rPr lang="it-IT" b="1" dirty="0"/>
              <a:t>SRA</a:t>
            </a:r>
            <a:r>
              <a:rPr lang="it-IT" dirty="0"/>
              <a:t>		</a:t>
            </a:r>
            <a:r>
              <a:rPr lang="it-IT" dirty="0">
                <a:solidFill>
                  <a:schemeClr val="tx2"/>
                </a:solidFill>
              </a:rPr>
              <a:t>→</a:t>
            </a:r>
            <a:r>
              <a:rPr lang="it-IT" dirty="0"/>
              <a:t> 	</a:t>
            </a:r>
            <a:r>
              <a:rPr lang="it-IT" dirty="0" err="1"/>
              <a:t>Spatial</a:t>
            </a:r>
            <a:r>
              <a:rPr lang="it-IT" dirty="0"/>
              <a:t> </a:t>
            </a:r>
            <a:r>
              <a:rPr lang="it-IT" dirty="0" err="1"/>
              <a:t>Reduction</a:t>
            </a:r>
            <a:r>
              <a:rPr lang="it-IT" dirty="0"/>
              <a:t> </a:t>
            </a:r>
            <a:r>
              <a:rPr lang="it-IT" dirty="0" err="1"/>
              <a:t>Attention</a:t>
            </a:r>
            <a:br>
              <a:rPr lang="it-IT" dirty="0"/>
            </a:br>
            <a:r>
              <a:rPr lang="it-IT" b="1" dirty="0" err="1"/>
              <a:t>MetaFormer</a:t>
            </a:r>
            <a:r>
              <a:rPr lang="it-IT" dirty="0"/>
              <a:t>	</a:t>
            </a:r>
            <a:r>
              <a:rPr lang="it-IT" dirty="0">
                <a:solidFill>
                  <a:schemeClr val="tx2"/>
                </a:solidFill>
              </a:rPr>
              <a:t>→</a:t>
            </a:r>
            <a:r>
              <a:rPr lang="it-IT" dirty="0"/>
              <a:t> 	Pooling Token Mixer</a:t>
            </a:r>
            <a:br>
              <a:rPr lang="it-IT" dirty="0"/>
            </a:br>
            <a:r>
              <a:rPr lang="it-IT" b="1" dirty="0" err="1"/>
              <a:t>MoH</a:t>
            </a:r>
            <a:r>
              <a:rPr lang="it-IT" dirty="0">
                <a:solidFill>
                  <a:schemeClr val="tx2"/>
                </a:solidFill>
              </a:rPr>
              <a:t> 		→</a:t>
            </a:r>
            <a:r>
              <a:rPr lang="it-IT" dirty="0"/>
              <a:t> 	</a:t>
            </a:r>
            <a:r>
              <a:rPr lang="it-IT" dirty="0" err="1"/>
              <a:t>Mixture</a:t>
            </a:r>
            <a:r>
              <a:rPr lang="it-IT" dirty="0"/>
              <a:t>-of-Heads</a:t>
            </a:r>
            <a:endParaRPr lang="it-IT" dirty="0">
              <a:solidFill>
                <a:schemeClr val="tx2"/>
              </a:solidFill>
            </a:endParaRPr>
          </a:p>
        </p:txBody>
      </p:sp>
      <p:sp>
        <p:nvSpPr>
          <p:cNvPr id="28" name="CasellaDiTesto 27">
            <a:extLst>
              <a:ext uri="{FF2B5EF4-FFF2-40B4-BE49-F238E27FC236}">
                <a16:creationId xmlns:a16="http://schemas.microsoft.com/office/drawing/2014/main" id="{78B1603C-8DFF-F8C2-2225-418F4604BF2B}"/>
              </a:ext>
            </a:extLst>
          </p:cNvPr>
          <p:cNvSpPr txBox="1"/>
          <p:nvPr/>
        </p:nvSpPr>
        <p:spPr>
          <a:xfrm>
            <a:off x="6742650" y="4733360"/>
            <a:ext cx="4486454" cy="646331"/>
          </a:xfrm>
          <a:prstGeom prst="rect">
            <a:avLst/>
          </a:prstGeom>
          <a:noFill/>
        </p:spPr>
        <p:txBody>
          <a:bodyPr wrap="square">
            <a:spAutoFit/>
          </a:bodyPr>
          <a:lstStyle/>
          <a:p>
            <a:r>
              <a:rPr lang="it-IT" b="1" dirty="0"/>
              <a:t>Full	</a:t>
            </a:r>
            <a:r>
              <a:rPr lang="it-IT" dirty="0">
                <a:solidFill>
                  <a:schemeClr val="tx2"/>
                </a:solidFill>
              </a:rPr>
              <a:t> →</a:t>
            </a:r>
            <a:r>
              <a:rPr lang="it-IT" b="1" dirty="0"/>
              <a:t> 	</a:t>
            </a:r>
            <a:r>
              <a:rPr lang="it-IT" dirty="0" err="1"/>
              <a:t>Blocks</a:t>
            </a:r>
            <a:r>
              <a:rPr lang="it-IT" dirty="0"/>
              <a:t> 0-11 </a:t>
            </a:r>
            <a:r>
              <a:rPr lang="it-IT" dirty="0" err="1"/>
              <a:t>replaced</a:t>
            </a:r>
            <a:endParaRPr lang="it-IT" dirty="0"/>
          </a:p>
          <a:p>
            <a:r>
              <a:rPr lang="it-IT" b="1" dirty="0"/>
              <a:t>HALF	 </a:t>
            </a:r>
            <a:r>
              <a:rPr lang="it-IT" dirty="0">
                <a:solidFill>
                  <a:schemeClr val="tx2"/>
                </a:solidFill>
              </a:rPr>
              <a:t>→</a:t>
            </a:r>
            <a:r>
              <a:rPr lang="it-IT" b="1" dirty="0"/>
              <a:t> 	</a:t>
            </a:r>
            <a:r>
              <a:rPr lang="it-IT" dirty="0" err="1"/>
              <a:t>Blocks</a:t>
            </a:r>
            <a:r>
              <a:rPr lang="it-IT" dirty="0"/>
              <a:t> 6-11 </a:t>
            </a:r>
            <a:r>
              <a:rPr lang="it-IT" dirty="0" err="1"/>
              <a:t>replaced</a:t>
            </a:r>
            <a:endParaRPr lang="it-IT" b="1" dirty="0"/>
          </a:p>
        </p:txBody>
      </p:sp>
      <p:cxnSp>
        <p:nvCxnSpPr>
          <p:cNvPr id="30" name="Connettore diritto 29">
            <a:extLst>
              <a:ext uri="{FF2B5EF4-FFF2-40B4-BE49-F238E27FC236}">
                <a16:creationId xmlns:a16="http://schemas.microsoft.com/office/drawing/2014/main" id="{80B3DB6B-648F-C678-753A-863CED8DC29D}"/>
              </a:ext>
            </a:extLst>
          </p:cNvPr>
          <p:cNvCxnSpPr>
            <a:cxnSpLocks/>
          </p:cNvCxnSpPr>
          <p:nvPr/>
        </p:nvCxnSpPr>
        <p:spPr>
          <a:xfrm flipV="1">
            <a:off x="6374508" y="4073770"/>
            <a:ext cx="1" cy="1901143"/>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 name="Connettore diritto 1">
            <a:extLst>
              <a:ext uri="{FF2B5EF4-FFF2-40B4-BE49-F238E27FC236}">
                <a16:creationId xmlns:a16="http://schemas.microsoft.com/office/drawing/2014/main" id="{3818CAD7-09EC-B7DB-5A58-24EC21F05E09}"/>
              </a:ext>
            </a:extLst>
          </p:cNvPr>
          <p:cNvCxnSpPr>
            <a:cxnSpLocks/>
          </p:cNvCxnSpPr>
          <p:nvPr/>
        </p:nvCxnSpPr>
        <p:spPr>
          <a:xfrm>
            <a:off x="523054" y="3709810"/>
            <a:ext cx="11145892"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CasellaDiTesto 9">
            <a:extLst>
              <a:ext uri="{FF2B5EF4-FFF2-40B4-BE49-F238E27FC236}">
                <a16:creationId xmlns:a16="http://schemas.microsoft.com/office/drawing/2014/main" id="{B8AEB78A-75EF-97D8-0A16-62723D36017A}"/>
              </a:ext>
            </a:extLst>
          </p:cNvPr>
          <p:cNvSpPr txBox="1"/>
          <p:nvPr/>
        </p:nvSpPr>
        <p:spPr>
          <a:xfrm>
            <a:off x="6407903" y="3982566"/>
            <a:ext cx="5872061" cy="369332"/>
          </a:xfrm>
          <a:prstGeom prst="rect">
            <a:avLst/>
          </a:prstGeom>
          <a:noFill/>
        </p:spPr>
        <p:txBody>
          <a:bodyPr wrap="square">
            <a:spAutoFit/>
          </a:bodyPr>
          <a:lstStyle/>
          <a:p>
            <a:pPr algn="ctr"/>
            <a:r>
              <a:rPr lang="it-IT" b="1" dirty="0">
                <a:solidFill>
                  <a:schemeClr val="tx2"/>
                </a:solidFill>
              </a:rPr>
              <a:t>How </a:t>
            </a:r>
            <a:r>
              <a:rPr lang="it-IT" b="1" dirty="0" err="1">
                <a:solidFill>
                  <a:schemeClr val="tx2"/>
                </a:solidFill>
              </a:rPr>
              <a:t>we</a:t>
            </a:r>
            <a:r>
              <a:rPr lang="it-IT" b="1" dirty="0">
                <a:solidFill>
                  <a:schemeClr val="tx2"/>
                </a:solidFill>
              </a:rPr>
              <a:t> </a:t>
            </a:r>
            <a:r>
              <a:rPr lang="it-IT" b="1" dirty="0" err="1">
                <a:solidFill>
                  <a:schemeClr val="tx2"/>
                </a:solidFill>
              </a:rPr>
              <a:t>tested</a:t>
            </a:r>
            <a:r>
              <a:rPr lang="it-IT" b="1" dirty="0">
                <a:solidFill>
                  <a:schemeClr val="tx2"/>
                </a:solidFill>
              </a:rPr>
              <a:t>?</a:t>
            </a:r>
          </a:p>
        </p:txBody>
      </p:sp>
    </p:spTree>
    <p:extLst>
      <p:ext uri="{BB962C8B-B14F-4D97-AF65-F5344CB8AC3E}">
        <p14:creationId xmlns:p14="http://schemas.microsoft.com/office/powerpoint/2010/main" val="3614022418"/>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C903C-1828-110F-8192-C5C99CA7FEAA}"/>
            </a:ext>
          </a:extLst>
        </p:cNvPr>
        <p:cNvGrpSpPr/>
        <p:nvPr/>
      </p:nvGrpSpPr>
      <p:grpSpPr>
        <a:xfrm>
          <a:off x="0" y="0"/>
          <a:ext cx="0" cy="0"/>
          <a:chOff x="0" y="0"/>
          <a:chExt cx="0" cy="0"/>
        </a:xfrm>
      </p:grpSpPr>
      <p:sp>
        <p:nvSpPr>
          <p:cNvPr id="21" name="Rectangle: Rounded Corners 13">
            <a:extLst>
              <a:ext uri="{FF2B5EF4-FFF2-40B4-BE49-F238E27FC236}">
                <a16:creationId xmlns:a16="http://schemas.microsoft.com/office/drawing/2014/main" id="{FF7376E5-6CBA-F738-AC8D-D42E26387760}"/>
              </a:ext>
            </a:extLst>
          </p:cNvPr>
          <p:cNvSpPr/>
          <p:nvPr/>
        </p:nvSpPr>
        <p:spPr>
          <a:xfrm>
            <a:off x="7764584" y="4191448"/>
            <a:ext cx="4114073" cy="958645"/>
          </a:xfrm>
          <a:prstGeom prst="roundRect">
            <a:avLst/>
          </a:pr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b="1" dirty="0"/>
          </a:p>
        </p:txBody>
      </p:sp>
      <p:pic>
        <p:nvPicPr>
          <p:cNvPr id="5" name="Picture 4" descr="A picture containing logo, symbol, emblem, graphics&#10;&#10;Description automatically generated">
            <a:extLst>
              <a:ext uri="{FF2B5EF4-FFF2-40B4-BE49-F238E27FC236}">
                <a16:creationId xmlns:a16="http://schemas.microsoft.com/office/drawing/2014/main" id="{35222CC5-A4F4-449F-A9FB-7DC2269EDF63}"/>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8C9B20BC-2C28-EB7C-B7FB-05FA7D1AF168}"/>
              </a:ext>
            </a:extLst>
          </p:cNvPr>
          <p:cNvSpPr>
            <a:spLocks noGrp="1"/>
          </p:cNvSpPr>
          <p:nvPr>
            <p:ph type="sldNum" sz="quarter" idx="12"/>
          </p:nvPr>
        </p:nvSpPr>
        <p:spPr>
          <a:xfrm>
            <a:off x="0" y="6311901"/>
            <a:ext cx="838200" cy="546099"/>
          </a:xfrm>
        </p:spPr>
        <p:txBody>
          <a:bodyPr/>
          <a:lstStyle/>
          <a:p>
            <a:r>
              <a:rPr lang="en-US" dirty="0"/>
              <a:t>5/9</a:t>
            </a:r>
          </a:p>
        </p:txBody>
      </p:sp>
      <p:sp>
        <p:nvSpPr>
          <p:cNvPr id="4" name="TextBox 3">
            <a:extLst>
              <a:ext uri="{FF2B5EF4-FFF2-40B4-BE49-F238E27FC236}">
                <a16:creationId xmlns:a16="http://schemas.microsoft.com/office/drawing/2014/main" id="{2CA6C225-12AE-4AD6-F504-FAAF83572DDD}"/>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Spatial Reduction Attention — PVT-inspired</a:t>
            </a:r>
          </a:p>
        </p:txBody>
      </p:sp>
      <p:sp>
        <p:nvSpPr>
          <p:cNvPr id="3" name="Footer Placeholder 2">
            <a:extLst>
              <a:ext uri="{FF2B5EF4-FFF2-40B4-BE49-F238E27FC236}">
                <a16:creationId xmlns:a16="http://schemas.microsoft.com/office/drawing/2014/main" id="{32EB1BFD-B754-CF6A-3288-5F9D18BE571C}"/>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sp>
        <p:nvSpPr>
          <p:cNvPr id="7" name="CasellaDiTesto 6">
            <a:extLst>
              <a:ext uri="{FF2B5EF4-FFF2-40B4-BE49-F238E27FC236}">
                <a16:creationId xmlns:a16="http://schemas.microsoft.com/office/drawing/2014/main" id="{7A5C4634-519E-2963-391B-02148250D880}"/>
              </a:ext>
            </a:extLst>
          </p:cNvPr>
          <p:cNvSpPr txBox="1"/>
          <p:nvPr/>
        </p:nvSpPr>
        <p:spPr>
          <a:xfrm>
            <a:off x="1066800" y="1867335"/>
            <a:ext cx="2370975" cy="369332"/>
          </a:xfrm>
          <a:prstGeom prst="rect">
            <a:avLst/>
          </a:prstGeom>
          <a:noFill/>
        </p:spPr>
        <p:txBody>
          <a:bodyPr wrap="square">
            <a:spAutoFit/>
          </a:bodyPr>
          <a:lstStyle/>
          <a:p>
            <a:pPr algn="just"/>
            <a:r>
              <a:rPr lang="it-IT" b="1" dirty="0">
                <a:solidFill>
                  <a:schemeClr val="tx2"/>
                </a:solidFill>
              </a:rPr>
              <a:t>Standard </a:t>
            </a:r>
            <a:r>
              <a:rPr lang="it-IT" b="1" dirty="0" err="1">
                <a:solidFill>
                  <a:schemeClr val="tx2"/>
                </a:solidFill>
              </a:rPr>
              <a:t>Attention</a:t>
            </a:r>
            <a:endParaRPr lang="en-US" dirty="0">
              <a:solidFill>
                <a:schemeClr val="tx2"/>
              </a:solidFill>
            </a:endParaRPr>
          </a:p>
        </p:txBody>
      </p:sp>
      <p:sp>
        <p:nvSpPr>
          <p:cNvPr id="8" name="CasellaDiTesto 7">
            <a:extLst>
              <a:ext uri="{FF2B5EF4-FFF2-40B4-BE49-F238E27FC236}">
                <a16:creationId xmlns:a16="http://schemas.microsoft.com/office/drawing/2014/main" id="{DB607B6A-7B09-3774-0B83-5A13DB1523D3}"/>
              </a:ext>
            </a:extLst>
          </p:cNvPr>
          <p:cNvSpPr txBox="1"/>
          <p:nvPr/>
        </p:nvSpPr>
        <p:spPr>
          <a:xfrm>
            <a:off x="1066800" y="2339644"/>
            <a:ext cx="1899920" cy="923330"/>
          </a:xfrm>
          <a:prstGeom prst="rect">
            <a:avLst/>
          </a:prstGeom>
          <a:noFill/>
        </p:spPr>
        <p:txBody>
          <a:bodyPr wrap="square">
            <a:spAutoFit/>
          </a:bodyPr>
          <a:lstStyle/>
          <a:p>
            <a:pPr algn="r"/>
            <a:r>
              <a:rPr lang="it-IT" b="1" dirty="0"/>
              <a:t>Q</a:t>
            </a:r>
            <a:r>
              <a:rPr lang="it-IT" dirty="0"/>
              <a:t> : 197 tokens</a:t>
            </a:r>
          </a:p>
          <a:p>
            <a:pPr algn="r"/>
            <a:r>
              <a:rPr lang="it-IT" b="1" dirty="0"/>
              <a:t>K</a:t>
            </a:r>
            <a:r>
              <a:rPr lang="it-IT" dirty="0"/>
              <a:t> : 197 tokens</a:t>
            </a:r>
          </a:p>
          <a:p>
            <a:pPr algn="r"/>
            <a:r>
              <a:rPr lang="it-IT" b="1" dirty="0"/>
              <a:t>V</a:t>
            </a:r>
            <a:r>
              <a:rPr lang="it-IT" dirty="0"/>
              <a:t> : 197 tokens</a:t>
            </a:r>
          </a:p>
        </p:txBody>
      </p:sp>
      <mc:AlternateContent xmlns:mc="http://schemas.openxmlformats.org/markup-compatibility/2006" xmlns:a14="http://schemas.microsoft.com/office/drawing/2010/main">
        <mc:Choice Requires="a14">
          <p:sp>
            <p:nvSpPr>
              <p:cNvPr id="10" name="CasellaDiTesto 9">
                <a:extLst>
                  <a:ext uri="{FF2B5EF4-FFF2-40B4-BE49-F238E27FC236}">
                    <a16:creationId xmlns:a16="http://schemas.microsoft.com/office/drawing/2014/main" id="{3ECA4772-C18B-D103-05E8-BE19DD012073}"/>
                  </a:ext>
                </a:extLst>
              </p:cNvPr>
              <p:cNvSpPr txBox="1"/>
              <p:nvPr/>
            </p:nvSpPr>
            <p:spPr>
              <a:xfrm>
                <a:off x="692009" y="3595027"/>
                <a:ext cx="3202423" cy="90512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𝑀</m:t>
                          </m:r>
                        </m:e>
                        <m:sub>
                          <m:r>
                            <a:rPr lang="it-IT" b="0" i="1" smtClean="0">
                              <a:latin typeface="Cambria Math" panose="02040503050406030204" pitchFamily="18" charset="0"/>
                            </a:rPr>
                            <m:t>𝐴</m:t>
                          </m:r>
                        </m:sub>
                      </m:sSub>
                      <m:r>
                        <a:rPr lang="it-IT" b="0" i="1" smtClean="0">
                          <a:latin typeface="Cambria Math" panose="02040503050406030204" pitchFamily="18" charset="0"/>
                        </a:rPr>
                        <m:t>=</m:t>
                      </m:r>
                      <m:r>
                        <a:rPr lang="it-IT" b="0" i="1" smtClean="0">
                          <a:latin typeface="Cambria Math" panose="02040503050406030204" pitchFamily="18" charset="0"/>
                        </a:rPr>
                        <m:t>𝑠𝑜𝑓𝑡𝑚𝑎𝑥</m:t>
                      </m:r>
                      <m:d>
                        <m:dPr>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sSup>
                                <m:sSupPr>
                                  <m:ctrlPr>
                                    <a:rPr lang="it-IT" b="0" i="1" smtClean="0">
                                      <a:latin typeface="Cambria Math" panose="02040503050406030204" pitchFamily="18" charset="0"/>
                                    </a:rPr>
                                  </m:ctrlPr>
                                </m:sSupPr>
                                <m:e>
                                  <m:r>
                                    <a:rPr lang="it-IT" b="0" i="1" smtClean="0">
                                      <a:latin typeface="Cambria Math" panose="02040503050406030204" pitchFamily="18" charset="0"/>
                                    </a:rPr>
                                    <m:t>𝑄𝐾</m:t>
                                  </m:r>
                                </m:e>
                                <m:sup>
                                  <m:r>
                                    <a:rPr lang="it-IT" b="0" i="1" smtClean="0">
                                      <a:latin typeface="Cambria Math" panose="02040503050406030204" pitchFamily="18" charset="0"/>
                                    </a:rPr>
                                    <m:t>𝑇</m:t>
                                  </m:r>
                                </m:sup>
                              </m:sSup>
                            </m:num>
                            <m:den>
                              <m:rad>
                                <m:radPr>
                                  <m:degHide m:val="on"/>
                                  <m:ctrlPr>
                                    <a:rPr lang="it-IT" b="0" i="1" smtClean="0">
                                      <a:latin typeface="Cambria Math" panose="02040503050406030204" pitchFamily="18" charset="0"/>
                                    </a:rPr>
                                  </m:ctrlPr>
                                </m:radPr>
                                <m:deg/>
                                <m:e>
                                  <m:r>
                                    <a:rPr lang="it-IT" b="0" i="1" smtClean="0">
                                      <a:latin typeface="Cambria Math" panose="02040503050406030204" pitchFamily="18" charset="0"/>
                                    </a:rPr>
                                    <m:t>𝑑</m:t>
                                  </m:r>
                                </m:e>
                              </m:rad>
                            </m:den>
                          </m:f>
                        </m:e>
                      </m:d>
                      <m:r>
                        <a:rPr lang="it-IT" b="0" i="1" smtClean="0">
                          <a:latin typeface="Cambria Math" panose="02040503050406030204" pitchFamily="18" charset="0"/>
                        </a:rPr>
                        <m:t>𝑉</m:t>
                      </m:r>
                      <m:r>
                        <a:rPr lang="it-IT" b="0" i="1" smtClean="0">
                          <a:latin typeface="Cambria Math" panose="02040503050406030204" pitchFamily="18" charset="0"/>
                        </a:rPr>
                        <m:t>=197 ×197 </m:t>
                      </m:r>
                      <m:r>
                        <a:rPr lang="it-IT" b="0" i="1" smtClean="0">
                          <a:latin typeface="Cambria Math" panose="02040503050406030204" pitchFamily="18" charset="0"/>
                        </a:rPr>
                        <m:t>𝑑𝑖𝑚</m:t>
                      </m:r>
                    </m:oMath>
                  </m:oMathPara>
                </a14:m>
                <a:endParaRPr lang="it-IT" dirty="0"/>
              </a:p>
            </p:txBody>
          </p:sp>
        </mc:Choice>
        <mc:Fallback xmlns="">
          <p:sp>
            <p:nvSpPr>
              <p:cNvPr id="10" name="CasellaDiTesto 9">
                <a:extLst>
                  <a:ext uri="{FF2B5EF4-FFF2-40B4-BE49-F238E27FC236}">
                    <a16:creationId xmlns:a16="http://schemas.microsoft.com/office/drawing/2014/main" id="{3ECA4772-C18B-D103-05E8-BE19DD012073}"/>
                  </a:ext>
                </a:extLst>
              </p:cNvPr>
              <p:cNvSpPr txBox="1">
                <a:spLocks noRot="1" noChangeAspect="1" noMove="1" noResize="1" noEditPoints="1" noAdjustHandles="1" noChangeArrowheads="1" noChangeShapeType="1" noTextEdit="1"/>
              </p:cNvSpPr>
              <p:nvPr/>
            </p:nvSpPr>
            <p:spPr>
              <a:xfrm>
                <a:off x="692009" y="3595027"/>
                <a:ext cx="3202423" cy="905120"/>
              </a:xfrm>
              <a:prstGeom prst="rect">
                <a:avLst/>
              </a:prstGeom>
              <a:blipFill>
                <a:blip r:embed="rId4"/>
                <a:stretch>
                  <a:fillRect b="-3378"/>
                </a:stretch>
              </a:blipFill>
            </p:spPr>
            <p:txBody>
              <a:bodyPr/>
              <a:lstStyle/>
              <a:p>
                <a:r>
                  <a:rPr lang="it-IT">
                    <a:noFill/>
                  </a:rPr>
                  <a:t> </a:t>
                </a:r>
              </a:p>
            </p:txBody>
          </p:sp>
        </mc:Fallback>
      </mc:AlternateContent>
      <p:sp>
        <p:nvSpPr>
          <p:cNvPr id="11" name="CasellaDiTesto 10">
            <a:extLst>
              <a:ext uri="{FF2B5EF4-FFF2-40B4-BE49-F238E27FC236}">
                <a16:creationId xmlns:a16="http://schemas.microsoft.com/office/drawing/2014/main" id="{9EE905FF-2B0B-1CF5-0A60-4A07424AA41D}"/>
              </a:ext>
            </a:extLst>
          </p:cNvPr>
          <p:cNvSpPr txBox="1"/>
          <p:nvPr/>
        </p:nvSpPr>
        <p:spPr>
          <a:xfrm>
            <a:off x="4713352" y="1862130"/>
            <a:ext cx="2370975" cy="369332"/>
          </a:xfrm>
          <a:prstGeom prst="rect">
            <a:avLst/>
          </a:prstGeom>
          <a:noFill/>
        </p:spPr>
        <p:txBody>
          <a:bodyPr wrap="square">
            <a:spAutoFit/>
          </a:bodyPr>
          <a:lstStyle/>
          <a:p>
            <a:pPr algn="just"/>
            <a:r>
              <a:rPr lang="it-IT" b="1" dirty="0">
                <a:solidFill>
                  <a:schemeClr val="tx2"/>
                </a:solidFill>
              </a:rPr>
              <a:t>SRA (</a:t>
            </a:r>
            <a:r>
              <a:rPr lang="it-IT" b="1" dirty="0" err="1">
                <a:solidFill>
                  <a:schemeClr val="tx2"/>
                </a:solidFill>
              </a:rPr>
              <a:t>sr_ratio</a:t>
            </a:r>
            <a:r>
              <a:rPr lang="it-IT" b="1" dirty="0">
                <a:solidFill>
                  <a:schemeClr val="tx2"/>
                </a:solidFill>
              </a:rPr>
              <a:t> = 2)</a:t>
            </a:r>
            <a:endParaRPr lang="en-US" dirty="0">
              <a:solidFill>
                <a:schemeClr val="tx2"/>
              </a:solidFill>
            </a:endParaRPr>
          </a:p>
        </p:txBody>
      </p:sp>
      <p:sp>
        <p:nvSpPr>
          <p:cNvPr id="12" name="CasellaDiTesto 11">
            <a:extLst>
              <a:ext uri="{FF2B5EF4-FFF2-40B4-BE49-F238E27FC236}">
                <a16:creationId xmlns:a16="http://schemas.microsoft.com/office/drawing/2014/main" id="{89978ED5-674B-04ED-BB94-2DC346BF547B}"/>
              </a:ext>
            </a:extLst>
          </p:cNvPr>
          <p:cNvSpPr txBox="1"/>
          <p:nvPr/>
        </p:nvSpPr>
        <p:spPr>
          <a:xfrm>
            <a:off x="4713352" y="2277615"/>
            <a:ext cx="5474588" cy="369332"/>
          </a:xfrm>
          <a:prstGeom prst="rect">
            <a:avLst/>
          </a:prstGeom>
          <a:noFill/>
        </p:spPr>
        <p:txBody>
          <a:bodyPr wrap="square">
            <a:spAutoFit/>
          </a:bodyPr>
          <a:lstStyle/>
          <a:p>
            <a:r>
              <a:rPr lang="it-IT" b="1" dirty="0"/>
              <a:t>Q</a:t>
            </a:r>
            <a:r>
              <a:rPr lang="it-IT" dirty="0"/>
              <a:t> : 197 tokens</a:t>
            </a:r>
          </a:p>
        </p:txBody>
      </p:sp>
      <p:cxnSp>
        <p:nvCxnSpPr>
          <p:cNvPr id="14" name="Connettore diritto 13">
            <a:extLst>
              <a:ext uri="{FF2B5EF4-FFF2-40B4-BE49-F238E27FC236}">
                <a16:creationId xmlns:a16="http://schemas.microsoft.com/office/drawing/2014/main" id="{852C8574-7BA7-0C4B-5275-90EE7FD7DE42}"/>
              </a:ext>
            </a:extLst>
          </p:cNvPr>
          <p:cNvCxnSpPr/>
          <p:nvPr/>
        </p:nvCxnSpPr>
        <p:spPr>
          <a:xfrm>
            <a:off x="4233061" y="1843594"/>
            <a:ext cx="0" cy="3411881"/>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0" name="CasellaDiTesto 19">
            <a:extLst>
              <a:ext uri="{FF2B5EF4-FFF2-40B4-BE49-F238E27FC236}">
                <a16:creationId xmlns:a16="http://schemas.microsoft.com/office/drawing/2014/main" id="{D58184E7-4FE0-0517-4A02-DE057E458C60}"/>
              </a:ext>
            </a:extLst>
          </p:cNvPr>
          <p:cNvSpPr txBox="1"/>
          <p:nvPr/>
        </p:nvSpPr>
        <p:spPr>
          <a:xfrm>
            <a:off x="7988736" y="4325831"/>
            <a:ext cx="4281383" cy="646331"/>
          </a:xfrm>
          <a:prstGeom prst="rect">
            <a:avLst/>
          </a:prstGeom>
          <a:noFill/>
        </p:spPr>
        <p:txBody>
          <a:bodyPr wrap="square">
            <a:spAutoFit/>
          </a:bodyPr>
          <a:lstStyle/>
          <a:p>
            <a:r>
              <a:rPr lang="en-US" dirty="0">
                <a:solidFill>
                  <a:schemeClr val="bg1"/>
                </a:solidFill>
              </a:rPr>
              <a:t>Reduce K/V spatial resolution while preserving full-resolution queries</a:t>
            </a:r>
            <a:endParaRPr lang="it-IT" dirty="0">
              <a:solidFill>
                <a:schemeClr val="bg1"/>
              </a:solidFill>
            </a:endParaRPr>
          </a:p>
        </p:txBody>
      </p:sp>
      <p:sp>
        <p:nvSpPr>
          <p:cNvPr id="2" name="Rettangolo con angoli arrotondati 1">
            <a:extLst>
              <a:ext uri="{FF2B5EF4-FFF2-40B4-BE49-F238E27FC236}">
                <a16:creationId xmlns:a16="http://schemas.microsoft.com/office/drawing/2014/main" id="{8B6002E2-96FD-D3AE-75F3-27192BBD9FF6}"/>
              </a:ext>
            </a:extLst>
          </p:cNvPr>
          <p:cNvSpPr/>
          <p:nvPr/>
        </p:nvSpPr>
        <p:spPr>
          <a:xfrm>
            <a:off x="4789320" y="2792694"/>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dirty="0">
                <a:solidFill>
                  <a:schemeClr val="tx1"/>
                </a:solidFill>
              </a:rPr>
              <a:t>K,V </a:t>
            </a:r>
            <a:r>
              <a:rPr lang="it-IT" dirty="0">
                <a:solidFill>
                  <a:schemeClr val="tx1"/>
                </a:solidFill>
              </a:rPr>
              <a:t>= 14x14 patches</a:t>
            </a:r>
          </a:p>
        </p:txBody>
      </p:sp>
      <p:sp>
        <p:nvSpPr>
          <p:cNvPr id="9" name="Rettangolo con angoli arrotondati 8">
            <a:extLst>
              <a:ext uri="{FF2B5EF4-FFF2-40B4-BE49-F238E27FC236}">
                <a16:creationId xmlns:a16="http://schemas.microsoft.com/office/drawing/2014/main" id="{3106ECE9-C55A-E861-8E1D-ED5100E051AC}"/>
              </a:ext>
            </a:extLst>
          </p:cNvPr>
          <p:cNvSpPr/>
          <p:nvPr/>
        </p:nvSpPr>
        <p:spPr>
          <a:xfrm>
            <a:off x="4789320" y="3741606"/>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i="1" dirty="0" err="1">
                <a:solidFill>
                  <a:schemeClr val="tx1"/>
                </a:solidFill>
              </a:rPr>
              <a:t>Spatial</a:t>
            </a:r>
            <a:r>
              <a:rPr lang="it-IT" i="1" dirty="0">
                <a:solidFill>
                  <a:schemeClr val="tx1"/>
                </a:solidFill>
              </a:rPr>
              <a:t> </a:t>
            </a:r>
            <a:r>
              <a:rPr lang="it-IT" i="1" dirty="0" err="1">
                <a:solidFill>
                  <a:schemeClr val="tx1"/>
                </a:solidFill>
              </a:rPr>
              <a:t>reduction</a:t>
            </a:r>
            <a:r>
              <a:rPr lang="it-IT" i="1" dirty="0">
                <a:solidFill>
                  <a:schemeClr val="tx1"/>
                </a:solidFill>
              </a:rPr>
              <a:t> </a:t>
            </a:r>
            <a:r>
              <a:rPr lang="it-IT" dirty="0">
                <a:solidFill>
                  <a:schemeClr val="tx1"/>
                </a:solidFill>
              </a:rPr>
              <a:t>7x7 patches</a:t>
            </a:r>
          </a:p>
        </p:txBody>
      </p:sp>
      <p:sp>
        <p:nvSpPr>
          <p:cNvPr id="13" name="Rettangolo con angoli arrotondati 12">
            <a:extLst>
              <a:ext uri="{FF2B5EF4-FFF2-40B4-BE49-F238E27FC236}">
                <a16:creationId xmlns:a16="http://schemas.microsoft.com/office/drawing/2014/main" id="{3EAC61CA-EBE9-204E-4F29-C658A77EF8DD}"/>
              </a:ext>
            </a:extLst>
          </p:cNvPr>
          <p:cNvSpPr/>
          <p:nvPr/>
        </p:nvSpPr>
        <p:spPr>
          <a:xfrm>
            <a:off x="4789320" y="4690518"/>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b="1" dirty="0">
                <a:solidFill>
                  <a:schemeClr val="tx2"/>
                </a:solidFill>
              </a:rPr>
              <a:t>K,V</a:t>
            </a:r>
            <a:r>
              <a:rPr lang="it-IT" dirty="0">
                <a:solidFill>
                  <a:schemeClr val="tx1"/>
                </a:solidFill>
              </a:rPr>
              <a:t>= 50 tokens (49+CLS)</a:t>
            </a:r>
          </a:p>
        </p:txBody>
      </p:sp>
      <p:cxnSp>
        <p:nvCxnSpPr>
          <p:cNvPr id="15" name="Connettore 2 14">
            <a:extLst>
              <a:ext uri="{FF2B5EF4-FFF2-40B4-BE49-F238E27FC236}">
                <a16:creationId xmlns:a16="http://schemas.microsoft.com/office/drawing/2014/main" id="{A554A15D-E973-4F00-EFB8-B10A42D90DB0}"/>
              </a:ext>
            </a:extLst>
          </p:cNvPr>
          <p:cNvCxnSpPr>
            <a:stCxn id="2" idx="2"/>
            <a:endCxn id="9" idx="0"/>
          </p:cNvCxnSpPr>
          <p:nvPr/>
        </p:nvCxnSpPr>
        <p:spPr>
          <a:xfrm>
            <a:off x="5974807" y="3429292"/>
            <a:ext cx="0" cy="312314"/>
          </a:xfrm>
          <a:prstGeom prst="straightConnector1">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ttore 2 15">
            <a:extLst>
              <a:ext uri="{FF2B5EF4-FFF2-40B4-BE49-F238E27FC236}">
                <a16:creationId xmlns:a16="http://schemas.microsoft.com/office/drawing/2014/main" id="{E7D47370-AB87-0A3B-1E3B-A173C41F310E}"/>
              </a:ext>
            </a:extLst>
          </p:cNvPr>
          <p:cNvCxnSpPr/>
          <p:nvPr/>
        </p:nvCxnSpPr>
        <p:spPr>
          <a:xfrm>
            <a:off x="5974807" y="4378204"/>
            <a:ext cx="0" cy="312314"/>
          </a:xfrm>
          <a:prstGeom prst="straightConnector1">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CasellaDiTesto 16">
                <a:extLst>
                  <a:ext uri="{FF2B5EF4-FFF2-40B4-BE49-F238E27FC236}">
                    <a16:creationId xmlns:a16="http://schemas.microsoft.com/office/drawing/2014/main" id="{354EA6FB-C812-B820-B357-FF79E3F62FB5}"/>
                  </a:ext>
                </a:extLst>
              </p:cNvPr>
              <p:cNvSpPr txBox="1"/>
              <p:nvPr/>
            </p:nvSpPr>
            <p:spPr>
              <a:xfrm>
                <a:off x="7583896" y="3169497"/>
                <a:ext cx="4475447" cy="6281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𝑀</m:t>
                          </m:r>
                        </m:e>
                        <m:sub>
                          <m:r>
                            <a:rPr lang="it-IT" b="0" i="1" smtClean="0">
                              <a:latin typeface="Cambria Math" panose="02040503050406030204" pitchFamily="18" charset="0"/>
                            </a:rPr>
                            <m:t>𝐴</m:t>
                          </m:r>
                        </m:sub>
                      </m:sSub>
                      <m:r>
                        <a:rPr lang="it-IT" b="0" i="1" smtClean="0">
                          <a:latin typeface="Cambria Math" panose="02040503050406030204" pitchFamily="18" charset="0"/>
                        </a:rPr>
                        <m:t>=</m:t>
                      </m:r>
                      <m:r>
                        <a:rPr lang="it-IT" b="0" i="1" smtClean="0">
                          <a:latin typeface="Cambria Math" panose="02040503050406030204" pitchFamily="18" charset="0"/>
                        </a:rPr>
                        <m:t>𝑠𝑜𝑓𝑡𝑚𝑎𝑥</m:t>
                      </m:r>
                      <m:d>
                        <m:dPr>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sSup>
                                <m:sSupPr>
                                  <m:ctrlPr>
                                    <a:rPr lang="it-IT" b="0" i="1" smtClean="0">
                                      <a:latin typeface="Cambria Math" panose="02040503050406030204" pitchFamily="18" charset="0"/>
                                    </a:rPr>
                                  </m:ctrlPr>
                                </m:sSupPr>
                                <m:e>
                                  <m:r>
                                    <a:rPr lang="it-IT" b="0" i="1" smtClean="0">
                                      <a:latin typeface="Cambria Math" panose="02040503050406030204" pitchFamily="18" charset="0"/>
                                    </a:rPr>
                                    <m:t>𝑄𝐾</m:t>
                                  </m:r>
                                </m:e>
                                <m:sup>
                                  <m:r>
                                    <a:rPr lang="it-IT" b="0" i="1" smtClean="0">
                                      <a:latin typeface="Cambria Math" panose="02040503050406030204" pitchFamily="18" charset="0"/>
                                    </a:rPr>
                                    <m:t>𝑇</m:t>
                                  </m:r>
                                </m:sup>
                              </m:sSup>
                            </m:num>
                            <m:den>
                              <m:rad>
                                <m:radPr>
                                  <m:degHide m:val="on"/>
                                  <m:ctrlPr>
                                    <a:rPr lang="it-IT" b="0" i="1" smtClean="0">
                                      <a:latin typeface="Cambria Math" panose="02040503050406030204" pitchFamily="18" charset="0"/>
                                    </a:rPr>
                                  </m:ctrlPr>
                                </m:radPr>
                                <m:deg/>
                                <m:e>
                                  <m:r>
                                    <a:rPr lang="it-IT" b="0" i="1" smtClean="0">
                                      <a:latin typeface="Cambria Math" panose="02040503050406030204" pitchFamily="18" charset="0"/>
                                    </a:rPr>
                                    <m:t>𝑑</m:t>
                                  </m:r>
                                </m:e>
                              </m:rad>
                            </m:den>
                          </m:f>
                        </m:e>
                      </m:d>
                      <m:r>
                        <a:rPr lang="it-IT" b="0" i="1" smtClean="0">
                          <a:latin typeface="Cambria Math" panose="02040503050406030204" pitchFamily="18" charset="0"/>
                        </a:rPr>
                        <m:t>𝑉</m:t>
                      </m:r>
                      <m:r>
                        <a:rPr lang="it-IT" b="0" i="1" smtClean="0">
                          <a:latin typeface="Cambria Math" panose="02040503050406030204" pitchFamily="18" charset="0"/>
                        </a:rPr>
                        <m:t>=197 ×50 </m:t>
                      </m:r>
                      <m:r>
                        <a:rPr lang="it-IT" b="0" i="1" smtClean="0">
                          <a:latin typeface="Cambria Math" panose="02040503050406030204" pitchFamily="18" charset="0"/>
                        </a:rPr>
                        <m:t>𝑑𝑖𝑚</m:t>
                      </m:r>
                    </m:oMath>
                  </m:oMathPara>
                </a14:m>
                <a:endParaRPr lang="it-IT" dirty="0"/>
              </a:p>
            </p:txBody>
          </p:sp>
        </mc:Choice>
        <mc:Fallback xmlns="">
          <p:sp>
            <p:nvSpPr>
              <p:cNvPr id="17" name="CasellaDiTesto 16">
                <a:extLst>
                  <a:ext uri="{FF2B5EF4-FFF2-40B4-BE49-F238E27FC236}">
                    <a16:creationId xmlns:a16="http://schemas.microsoft.com/office/drawing/2014/main" id="{354EA6FB-C812-B820-B357-FF79E3F62FB5}"/>
                  </a:ext>
                </a:extLst>
              </p:cNvPr>
              <p:cNvSpPr txBox="1">
                <a:spLocks noRot="1" noChangeAspect="1" noMove="1" noResize="1" noEditPoints="1" noAdjustHandles="1" noChangeArrowheads="1" noChangeShapeType="1" noTextEdit="1"/>
              </p:cNvSpPr>
              <p:nvPr/>
            </p:nvSpPr>
            <p:spPr>
              <a:xfrm>
                <a:off x="7583896" y="3169497"/>
                <a:ext cx="4475447" cy="628121"/>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524540886"/>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D8147-FC64-B48B-A7DC-F5557F80B119}"/>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36451BD7-451B-B27F-D3B4-FA219B4196C0}"/>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05948D18-E781-E584-C520-E305ABD398F7}"/>
              </a:ext>
            </a:extLst>
          </p:cNvPr>
          <p:cNvSpPr>
            <a:spLocks noGrp="1"/>
          </p:cNvSpPr>
          <p:nvPr>
            <p:ph type="sldNum" sz="quarter" idx="12"/>
          </p:nvPr>
        </p:nvSpPr>
        <p:spPr>
          <a:xfrm>
            <a:off x="0" y="6311901"/>
            <a:ext cx="838200" cy="546099"/>
          </a:xfrm>
        </p:spPr>
        <p:txBody>
          <a:bodyPr/>
          <a:lstStyle/>
          <a:p>
            <a:r>
              <a:rPr lang="en-US" dirty="0"/>
              <a:t>6/9</a:t>
            </a:r>
          </a:p>
        </p:txBody>
      </p:sp>
      <p:sp>
        <p:nvSpPr>
          <p:cNvPr id="4" name="TextBox 3">
            <a:extLst>
              <a:ext uri="{FF2B5EF4-FFF2-40B4-BE49-F238E27FC236}">
                <a16:creationId xmlns:a16="http://schemas.microsoft.com/office/drawing/2014/main" id="{53FBD56D-304D-D21B-03B3-8AE1ADF6C510}"/>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Alternative Efficient </a:t>
            </a:r>
            <a:r>
              <a:rPr lang="en-US" sz="3200" b="1">
                <a:ln w="0"/>
                <a:solidFill>
                  <a:schemeClr val="tx2"/>
                </a:solidFill>
              </a:rPr>
              <a:t>Token Mixings</a:t>
            </a:r>
            <a:endParaRPr lang="en-US" sz="3200" b="1" dirty="0">
              <a:ln w="0"/>
              <a:solidFill>
                <a:schemeClr val="tx2"/>
              </a:solidFill>
            </a:endParaRPr>
          </a:p>
        </p:txBody>
      </p:sp>
      <p:sp>
        <p:nvSpPr>
          <p:cNvPr id="3" name="Footer Placeholder 2">
            <a:extLst>
              <a:ext uri="{FF2B5EF4-FFF2-40B4-BE49-F238E27FC236}">
                <a16:creationId xmlns:a16="http://schemas.microsoft.com/office/drawing/2014/main" id="{11F3C00F-1C11-DDC9-A8C3-C1F59F29FA59}"/>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sp>
        <p:nvSpPr>
          <p:cNvPr id="7" name="CasellaDiTesto 6">
            <a:extLst>
              <a:ext uri="{FF2B5EF4-FFF2-40B4-BE49-F238E27FC236}">
                <a16:creationId xmlns:a16="http://schemas.microsoft.com/office/drawing/2014/main" id="{401A7D8A-D81B-582A-351D-6966112A34EB}"/>
              </a:ext>
            </a:extLst>
          </p:cNvPr>
          <p:cNvSpPr txBox="1"/>
          <p:nvPr/>
        </p:nvSpPr>
        <p:spPr>
          <a:xfrm>
            <a:off x="807378" y="1801315"/>
            <a:ext cx="2370975" cy="369332"/>
          </a:xfrm>
          <a:prstGeom prst="rect">
            <a:avLst/>
          </a:prstGeom>
          <a:noFill/>
        </p:spPr>
        <p:txBody>
          <a:bodyPr wrap="square">
            <a:spAutoFit/>
          </a:bodyPr>
          <a:lstStyle/>
          <a:p>
            <a:pPr algn="just"/>
            <a:r>
              <a:rPr lang="it-IT" b="1" dirty="0" err="1">
                <a:solidFill>
                  <a:schemeClr val="tx2"/>
                </a:solidFill>
              </a:rPr>
              <a:t>MetaFormer</a:t>
            </a:r>
            <a:endParaRPr lang="en-US" dirty="0">
              <a:solidFill>
                <a:schemeClr val="tx2"/>
              </a:solidFill>
            </a:endParaRPr>
          </a:p>
        </p:txBody>
      </p:sp>
      <p:cxnSp>
        <p:nvCxnSpPr>
          <p:cNvPr id="14" name="Connettore diritto 13">
            <a:extLst>
              <a:ext uri="{FF2B5EF4-FFF2-40B4-BE49-F238E27FC236}">
                <a16:creationId xmlns:a16="http://schemas.microsoft.com/office/drawing/2014/main" id="{356FEA41-A564-F16D-9F83-CAB0FFDCAC36}"/>
              </a:ext>
            </a:extLst>
          </p:cNvPr>
          <p:cNvCxnSpPr/>
          <p:nvPr/>
        </p:nvCxnSpPr>
        <p:spPr>
          <a:xfrm>
            <a:off x="5642761" y="1801315"/>
            <a:ext cx="0" cy="3411881"/>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 name="Rettangolo con angoli arrotondati 1">
            <a:extLst>
              <a:ext uri="{FF2B5EF4-FFF2-40B4-BE49-F238E27FC236}">
                <a16:creationId xmlns:a16="http://schemas.microsoft.com/office/drawing/2014/main" id="{2EC1462E-AD61-E0AB-FF26-024A576EA2B0}"/>
              </a:ext>
            </a:extLst>
          </p:cNvPr>
          <p:cNvSpPr/>
          <p:nvPr/>
        </p:nvSpPr>
        <p:spPr>
          <a:xfrm>
            <a:off x="296838" y="2486799"/>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rPr>
              <a:t>Self-</a:t>
            </a:r>
            <a:r>
              <a:rPr lang="it-IT" dirty="0" err="1">
                <a:solidFill>
                  <a:schemeClr val="tx1"/>
                </a:solidFill>
              </a:rPr>
              <a:t>Attention</a:t>
            </a:r>
            <a:r>
              <a:rPr lang="it-IT" dirty="0">
                <a:solidFill>
                  <a:schemeClr val="tx1"/>
                </a:solidFill>
              </a:rPr>
              <a:t> </a:t>
            </a:r>
            <a:r>
              <a:rPr lang="it-IT" dirty="0" err="1">
                <a:solidFill>
                  <a:schemeClr val="tx1"/>
                </a:solidFill>
              </a:rPr>
              <a:t>removed</a:t>
            </a:r>
            <a:endParaRPr lang="it-IT" dirty="0">
              <a:solidFill>
                <a:schemeClr val="tx1"/>
              </a:solidFill>
            </a:endParaRPr>
          </a:p>
        </p:txBody>
      </p:sp>
      <p:sp>
        <p:nvSpPr>
          <p:cNvPr id="13" name="Rettangolo con angoli arrotondati 12">
            <a:extLst>
              <a:ext uri="{FF2B5EF4-FFF2-40B4-BE49-F238E27FC236}">
                <a16:creationId xmlns:a16="http://schemas.microsoft.com/office/drawing/2014/main" id="{5D687A6C-2EBB-F488-BDDF-02A556C66B82}"/>
              </a:ext>
            </a:extLst>
          </p:cNvPr>
          <p:cNvSpPr/>
          <p:nvPr/>
        </p:nvSpPr>
        <p:spPr>
          <a:xfrm>
            <a:off x="296838" y="3435711"/>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rPr>
              <a:t>3x3 </a:t>
            </a:r>
            <a:r>
              <a:rPr lang="it-IT" i="1" dirty="0" err="1">
                <a:solidFill>
                  <a:schemeClr val="tx1"/>
                </a:solidFill>
              </a:rPr>
              <a:t>Average</a:t>
            </a:r>
            <a:r>
              <a:rPr lang="it-IT" i="1" dirty="0">
                <a:solidFill>
                  <a:schemeClr val="tx1"/>
                </a:solidFill>
              </a:rPr>
              <a:t> Pooling</a:t>
            </a:r>
          </a:p>
        </p:txBody>
      </p:sp>
      <p:sp>
        <p:nvSpPr>
          <p:cNvPr id="15" name="Rettangolo con angoli arrotondati 14">
            <a:extLst>
              <a:ext uri="{FF2B5EF4-FFF2-40B4-BE49-F238E27FC236}">
                <a16:creationId xmlns:a16="http://schemas.microsoft.com/office/drawing/2014/main" id="{C1D5BA57-35B3-4ED6-232A-E020FD4A3ADA}"/>
              </a:ext>
            </a:extLst>
          </p:cNvPr>
          <p:cNvSpPr/>
          <p:nvPr/>
        </p:nvSpPr>
        <p:spPr>
          <a:xfrm>
            <a:off x="296838" y="4384623"/>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rPr>
              <a:t>Local Token Mixing</a:t>
            </a:r>
          </a:p>
        </p:txBody>
      </p:sp>
      <p:cxnSp>
        <p:nvCxnSpPr>
          <p:cNvPr id="17" name="Connettore 2 16">
            <a:extLst>
              <a:ext uri="{FF2B5EF4-FFF2-40B4-BE49-F238E27FC236}">
                <a16:creationId xmlns:a16="http://schemas.microsoft.com/office/drawing/2014/main" id="{4B4BD7FE-95E5-2C04-A815-996857189173}"/>
              </a:ext>
            </a:extLst>
          </p:cNvPr>
          <p:cNvCxnSpPr>
            <a:stCxn id="2" idx="2"/>
            <a:endCxn id="13" idx="0"/>
          </p:cNvCxnSpPr>
          <p:nvPr/>
        </p:nvCxnSpPr>
        <p:spPr>
          <a:xfrm>
            <a:off x="1482325" y="3123397"/>
            <a:ext cx="0" cy="312314"/>
          </a:xfrm>
          <a:prstGeom prst="straightConnector1">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ttore 2 18">
            <a:extLst>
              <a:ext uri="{FF2B5EF4-FFF2-40B4-BE49-F238E27FC236}">
                <a16:creationId xmlns:a16="http://schemas.microsoft.com/office/drawing/2014/main" id="{C08DEE12-F2AB-C627-6477-7B4FA17CE431}"/>
              </a:ext>
            </a:extLst>
          </p:cNvPr>
          <p:cNvCxnSpPr/>
          <p:nvPr/>
        </p:nvCxnSpPr>
        <p:spPr>
          <a:xfrm>
            <a:off x="1482325" y="4072309"/>
            <a:ext cx="0" cy="312314"/>
          </a:xfrm>
          <a:prstGeom prst="straightConnector1">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2" name="CasellaDiTesto 21">
            <a:extLst>
              <a:ext uri="{FF2B5EF4-FFF2-40B4-BE49-F238E27FC236}">
                <a16:creationId xmlns:a16="http://schemas.microsoft.com/office/drawing/2014/main" id="{96A20E1B-8716-1D1B-571C-EA6DC916AE39}"/>
              </a:ext>
            </a:extLst>
          </p:cNvPr>
          <p:cNvSpPr txBox="1"/>
          <p:nvPr/>
        </p:nvSpPr>
        <p:spPr>
          <a:xfrm>
            <a:off x="6244440" y="1808274"/>
            <a:ext cx="2370975" cy="369332"/>
          </a:xfrm>
          <a:prstGeom prst="rect">
            <a:avLst/>
          </a:prstGeom>
          <a:noFill/>
        </p:spPr>
        <p:txBody>
          <a:bodyPr wrap="square">
            <a:spAutoFit/>
          </a:bodyPr>
          <a:lstStyle/>
          <a:p>
            <a:pPr algn="just"/>
            <a:r>
              <a:rPr lang="it-IT" b="1" dirty="0" err="1">
                <a:solidFill>
                  <a:schemeClr val="tx2"/>
                </a:solidFill>
              </a:rPr>
              <a:t>Mixture</a:t>
            </a:r>
            <a:r>
              <a:rPr lang="it-IT" b="1" dirty="0">
                <a:solidFill>
                  <a:schemeClr val="tx2"/>
                </a:solidFill>
              </a:rPr>
              <a:t>-of-Heads</a:t>
            </a:r>
            <a:endParaRPr lang="en-US" dirty="0">
              <a:solidFill>
                <a:schemeClr val="tx2"/>
              </a:solidFill>
            </a:endParaRPr>
          </a:p>
        </p:txBody>
      </p:sp>
      <p:sp>
        <p:nvSpPr>
          <p:cNvPr id="23" name="Rettangolo con angoli arrotondati 22">
            <a:extLst>
              <a:ext uri="{FF2B5EF4-FFF2-40B4-BE49-F238E27FC236}">
                <a16:creationId xmlns:a16="http://schemas.microsoft.com/office/drawing/2014/main" id="{B64805AB-4D88-C8DC-AEC9-FD5F258E3CE2}"/>
              </a:ext>
            </a:extLst>
          </p:cNvPr>
          <p:cNvSpPr/>
          <p:nvPr/>
        </p:nvSpPr>
        <p:spPr>
          <a:xfrm>
            <a:off x="6244440" y="2486799"/>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rPr>
              <a:t>2 </a:t>
            </a:r>
            <a:r>
              <a:rPr lang="it-IT" dirty="0" err="1">
                <a:solidFill>
                  <a:schemeClr val="tx1"/>
                </a:solidFill>
              </a:rPr>
              <a:t>Shared</a:t>
            </a:r>
            <a:r>
              <a:rPr lang="it-IT" dirty="0">
                <a:solidFill>
                  <a:schemeClr val="tx1"/>
                </a:solidFill>
              </a:rPr>
              <a:t> heads</a:t>
            </a:r>
          </a:p>
          <a:p>
            <a:pPr algn="ctr"/>
            <a:r>
              <a:rPr lang="it-IT" dirty="0">
                <a:solidFill>
                  <a:schemeClr val="tx1"/>
                </a:solidFill>
              </a:rPr>
              <a:t>10 </a:t>
            </a:r>
            <a:r>
              <a:rPr lang="it-IT" dirty="0" err="1">
                <a:solidFill>
                  <a:schemeClr val="tx1"/>
                </a:solidFill>
              </a:rPr>
              <a:t>Routed</a:t>
            </a:r>
            <a:r>
              <a:rPr lang="it-IT" dirty="0">
                <a:solidFill>
                  <a:schemeClr val="tx1"/>
                </a:solidFill>
              </a:rPr>
              <a:t> heads</a:t>
            </a:r>
          </a:p>
        </p:txBody>
      </p:sp>
      <p:cxnSp>
        <p:nvCxnSpPr>
          <p:cNvPr id="26" name="Connettore 2 25">
            <a:extLst>
              <a:ext uri="{FF2B5EF4-FFF2-40B4-BE49-F238E27FC236}">
                <a16:creationId xmlns:a16="http://schemas.microsoft.com/office/drawing/2014/main" id="{B86135D4-5DF9-F1AF-ADFC-F18C7CBC36D0}"/>
              </a:ext>
            </a:extLst>
          </p:cNvPr>
          <p:cNvCxnSpPr>
            <a:cxnSpLocks/>
            <a:stCxn id="23" idx="2"/>
          </p:cNvCxnSpPr>
          <p:nvPr/>
        </p:nvCxnSpPr>
        <p:spPr>
          <a:xfrm>
            <a:off x="7429927" y="3123397"/>
            <a:ext cx="0" cy="312314"/>
          </a:xfrm>
          <a:prstGeom prst="straightConnector1">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CasellaDiTesto 27">
                <a:extLst>
                  <a:ext uri="{FF2B5EF4-FFF2-40B4-BE49-F238E27FC236}">
                    <a16:creationId xmlns:a16="http://schemas.microsoft.com/office/drawing/2014/main" id="{EF62E05D-03CF-E865-5A16-7965F384061A}"/>
                  </a:ext>
                </a:extLst>
              </p:cNvPr>
              <p:cNvSpPr txBox="1"/>
              <p:nvPr/>
            </p:nvSpPr>
            <p:spPr>
              <a:xfrm>
                <a:off x="2922209" y="2851603"/>
                <a:ext cx="2718256" cy="1754326"/>
              </a:xfrm>
              <a:prstGeom prst="rect">
                <a:avLst/>
              </a:prstGeom>
              <a:noFill/>
            </p:spPr>
            <p:txBody>
              <a:bodyPr wrap="square">
                <a:spAutoFit/>
              </a:bodyPr>
              <a:lstStyle/>
              <a:p>
                <a:pPr marL="285750" indent="-285750">
                  <a:buClr>
                    <a:schemeClr val="tx2"/>
                  </a:buClr>
                  <a:buFont typeface="Arial" panose="020B0604020202020204" pitchFamily="34" charset="0"/>
                  <a:buChar char="•"/>
                </a:pPr>
                <a:r>
                  <a:rPr lang="it-IT" b="1" dirty="0"/>
                  <a:t>No</a:t>
                </a:r>
                <a:r>
                  <a:rPr lang="it-IT" dirty="0"/>
                  <a:t> Q,K,V</a:t>
                </a:r>
              </a:p>
              <a:p>
                <a:pPr>
                  <a:buClr>
                    <a:schemeClr val="tx2"/>
                  </a:buClr>
                </a:pPr>
                <a:endParaRPr lang="it-IT" dirty="0"/>
              </a:p>
              <a:p>
                <a:pPr marL="285750" indent="-285750">
                  <a:buClr>
                    <a:schemeClr val="tx2"/>
                  </a:buClr>
                  <a:buFont typeface="Arial" panose="020B0604020202020204" pitchFamily="34" charset="0"/>
                  <a:buChar char="•"/>
                </a:pPr>
                <a:r>
                  <a:rPr lang="it-IT" dirty="0"/>
                  <a:t>Token mixer with 0 </a:t>
                </a:r>
                <a:r>
                  <a:rPr lang="it-IT" dirty="0" err="1"/>
                  <a:t>trainable</a:t>
                </a:r>
                <a:r>
                  <a:rPr lang="it-IT" dirty="0"/>
                  <a:t> </a:t>
                </a:r>
                <a:r>
                  <a:rPr lang="it-IT" dirty="0" err="1"/>
                  <a:t>parameters</a:t>
                </a:r>
                <a:endParaRPr lang="it-IT" dirty="0"/>
              </a:p>
              <a:p>
                <a:pPr marL="285750" indent="-285750">
                  <a:buClr>
                    <a:schemeClr val="tx2"/>
                  </a:buClr>
                  <a:buFont typeface="Arial" panose="020B0604020202020204" pitchFamily="34" charset="0"/>
                  <a:buChar char="•"/>
                </a:pPr>
                <a:endParaRPr lang="it-IT" dirty="0"/>
              </a:p>
              <a:p>
                <a:pPr marL="285750" indent="-285750">
                  <a:buClr>
                    <a:schemeClr val="tx2"/>
                  </a:buClr>
                  <a:buFont typeface="Arial" panose="020B0604020202020204" pitchFamily="34" charset="0"/>
                  <a:buChar char="•"/>
                </a:pPr>
                <a14:m>
                  <m:oMath xmlns:m="http://schemas.openxmlformats.org/officeDocument/2006/math">
                    <m:r>
                      <a:rPr lang="it-IT" b="0" i="1" smtClean="0">
                        <a:latin typeface="Cambria Math" panose="02040503050406030204" pitchFamily="18" charset="0"/>
                      </a:rPr>
                      <m:t>𝐴𝑣𝑔𝑃𝑜𝑜𝑙</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r>
                      <a:rPr lang="it-IT" b="0" i="1" smtClean="0">
                        <a:latin typeface="Cambria Math" panose="02040503050406030204" pitchFamily="18" charset="0"/>
                      </a:rPr>
                      <m:t>−</m:t>
                    </m:r>
                    <m:r>
                      <a:rPr lang="it-IT" b="0" i="1" smtClean="0">
                        <a:latin typeface="Cambria Math" panose="02040503050406030204" pitchFamily="18" charset="0"/>
                      </a:rPr>
                      <m:t>𝑥</m:t>
                    </m:r>
                  </m:oMath>
                </a14:m>
                <a:endParaRPr lang="en-US" dirty="0"/>
              </a:p>
            </p:txBody>
          </p:sp>
        </mc:Choice>
        <mc:Fallback xmlns="">
          <p:sp>
            <p:nvSpPr>
              <p:cNvPr id="28" name="CasellaDiTesto 27">
                <a:extLst>
                  <a:ext uri="{FF2B5EF4-FFF2-40B4-BE49-F238E27FC236}">
                    <a16:creationId xmlns:a16="http://schemas.microsoft.com/office/drawing/2014/main" id="{EF62E05D-03CF-E865-5A16-7965F384061A}"/>
                  </a:ext>
                </a:extLst>
              </p:cNvPr>
              <p:cNvSpPr txBox="1">
                <a:spLocks noRot="1" noChangeAspect="1" noMove="1" noResize="1" noEditPoints="1" noAdjustHandles="1" noChangeArrowheads="1" noChangeShapeType="1" noTextEdit="1"/>
              </p:cNvSpPr>
              <p:nvPr/>
            </p:nvSpPr>
            <p:spPr>
              <a:xfrm>
                <a:off x="2922209" y="2851603"/>
                <a:ext cx="2718256" cy="1754326"/>
              </a:xfrm>
              <a:prstGeom prst="rect">
                <a:avLst/>
              </a:prstGeom>
              <a:blipFill>
                <a:blip r:embed="rId4"/>
                <a:stretch>
                  <a:fillRect l="-1345" t="-2083" b="-3472"/>
                </a:stretch>
              </a:blipFill>
            </p:spPr>
            <p:txBody>
              <a:bodyPr/>
              <a:lstStyle/>
              <a:p>
                <a:r>
                  <a:rPr lang="it-IT">
                    <a:noFill/>
                  </a:rPr>
                  <a:t> </a:t>
                </a:r>
              </a:p>
            </p:txBody>
          </p:sp>
        </mc:Fallback>
      </mc:AlternateContent>
      <p:sp>
        <p:nvSpPr>
          <p:cNvPr id="31" name="Rettangolo con angoli arrotondati 30">
            <a:extLst>
              <a:ext uri="{FF2B5EF4-FFF2-40B4-BE49-F238E27FC236}">
                <a16:creationId xmlns:a16="http://schemas.microsoft.com/office/drawing/2014/main" id="{E5D837B8-8459-C18D-7190-2AA727221F21}"/>
              </a:ext>
            </a:extLst>
          </p:cNvPr>
          <p:cNvSpPr/>
          <p:nvPr/>
        </p:nvSpPr>
        <p:spPr>
          <a:xfrm>
            <a:off x="6244440" y="3441696"/>
            <a:ext cx="2370974" cy="636598"/>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i="1" dirty="0">
                <a:solidFill>
                  <a:schemeClr val="tx1"/>
                </a:solidFill>
              </a:rPr>
              <a:t>Top-k </a:t>
            </a:r>
            <a:r>
              <a:rPr lang="it-IT" i="1" dirty="0" err="1">
                <a:solidFill>
                  <a:schemeClr val="tx1"/>
                </a:solidFill>
              </a:rPr>
              <a:t>routing</a:t>
            </a:r>
            <a:endParaRPr lang="it-IT" i="1" dirty="0">
              <a:solidFill>
                <a:schemeClr val="tx1"/>
              </a:solidFill>
            </a:endParaRPr>
          </a:p>
        </p:txBody>
      </p:sp>
      <p:cxnSp>
        <p:nvCxnSpPr>
          <p:cNvPr id="32" name="Connettore 2 31">
            <a:extLst>
              <a:ext uri="{FF2B5EF4-FFF2-40B4-BE49-F238E27FC236}">
                <a16:creationId xmlns:a16="http://schemas.microsoft.com/office/drawing/2014/main" id="{6B534C39-9DEA-5FAA-0AEE-38BDF6640F43}"/>
              </a:ext>
            </a:extLst>
          </p:cNvPr>
          <p:cNvCxnSpPr>
            <a:cxnSpLocks/>
            <a:stCxn id="31" idx="2"/>
          </p:cNvCxnSpPr>
          <p:nvPr/>
        </p:nvCxnSpPr>
        <p:spPr>
          <a:xfrm>
            <a:off x="7429927" y="4078294"/>
            <a:ext cx="0" cy="312314"/>
          </a:xfrm>
          <a:prstGeom prst="straightConnector1">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5" name="Rettangolo con angoli arrotondati 34">
            <a:extLst>
              <a:ext uri="{FF2B5EF4-FFF2-40B4-BE49-F238E27FC236}">
                <a16:creationId xmlns:a16="http://schemas.microsoft.com/office/drawing/2014/main" id="{313C1800-8E16-337F-8EE1-65B0A3E76893}"/>
              </a:ext>
            </a:extLst>
          </p:cNvPr>
          <p:cNvSpPr/>
          <p:nvPr/>
        </p:nvSpPr>
        <p:spPr>
          <a:xfrm>
            <a:off x="6244440" y="4396592"/>
            <a:ext cx="2370974" cy="878541"/>
          </a:xfrm>
          <a:prstGeom prst="roundRect">
            <a:avLst/>
          </a:prstGeom>
          <a:no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it-IT" dirty="0">
                <a:solidFill>
                  <a:schemeClr val="tx1"/>
                </a:solidFill>
              </a:rPr>
              <a:t>2 </a:t>
            </a:r>
            <a:r>
              <a:rPr lang="it-IT" dirty="0" err="1">
                <a:solidFill>
                  <a:schemeClr val="tx1"/>
                </a:solidFill>
              </a:rPr>
              <a:t>shared</a:t>
            </a:r>
            <a:r>
              <a:rPr lang="it-IT" dirty="0">
                <a:solidFill>
                  <a:schemeClr val="tx1"/>
                </a:solidFill>
              </a:rPr>
              <a:t> + 4 </a:t>
            </a:r>
            <a:r>
              <a:rPr lang="it-IT" dirty="0" err="1">
                <a:solidFill>
                  <a:schemeClr val="tx1"/>
                </a:solidFill>
              </a:rPr>
              <a:t>routed</a:t>
            </a:r>
            <a:r>
              <a:rPr lang="it-IT" dirty="0">
                <a:solidFill>
                  <a:schemeClr val="tx1"/>
                </a:solidFill>
              </a:rPr>
              <a:t> = 6 </a:t>
            </a:r>
            <a:r>
              <a:rPr lang="it-IT" dirty="0" err="1">
                <a:solidFill>
                  <a:schemeClr val="tx1"/>
                </a:solidFill>
              </a:rPr>
              <a:t>active</a:t>
            </a:r>
            <a:r>
              <a:rPr lang="it-IT" dirty="0">
                <a:solidFill>
                  <a:schemeClr val="tx1"/>
                </a:solidFill>
              </a:rPr>
              <a:t> head</a:t>
            </a:r>
          </a:p>
        </p:txBody>
      </p:sp>
      <p:sp>
        <p:nvSpPr>
          <p:cNvPr id="39" name="CasellaDiTesto 38">
            <a:extLst>
              <a:ext uri="{FF2B5EF4-FFF2-40B4-BE49-F238E27FC236}">
                <a16:creationId xmlns:a16="http://schemas.microsoft.com/office/drawing/2014/main" id="{F11C1DB9-FF6B-6F7B-E431-298BAB5CFD69}"/>
              </a:ext>
            </a:extLst>
          </p:cNvPr>
          <p:cNvSpPr txBox="1"/>
          <p:nvPr/>
        </p:nvSpPr>
        <p:spPr>
          <a:xfrm>
            <a:off x="9158434" y="2805098"/>
            <a:ext cx="2718256" cy="2031325"/>
          </a:xfrm>
          <a:prstGeom prst="rect">
            <a:avLst/>
          </a:prstGeom>
          <a:noFill/>
        </p:spPr>
        <p:txBody>
          <a:bodyPr wrap="square">
            <a:spAutoFit/>
          </a:bodyPr>
          <a:lstStyle/>
          <a:p>
            <a:pPr marL="285750" indent="-285750">
              <a:buClr>
                <a:schemeClr val="tx2"/>
              </a:buClr>
              <a:buFont typeface="Arial" panose="020B0604020202020204" pitchFamily="34" charset="0"/>
              <a:buChar char="•"/>
            </a:pPr>
            <a:r>
              <a:rPr lang="it-IT" dirty="0"/>
              <a:t>Dynamic head </a:t>
            </a:r>
            <a:r>
              <a:rPr lang="it-IT" dirty="0" err="1"/>
              <a:t>routing</a:t>
            </a:r>
            <a:endParaRPr lang="it-IT" dirty="0"/>
          </a:p>
          <a:p>
            <a:pPr>
              <a:buClr>
                <a:schemeClr val="tx2"/>
              </a:buClr>
            </a:pPr>
            <a:endParaRPr lang="it-IT" dirty="0"/>
          </a:p>
          <a:p>
            <a:pPr marL="285750" indent="-285750">
              <a:buClr>
                <a:schemeClr val="tx2"/>
              </a:buClr>
              <a:buFont typeface="Arial" panose="020B0604020202020204" pitchFamily="34" charset="0"/>
              <a:buChar char="•"/>
            </a:pPr>
            <a:r>
              <a:rPr lang="it-IT" dirty="0"/>
              <a:t>Load-balancing </a:t>
            </a:r>
            <a:r>
              <a:rPr lang="it-IT" dirty="0" err="1"/>
              <a:t>auxillary</a:t>
            </a:r>
            <a:r>
              <a:rPr lang="it-IT" dirty="0"/>
              <a:t> </a:t>
            </a:r>
            <a:r>
              <a:rPr lang="it-IT" dirty="0" err="1"/>
              <a:t>loss</a:t>
            </a:r>
            <a:endParaRPr lang="it-IT" dirty="0"/>
          </a:p>
          <a:p>
            <a:pPr marL="285750" indent="-285750">
              <a:buClr>
                <a:schemeClr val="tx2"/>
              </a:buClr>
              <a:buFont typeface="Arial" panose="020B0604020202020204" pitchFamily="34" charset="0"/>
              <a:buChar char="•"/>
            </a:pPr>
            <a:endParaRPr lang="it-IT" dirty="0"/>
          </a:p>
          <a:p>
            <a:pPr marL="285750" indent="-285750">
              <a:buClr>
                <a:schemeClr val="tx2"/>
              </a:buClr>
              <a:buFont typeface="Arial" panose="020B0604020202020204" pitchFamily="34" charset="0"/>
              <a:buChar char="•"/>
            </a:pPr>
            <a:r>
              <a:rPr lang="it-IT" b="1" dirty="0" err="1"/>
              <a:t>Preserves</a:t>
            </a:r>
            <a:r>
              <a:rPr lang="it-IT" dirty="0"/>
              <a:t> </a:t>
            </a:r>
            <a:r>
              <a:rPr lang="it-IT" dirty="0" err="1"/>
              <a:t>pretrained</a:t>
            </a:r>
            <a:r>
              <a:rPr lang="it-IT" dirty="0"/>
              <a:t> DINO QKV</a:t>
            </a:r>
            <a:endParaRPr lang="en-US" dirty="0"/>
          </a:p>
        </p:txBody>
      </p:sp>
    </p:spTree>
    <p:extLst>
      <p:ext uri="{BB962C8B-B14F-4D97-AF65-F5344CB8AC3E}">
        <p14:creationId xmlns:p14="http://schemas.microsoft.com/office/powerpoint/2010/main" val="1910728273"/>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C6D8D-8A71-EDDD-49A2-833A46B1F467}"/>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9C6B458A-C218-8480-B9A4-869FFE505891}"/>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4EB12924-5868-C8ED-EB64-559390638DEA}"/>
              </a:ext>
            </a:extLst>
          </p:cNvPr>
          <p:cNvSpPr>
            <a:spLocks noGrp="1"/>
          </p:cNvSpPr>
          <p:nvPr>
            <p:ph type="sldNum" sz="quarter" idx="12"/>
          </p:nvPr>
        </p:nvSpPr>
        <p:spPr>
          <a:xfrm>
            <a:off x="0" y="6311901"/>
            <a:ext cx="838200" cy="546099"/>
          </a:xfrm>
        </p:spPr>
        <p:txBody>
          <a:bodyPr/>
          <a:lstStyle/>
          <a:p>
            <a:r>
              <a:rPr lang="en-US" dirty="0"/>
              <a:t>7/9</a:t>
            </a:r>
          </a:p>
        </p:txBody>
      </p:sp>
      <p:sp>
        <p:nvSpPr>
          <p:cNvPr id="4" name="TextBox 3">
            <a:extLst>
              <a:ext uri="{FF2B5EF4-FFF2-40B4-BE49-F238E27FC236}">
                <a16:creationId xmlns:a16="http://schemas.microsoft.com/office/drawing/2014/main" id="{D0721A96-1A35-C7E8-ED70-1D939A45BE7F}"/>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Training &amp; Perceptual Quality</a:t>
            </a:r>
          </a:p>
        </p:txBody>
      </p:sp>
      <p:sp>
        <p:nvSpPr>
          <p:cNvPr id="3" name="Footer Placeholder 2">
            <a:extLst>
              <a:ext uri="{FF2B5EF4-FFF2-40B4-BE49-F238E27FC236}">
                <a16:creationId xmlns:a16="http://schemas.microsoft.com/office/drawing/2014/main" id="{54F68986-126F-4082-534E-3CE706795842}"/>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graphicFrame>
        <p:nvGraphicFramePr>
          <p:cNvPr id="2" name="Tabella 1">
            <a:extLst>
              <a:ext uri="{FF2B5EF4-FFF2-40B4-BE49-F238E27FC236}">
                <a16:creationId xmlns:a16="http://schemas.microsoft.com/office/drawing/2014/main" id="{90EC0F0B-1BE2-77A1-C400-455A7723A976}"/>
              </a:ext>
            </a:extLst>
          </p:cNvPr>
          <p:cNvGraphicFramePr>
            <a:graphicFrameLocks noGrp="1"/>
          </p:cNvGraphicFramePr>
          <p:nvPr>
            <p:extLst>
              <p:ext uri="{D42A27DB-BD31-4B8C-83A1-F6EECF244321}">
                <p14:modId xmlns:p14="http://schemas.microsoft.com/office/powerpoint/2010/main" val="87465167"/>
              </p:ext>
            </p:extLst>
          </p:nvPr>
        </p:nvGraphicFramePr>
        <p:xfrm>
          <a:off x="200313" y="1736436"/>
          <a:ext cx="11791374" cy="3587170"/>
        </p:xfrm>
        <a:graphic>
          <a:graphicData uri="http://schemas.openxmlformats.org/drawingml/2006/table">
            <a:tbl>
              <a:tblPr firstRow="1" bandRow="1">
                <a:tableStyleId>{5C22544A-7EE6-4342-B048-85BDC9FD1C3A}</a:tableStyleId>
              </a:tblPr>
              <a:tblGrid>
                <a:gridCol w="2000082">
                  <a:extLst>
                    <a:ext uri="{9D8B030D-6E8A-4147-A177-3AD203B41FA5}">
                      <a16:colId xmlns:a16="http://schemas.microsoft.com/office/drawing/2014/main" val="4033746292"/>
                    </a:ext>
                  </a:extLst>
                </a:gridCol>
                <a:gridCol w="1937122">
                  <a:extLst>
                    <a:ext uri="{9D8B030D-6E8A-4147-A177-3AD203B41FA5}">
                      <a16:colId xmlns:a16="http://schemas.microsoft.com/office/drawing/2014/main" val="2712008121"/>
                    </a:ext>
                  </a:extLst>
                </a:gridCol>
                <a:gridCol w="1958483">
                  <a:extLst>
                    <a:ext uri="{9D8B030D-6E8A-4147-A177-3AD203B41FA5}">
                      <a16:colId xmlns:a16="http://schemas.microsoft.com/office/drawing/2014/main" val="1448741846"/>
                    </a:ext>
                  </a:extLst>
                </a:gridCol>
                <a:gridCol w="1965229">
                  <a:extLst>
                    <a:ext uri="{9D8B030D-6E8A-4147-A177-3AD203B41FA5}">
                      <a16:colId xmlns:a16="http://schemas.microsoft.com/office/drawing/2014/main" val="1724562111"/>
                    </a:ext>
                  </a:extLst>
                </a:gridCol>
                <a:gridCol w="1965229">
                  <a:extLst>
                    <a:ext uri="{9D8B030D-6E8A-4147-A177-3AD203B41FA5}">
                      <a16:colId xmlns:a16="http://schemas.microsoft.com/office/drawing/2014/main" val="2272232432"/>
                    </a:ext>
                  </a:extLst>
                </a:gridCol>
                <a:gridCol w="1965229">
                  <a:extLst>
                    <a:ext uri="{9D8B030D-6E8A-4147-A177-3AD203B41FA5}">
                      <a16:colId xmlns:a16="http://schemas.microsoft.com/office/drawing/2014/main" val="606407324"/>
                    </a:ext>
                  </a:extLst>
                </a:gridCol>
              </a:tblGrid>
              <a:tr h="393714">
                <a:tc>
                  <a:txBody>
                    <a:bodyPr/>
                    <a:lstStyle/>
                    <a:p>
                      <a:endParaRPr lang="it-IT"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it-IT"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algn="ctr"/>
                      <a:r>
                        <a:rPr lang="it-IT" dirty="0">
                          <a:solidFill>
                            <a:schemeClr val="tx1"/>
                          </a:solidFill>
                        </a:rPr>
                        <a:t>RTX 4070 SUPER 12GB VRAM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hMerge="1">
                  <a:txBody>
                    <a:bodyPr/>
                    <a:lstStyle/>
                    <a:p>
                      <a:endParaRPr lang="it-IT"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2">
                  <a:txBody>
                    <a:bodyPr/>
                    <a:lstStyle/>
                    <a:p>
                      <a:pPr algn="ctr"/>
                      <a:r>
                        <a:rPr lang="it-IT" dirty="0">
                          <a:solidFill>
                            <a:schemeClr val="tx1"/>
                          </a:solidFill>
                        </a:rPr>
                        <a:t>GTX 1060 6GB VRAM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hMerge="1">
                  <a:txBody>
                    <a:bodyPr/>
                    <a:lstStyle/>
                    <a:p>
                      <a:endParaRPr lang="it-IT" dirty="0">
                        <a:solidFill>
                          <a:schemeClr val="tx1"/>
                        </a:solidFill>
                      </a:endParaRPr>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04676682"/>
                  </a:ext>
                </a:extLst>
              </a:tr>
              <a:tr h="399182">
                <a:tc>
                  <a:txBody>
                    <a:bodyPr/>
                    <a:lstStyle/>
                    <a:p>
                      <a:r>
                        <a:rPr lang="it-IT" b="1" dirty="0">
                          <a:solidFill>
                            <a:schemeClr val="tx2"/>
                          </a:solidFill>
                        </a:rPr>
                        <a:t>Model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b="1" dirty="0" err="1">
                          <a:solidFill>
                            <a:schemeClr val="tx2"/>
                          </a:solidFill>
                        </a:rPr>
                        <a:t>Efficient</a:t>
                      </a:r>
                      <a:r>
                        <a:rPr lang="it-IT" b="1" dirty="0">
                          <a:solidFill>
                            <a:schemeClr val="tx2"/>
                          </a:solidFill>
                        </a:rPr>
                        <a:t> </a:t>
                      </a:r>
                      <a:r>
                        <a:rPr lang="it-IT" b="1" dirty="0" err="1">
                          <a:solidFill>
                            <a:schemeClr val="tx2"/>
                          </a:solidFill>
                        </a:rPr>
                        <a:t>Blocks</a:t>
                      </a:r>
                      <a:endParaRPr lang="it-IT" b="1" dirty="0">
                        <a:solidFill>
                          <a:schemeClr val="tx2"/>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b="1" dirty="0">
                          <a:solidFill>
                            <a:schemeClr val="tx2"/>
                          </a:solidFill>
                        </a:rPr>
                        <a:t>Train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b="1" dirty="0" err="1">
                          <a:solidFill>
                            <a:schemeClr val="tx2"/>
                          </a:solidFill>
                        </a:rPr>
                        <a:t>Eval</a:t>
                      </a:r>
                      <a:r>
                        <a:rPr lang="it-IT" b="1" dirty="0">
                          <a:solidFill>
                            <a:schemeClr val="tx2"/>
                          </a:solidFill>
                        </a:rPr>
                        <a:t> 2AFC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b="1" dirty="0">
                          <a:solidFill>
                            <a:schemeClr val="tx2"/>
                          </a:solidFill>
                        </a:rPr>
                        <a:t>Train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b="1" dirty="0" err="1">
                          <a:solidFill>
                            <a:schemeClr val="tx2"/>
                          </a:solidFill>
                        </a:rPr>
                        <a:t>Eval</a:t>
                      </a:r>
                      <a:r>
                        <a:rPr lang="it-IT" b="1" dirty="0">
                          <a:solidFill>
                            <a:schemeClr val="tx2"/>
                          </a:solidFill>
                        </a:rPr>
                        <a:t> 2AFC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17439804"/>
                  </a:ext>
                </a:extLst>
              </a:tr>
              <a:tr h="399182">
                <a:tc>
                  <a:txBody>
                    <a:bodyPr/>
                    <a:lstStyle/>
                    <a:p>
                      <a:r>
                        <a:rPr lang="it-IT" b="1" dirty="0">
                          <a:solidFill>
                            <a:schemeClr val="tx1"/>
                          </a:solidFill>
                        </a:rPr>
                        <a:t>Baseline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0/12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9min 33sec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95.12%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29min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94.88%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681150244"/>
                  </a:ext>
                </a:extLst>
              </a:tr>
              <a:tr h="399182">
                <a:tc>
                  <a:txBody>
                    <a:bodyPr/>
                    <a:lstStyle/>
                    <a:p>
                      <a:r>
                        <a:rPr lang="it-IT" b="1" dirty="0">
                          <a:solidFill>
                            <a:schemeClr val="tx1"/>
                          </a:solidFill>
                        </a:rPr>
                        <a:t>SRA Full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12/12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8min 52sec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93.60%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38min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93.48%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41201503"/>
                  </a:ext>
                </a:extLst>
              </a:tr>
              <a:tr h="399182">
                <a:tc>
                  <a:txBody>
                    <a:bodyPr/>
                    <a:lstStyle/>
                    <a:p>
                      <a:r>
                        <a:rPr lang="it-IT" b="1" dirty="0">
                          <a:solidFill>
                            <a:schemeClr val="tx1"/>
                          </a:solidFill>
                        </a:rPr>
                        <a:t>SRA Half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6/12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8min 47sec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95.35%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33min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95.00%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1141919"/>
                  </a:ext>
                </a:extLst>
              </a:tr>
              <a:tr h="399182">
                <a:tc>
                  <a:txBody>
                    <a:bodyPr/>
                    <a:lstStyle/>
                    <a:p>
                      <a:r>
                        <a:rPr lang="it-IT" b="1" dirty="0" err="1">
                          <a:solidFill>
                            <a:schemeClr val="tx1"/>
                          </a:solidFill>
                        </a:rPr>
                        <a:t>MetaFormer</a:t>
                      </a:r>
                      <a:r>
                        <a:rPr lang="it-IT" b="1" dirty="0">
                          <a:solidFill>
                            <a:schemeClr val="tx1"/>
                          </a:solidFill>
                        </a:rPr>
                        <a:t> Full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12/12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9min 06sec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78.95%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02min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78.48%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47259306"/>
                  </a:ext>
                </a:extLst>
              </a:tr>
              <a:tr h="399182">
                <a:tc>
                  <a:txBody>
                    <a:bodyPr/>
                    <a:lstStyle/>
                    <a:p>
                      <a:r>
                        <a:rPr lang="it-IT" b="1" dirty="0" err="1">
                          <a:solidFill>
                            <a:schemeClr val="tx1"/>
                          </a:solidFill>
                        </a:rPr>
                        <a:t>MetaFormer</a:t>
                      </a:r>
                      <a:r>
                        <a:rPr lang="it-IT" b="1" dirty="0">
                          <a:solidFill>
                            <a:schemeClr val="tx1"/>
                          </a:solidFill>
                        </a:rPr>
                        <a:t> Half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6/12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8min 56sec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85.81%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10min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86.04%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818869"/>
                  </a:ext>
                </a:extLst>
              </a:tr>
              <a:tr h="399182">
                <a:tc>
                  <a:txBody>
                    <a:bodyPr/>
                    <a:lstStyle/>
                    <a:p>
                      <a:r>
                        <a:rPr lang="it-IT" b="1" dirty="0" err="1">
                          <a:solidFill>
                            <a:schemeClr val="tx1"/>
                          </a:solidFill>
                        </a:rPr>
                        <a:t>MoH</a:t>
                      </a:r>
                      <a:r>
                        <a:rPr lang="it-IT" b="1" dirty="0">
                          <a:solidFill>
                            <a:schemeClr val="tx1"/>
                          </a:solidFill>
                        </a:rPr>
                        <a:t> Full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12/12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9min 05sec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92.09%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00min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91.86%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27932450"/>
                  </a:ext>
                </a:extLst>
              </a:tr>
              <a:tr h="399182">
                <a:tc>
                  <a:txBody>
                    <a:bodyPr/>
                    <a:lstStyle/>
                    <a:p>
                      <a:r>
                        <a:rPr lang="it-IT" b="1" dirty="0" err="1">
                          <a:solidFill>
                            <a:schemeClr val="tx1"/>
                          </a:solidFill>
                        </a:rPr>
                        <a:t>MoH</a:t>
                      </a:r>
                      <a:r>
                        <a:rPr lang="it-IT" b="1" dirty="0">
                          <a:solidFill>
                            <a:schemeClr val="tx1"/>
                          </a:solidFill>
                        </a:rPr>
                        <a:t> Half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6/12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8min 51sec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94.88%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1h 08min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it-IT" dirty="0">
                          <a:solidFill>
                            <a:schemeClr val="tx1"/>
                          </a:solidFill>
                        </a:rPr>
                        <a:t>94.65%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36870195"/>
                  </a:ext>
                </a:extLst>
              </a:tr>
            </a:tbl>
          </a:graphicData>
        </a:graphic>
      </p:graphicFrame>
    </p:spTree>
    <p:extLst>
      <p:ext uri="{BB962C8B-B14F-4D97-AF65-F5344CB8AC3E}">
        <p14:creationId xmlns:p14="http://schemas.microsoft.com/office/powerpoint/2010/main" val="1109241685"/>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383A2-DF28-5D1C-1B6A-120FF9F9032B}"/>
            </a:ext>
          </a:extLst>
        </p:cNvPr>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D3643D16-E46A-ED77-8B18-513E7FFDAA10}"/>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9B2A32B6-F76B-D440-09B6-DE3EB2E0C6E4}"/>
              </a:ext>
            </a:extLst>
          </p:cNvPr>
          <p:cNvSpPr>
            <a:spLocks noGrp="1"/>
          </p:cNvSpPr>
          <p:nvPr>
            <p:ph type="sldNum" sz="quarter" idx="12"/>
          </p:nvPr>
        </p:nvSpPr>
        <p:spPr>
          <a:xfrm>
            <a:off x="0" y="6311901"/>
            <a:ext cx="838200" cy="546099"/>
          </a:xfrm>
        </p:spPr>
        <p:txBody>
          <a:bodyPr/>
          <a:lstStyle/>
          <a:p>
            <a:r>
              <a:rPr lang="en-US" dirty="0"/>
              <a:t>8/9</a:t>
            </a:r>
          </a:p>
        </p:txBody>
      </p:sp>
      <p:sp>
        <p:nvSpPr>
          <p:cNvPr id="4" name="TextBox 3">
            <a:extLst>
              <a:ext uri="{FF2B5EF4-FFF2-40B4-BE49-F238E27FC236}">
                <a16:creationId xmlns:a16="http://schemas.microsoft.com/office/drawing/2014/main" id="{1CADFD43-A54F-68C4-746B-1A4BDDF2A662}"/>
              </a:ext>
            </a:extLst>
          </p:cNvPr>
          <p:cNvSpPr txBox="1"/>
          <p:nvPr/>
        </p:nvSpPr>
        <p:spPr>
          <a:xfrm>
            <a:off x="2192572" y="563024"/>
            <a:ext cx="9203635" cy="584775"/>
          </a:xfrm>
          <a:prstGeom prst="rect">
            <a:avLst/>
          </a:prstGeom>
          <a:noFill/>
        </p:spPr>
        <p:txBody>
          <a:bodyPr wrap="square" rtlCol="0">
            <a:spAutoFit/>
          </a:bodyPr>
          <a:lstStyle/>
          <a:p>
            <a:r>
              <a:rPr lang="en-US" sz="3200" b="1" dirty="0">
                <a:ln w="0"/>
                <a:solidFill>
                  <a:schemeClr val="tx2"/>
                </a:solidFill>
              </a:rPr>
              <a:t>Efficiency–</a:t>
            </a:r>
            <a:r>
              <a:rPr lang="en-US" sz="3200" b="1" dirty="0">
                <a:ln w="0"/>
                <a:solidFill>
                  <a:srgbClr val="822433"/>
                </a:solidFill>
              </a:rPr>
              <a:t>Accuracy</a:t>
            </a:r>
            <a:r>
              <a:rPr lang="en-US" sz="3200" b="1" dirty="0">
                <a:ln w="0"/>
                <a:solidFill>
                  <a:schemeClr val="tx2"/>
                </a:solidFill>
              </a:rPr>
              <a:t> Trade-off</a:t>
            </a:r>
          </a:p>
        </p:txBody>
      </p:sp>
      <p:sp>
        <p:nvSpPr>
          <p:cNvPr id="3" name="Footer Placeholder 2">
            <a:extLst>
              <a:ext uri="{FF2B5EF4-FFF2-40B4-BE49-F238E27FC236}">
                <a16:creationId xmlns:a16="http://schemas.microsoft.com/office/drawing/2014/main" id="{0FE71DF9-F0E6-695D-EC8E-62A488C6953B}"/>
              </a:ext>
            </a:extLst>
          </p:cNvPr>
          <p:cNvSpPr>
            <a:spLocks noGrp="1"/>
          </p:cNvSpPr>
          <p:nvPr>
            <p:ph type="ftr" sz="quarter" idx="11"/>
          </p:nvPr>
        </p:nvSpPr>
        <p:spPr>
          <a:xfrm>
            <a:off x="838200" y="6311900"/>
            <a:ext cx="11353800" cy="546100"/>
          </a:xfrm>
        </p:spPr>
        <p:txBody>
          <a:bodyPr/>
          <a:lstStyle/>
          <a:p>
            <a:r>
              <a:rPr lang="en-US" dirty="0"/>
              <a:t>Efficient Attention Impact on Transformer</a:t>
            </a:r>
          </a:p>
          <a:p>
            <a:r>
              <a:rPr lang="en-US" dirty="0"/>
              <a:t>Backbones for Perceptual Similarity </a:t>
            </a:r>
          </a:p>
        </p:txBody>
      </p:sp>
      <p:sp>
        <p:nvSpPr>
          <p:cNvPr id="7" name="AutoShape 2">
            <a:extLst>
              <a:ext uri="{FF2B5EF4-FFF2-40B4-BE49-F238E27FC236}">
                <a16:creationId xmlns:a16="http://schemas.microsoft.com/office/drawing/2014/main" id="{F86CD0B7-0E65-B778-9D74-57AE64B80E2A}"/>
              </a:ext>
            </a:extLst>
          </p:cNvPr>
          <p:cNvSpPr>
            <a:spLocks noChangeAspect="1" noChangeArrowheads="1"/>
          </p:cNvSpPr>
          <p:nvPr/>
        </p:nvSpPr>
        <p:spPr bwMode="auto">
          <a:xfrm>
            <a:off x="5943599" y="3276599"/>
            <a:ext cx="4077855" cy="407785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a:p>
        </p:txBody>
      </p:sp>
      <p:pic>
        <p:nvPicPr>
          <p:cNvPr id="9" name="Immagine 8">
            <a:extLst>
              <a:ext uri="{FF2B5EF4-FFF2-40B4-BE49-F238E27FC236}">
                <a16:creationId xmlns:a16="http://schemas.microsoft.com/office/drawing/2014/main" id="{8304A288-01FC-FEA9-6520-C58A97BFE0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35264" y="1400740"/>
            <a:ext cx="5270501" cy="3399864"/>
          </a:xfrm>
          <a:prstGeom prst="rect">
            <a:avLst/>
          </a:prstGeom>
        </p:spPr>
      </p:pic>
      <p:pic>
        <p:nvPicPr>
          <p:cNvPr id="10" name="Immagine 9">
            <a:extLst>
              <a:ext uri="{FF2B5EF4-FFF2-40B4-BE49-F238E27FC236}">
                <a16:creationId xmlns:a16="http://schemas.microsoft.com/office/drawing/2014/main" id="{B9355D2E-A306-FEB5-07CA-5B8A64A8C3F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219536" y="1400739"/>
            <a:ext cx="5270500" cy="3399864"/>
          </a:xfrm>
          <a:prstGeom prst="rect">
            <a:avLst/>
          </a:prstGeom>
        </p:spPr>
      </p:pic>
      <p:cxnSp>
        <p:nvCxnSpPr>
          <p:cNvPr id="11" name="Connettore diritto 10">
            <a:extLst>
              <a:ext uri="{FF2B5EF4-FFF2-40B4-BE49-F238E27FC236}">
                <a16:creationId xmlns:a16="http://schemas.microsoft.com/office/drawing/2014/main" id="{9340A176-934C-28C9-E140-48DBFBA9FD12}"/>
              </a:ext>
            </a:extLst>
          </p:cNvPr>
          <p:cNvCxnSpPr/>
          <p:nvPr/>
        </p:nvCxnSpPr>
        <p:spPr>
          <a:xfrm>
            <a:off x="6067633" y="1420778"/>
            <a:ext cx="0" cy="3411881"/>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12" name="CasellaDiTesto 11">
            <a:extLst>
              <a:ext uri="{FF2B5EF4-FFF2-40B4-BE49-F238E27FC236}">
                <a16:creationId xmlns:a16="http://schemas.microsoft.com/office/drawing/2014/main" id="{DD1A4205-0897-4A23-2B1E-495D5B549841}"/>
              </a:ext>
            </a:extLst>
          </p:cNvPr>
          <p:cNvSpPr txBox="1"/>
          <p:nvPr/>
        </p:nvSpPr>
        <p:spPr>
          <a:xfrm>
            <a:off x="602674" y="4995595"/>
            <a:ext cx="10206181" cy="923330"/>
          </a:xfrm>
          <a:prstGeom prst="rect">
            <a:avLst/>
          </a:prstGeom>
          <a:noFill/>
        </p:spPr>
        <p:txBody>
          <a:bodyPr wrap="square" rtlCol="0">
            <a:spAutoFit/>
          </a:bodyPr>
          <a:lstStyle/>
          <a:p>
            <a:pPr marL="285750" indent="-285750">
              <a:buClr>
                <a:schemeClr val="tx2"/>
              </a:buClr>
              <a:buFont typeface="Arial" panose="020B0604020202020204" pitchFamily="34" charset="0"/>
              <a:buChar char="•"/>
            </a:pPr>
            <a:r>
              <a:rPr lang="it-IT" b="1" dirty="0" err="1"/>
              <a:t>Partial</a:t>
            </a:r>
            <a:r>
              <a:rPr lang="it-IT" b="1" dirty="0"/>
              <a:t> </a:t>
            </a:r>
            <a:r>
              <a:rPr lang="it-IT" b="1" dirty="0" err="1"/>
              <a:t>replacement</a:t>
            </a:r>
            <a:r>
              <a:rPr lang="it-IT" b="1" dirty="0"/>
              <a:t> &gt; Full </a:t>
            </a:r>
            <a:r>
              <a:rPr lang="it-IT" b="1" dirty="0" err="1"/>
              <a:t>replacement</a:t>
            </a:r>
            <a:endParaRPr lang="it-IT" b="1" dirty="0"/>
          </a:p>
          <a:p>
            <a:pPr marL="285750" indent="-285750">
              <a:buClr>
                <a:schemeClr val="tx2"/>
              </a:buClr>
              <a:buFont typeface="Arial" panose="020B0604020202020204" pitchFamily="34" charset="0"/>
              <a:buChar char="•"/>
            </a:pPr>
            <a:r>
              <a:rPr lang="it-IT" b="1" dirty="0">
                <a:solidFill>
                  <a:srgbClr val="822433"/>
                </a:solidFill>
              </a:rPr>
              <a:t>SRA Half</a:t>
            </a:r>
            <a:r>
              <a:rPr lang="it-IT" dirty="0"/>
              <a:t> </a:t>
            </a:r>
            <a:r>
              <a:rPr lang="it-IT" dirty="0" err="1"/>
              <a:t>provides</a:t>
            </a:r>
            <a:r>
              <a:rPr lang="it-IT" dirty="0"/>
              <a:t> the </a:t>
            </a:r>
            <a:r>
              <a:rPr lang="it-IT" b="1" dirty="0"/>
              <a:t>best </a:t>
            </a:r>
            <a:r>
              <a:rPr lang="it-IT" b="1" dirty="0" err="1"/>
              <a:t>quality</a:t>
            </a:r>
            <a:r>
              <a:rPr lang="it-IT" b="1" dirty="0"/>
              <a:t> trade-</a:t>
            </a:r>
            <a:r>
              <a:rPr lang="it-IT" b="1" dirty="0" err="1"/>
              <a:t>offs</a:t>
            </a:r>
            <a:endParaRPr lang="it-IT" b="1" dirty="0"/>
          </a:p>
          <a:p>
            <a:pPr marL="285750" indent="-285750">
              <a:buClr>
                <a:schemeClr val="tx2"/>
              </a:buClr>
              <a:buFont typeface="Arial" panose="020B0604020202020204" pitchFamily="34" charset="0"/>
              <a:buChar char="•"/>
            </a:pPr>
            <a:r>
              <a:rPr lang="it-IT" dirty="0" err="1"/>
              <a:t>Efficiency</a:t>
            </a:r>
            <a:r>
              <a:rPr lang="it-IT" dirty="0"/>
              <a:t> </a:t>
            </a:r>
            <a:r>
              <a:rPr lang="it-IT" dirty="0" err="1"/>
              <a:t>is</a:t>
            </a:r>
            <a:r>
              <a:rPr lang="it-IT" dirty="0"/>
              <a:t> </a:t>
            </a:r>
            <a:r>
              <a:rPr lang="it-IT" b="1" dirty="0" err="1"/>
              <a:t>architecture</a:t>
            </a:r>
            <a:r>
              <a:rPr lang="it-IT" b="1" dirty="0"/>
              <a:t> </a:t>
            </a:r>
            <a:r>
              <a:rPr lang="it-IT" dirty="0"/>
              <a:t>and</a:t>
            </a:r>
            <a:r>
              <a:rPr lang="it-IT" b="1" dirty="0"/>
              <a:t> </a:t>
            </a:r>
            <a:r>
              <a:rPr lang="it-IT" b="1" dirty="0" err="1"/>
              <a:t>implementation</a:t>
            </a:r>
            <a:r>
              <a:rPr lang="it-IT" dirty="0"/>
              <a:t> </a:t>
            </a:r>
            <a:r>
              <a:rPr lang="it-IT" dirty="0" err="1"/>
              <a:t>dependent</a:t>
            </a:r>
            <a:endParaRPr lang="it-IT" dirty="0"/>
          </a:p>
        </p:txBody>
      </p:sp>
    </p:spTree>
    <p:extLst>
      <p:ext uri="{BB962C8B-B14F-4D97-AF65-F5344CB8AC3E}">
        <p14:creationId xmlns:p14="http://schemas.microsoft.com/office/powerpoint/2010/main" val="839032157"/>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pic>
        <p:nvPicPr>
          <p:cNvPr id="5" name="Picture 4" descr="A picture containing logo, symbol, emblem, graphics&#10;&#10;Description automatically generated">
            <a:extLst>
              <a:ext uri="{FF2B5EF4-FFF2-40B4-BE49-F238E27FC236}">
                <a16:creationId xmlns:a16="http://schemas.microsoft.com/office/drawing/2014/main" id="{ACDC7525-862D-6825-7F83-F9612C200557}"/>
              </a:ext>
            </a:extLst>
          </p:cNvPr>
          <p:cNvPicPr>
            <a:picLocks noChangeAspect="1"/>
          </p:cNvPicPr>
          <p:nvPr/>
        </p:nvPicPr>
        <p:blipFill rotWithShape="1">
          <a:blip r:embed="rId3">
            <a:extLst>
              <a:ext uri="{28A0092B-C50C-407E-A947-70E740481C1C}">
                <a14:useLocalDpi xmlns:a14="http://schemas.microsoft.com/office/drawing/2010/main" val="0"/>
              </a:ext>
            </a:extLst>
          </a:blip>
          <a:srcRect l="10625" t="13953" r="7371" b="6977"/>
          <a:stretch/>
        </p:blipFill>
        <p:spPr>
          <a:xfrm>
            <a:off x="944880" y="-1712"/>
            <a:ext cx="985520" cy="1129472"/>
          </a:xfrm>
          <a:prstGeom prst="rect">
            <a:avLst/>
          </a:prstGeom>
        </p:spPr>
      </p:pic>
      <p:sp>
        <p:nvSpPr>
          <p:cNvPr id="6" name="Slide Number Placeholder 5">
            <a:extLst>
              <a:ext uri="{FF2B5EF4-FFF2-40B4-BE49-F238E27FC236}">
                <a16:creationId xmlns:a16="http://schemas.microsoft.com/office/drawing/2014/main" id="{F5C6EA02-13FD-0993-E1E5-E18649D67352}"/>
              </a:ext>
            </a:extLst>
          </p:cNvPr>
          <p:cNvSpPr>
            <a:spLocks noGrp="1"/>
          </p:cNvSpPr>
          <p:nvPr>
            <p:ph type="sldNum" sz="quarter" idx="12"/>
          </p:nvPr>
        </p:nvSpPr>
        <p:spPr/>
        <p:txBody>
          <a:bodyPr/>
          <a:lstStyle/>
          <a:p>
            <a:r>
              <a:rPr lang="en-US" dirty="0"/>
              <a:t>9/9</a:t>
            </a:r>
          </a:p>
        </p:txBody>
      </p:sp>
      <p:pic>
        <p:nvPicPr>
          <p:cNvPr id="8" name="Picture 7" descr="A picture containing logo, symbol, emblem, trademark&#10;&#10;Description automatically generated">
            <a:extLst>
              <a:ext uri="{FF2B5EF4-FFF2-40B4-BE49-F238E27FC236}">
                <a16:creationId xmlns:a16="http://schemas.microsoft.com/office/drawing/2014/main" id="{AB6D99D0-AD8A-8D75-1184-B15FA95669D1}"/>
              </a:ext>
            </a:extLst>
          </p:cNvPr>
          <p:cNvPicPr>
            <a:picLocks noChangeAspect="1"/>
          </p:cNvPicPr>
          <p:nvPr/>
        </p:nvPicPr>
        <p:blipFill rotWithShape="1">
          <a:blip r:embed="rId4">
            <a:extLst>
              <a:ext uri="{28A0092B-C50C-407E-A947-70E740481C1C}">
                <a14:useLocalDpi xmlns:a14="http://schemas.microsoft.com/office/drawing/2010/main" val="0"/>
              </a:ext>
            </a:extLst>
          </a:blip>
          <a:srcRect l="9767" t="14737" r="9302" b="9252"/>
          <a:stretch/>
        </p:blipFill>
        <p:spPr>
          <a:xfrm>
            <a:off x="944880" y="0"/>
            <a:ext cx="985520" cy="1127760"/>
          </a:xfrm>
          <a:prstGeom prst="rect">
            <a:avLst/>
          </a:prstGeom>
          <a:ln>
            <a:solidFill>
              <a:schemeClr val="accent1"/>
            </a:solidFill>
          </a:ln>
        </p:spPr>
      </p:pic>
      <p:sp>
        <p:nvSpPr>
          <p:cNvPr id="9" name="TextBox 8">
            <a:extLst>
              <a:ext uri="{FF2B5EF4-FFF2-40B4-BE49-F238E27FC236}">
                <a16:creationId xmlns:a16="http://schemas.microsoft.com/office/drawing/2014/main" id="{0F6B1135-D3D5-821B-3C54-0586D9F14115}"/>
              </a:ext>
            </a:extLst>
          </p:cNvPr>
          <p:cNvSpPr txBox="1"/>
          <p:nvPr/>
        </p:nvSpPr>
        <p:spPr>
          <a:xfrm>
            <a:off x="419100" y="2781174"/>
            <a:ext cx="10972800" cy="769441"/>
          </a:xfrm>
          <a:prstGeom prst="rect">
            <a:avLst/>
          </a:prstGeom>
          <a:noFill/>
        </p:spPr>
        <p:txBody>
          <a:bodyPr wrap="square" rtlCol="0">
            <a:spAutoFit/>
          </a:bodyPr>
          <a:lstStyle/>
          <a:p>
            <a:pPr algn="ctr"/>
            <a:r>
              <a:rPr lang="it-IT" sz="4400" dirty="0">
                <a:ln w="0"/>
                <a:solidFill>
                  <a:schemeClr val="bg1"/>
                </a:solidFill>
                <a:latin typeface="Arial" panose="020B0604020202020204" pitchFamily="34" charset="0"/>
                <a:cs typeface="Arial" panose="020B0604020202020204" pitchFamily="34" charset="0"/>
              </a:rPr>
              <a:t>Thank you for the attention!</a:t>
            </a:r>
            <a:endParaRPr lang="en-US" sz="6000" dirty="0">
              <a:ln w="0"/>
              <a:solidFill>
                <a:schemeClr val="bg1"/>
              </a:solidFill>
              <a:latin typeface="Arial Nova" panose="020B0504020202020204" pitchFamily="34" charset="0"/>
            </a:endParaRPr>
          </a:p>
        </p:txBody>
      </p:sp>
      <p:sp>
        <p:nvSpPr>
          <p:cNvPr id="4" name="TextBox 3">
            <a:extLst>
              <a:ext uri="{FF2B5EF4-FFF2-40B4-BE49-F238E27FC236}">
                <a16:creationId xmlns:a16="http://schemas.microsoft.com/office/drawing/2014/main" id="{980A199D-6947-7795-AFAB-0287A09D589A}"/>
              </a:ext>
            </a:extLst>
          </p:cNvPr>
          <p:cNvSpPr txBox="1"/>
          <p:nvPr/>
        </p:nvSpPr>
        <p:spPr>
          <a:xfrm>
            <a:off x="3545595" y="6399252"/>
            <a:ext cx="5100810" cy="369332"/>
          </a:xfrm>
          <a:prstGeom prst="rect">
            <a:avLst/>
          </a:prstGeom>
          <a:noFill/>
        </p:spPr>
        <p:txBody>
          <a:bodyPr wrap="square">
            <a:spAutoFit/>
          </a:bodyPr>
          <a:lstStyle/>
          <a:p>
            <a:pPr algn="ctr"/>
            <a:r>
              <a:rPr lang="en-US" dirty="0">
                <a:solidFill>
                  <a:schemeClr val="bg1"/>
                </a:solidFill>
              </a:rPr>
              <a:t>Mattia Di Marco, Simone La Bella  </a:t>
            </a:r>
            <a:endParaRPr lang="en-GB" dirty="0">
              <a:solidFill>
                <a:schemeClr val="bg1"/>
              </a:solidFill>
            </a:endParaRPr>
          </a:p>
        </p:txBody>
      </p:sp>
      <p:sp>
        <p:nvSpPr>
          <p:cNvPr id="7" name="TextBox 6">
            <a:extLst>
              <a:ext uri="{FF2B5EF4-FFF2-40B4-BE49-F238E27FC236}">
                <a16:creationId xmlns:a16="http://schemas.microsoft.com/office/drawing/2014/main" id="{438A8B8D-6A1A-D786-8957-46460A64FB70}"/>
              </a:ext>
            </a:extLst>
          </p:cNvPr>
          <p:cNvSpPr txBox="1"/>
          <p:nvPr/>
        </p:nvSpPr>
        <p:spPr>
          <a:xfrm>
            <a:off x="9173593" y="6399252"/>
            <a:ext cx="3018407" cy="369332"/>
          </a:xfrm>
          <a:prstGeom prst="rect">
            <a:avLst/>
          </a:prstGeom>
          <a:noFill/>
        </p:spPr>
        <p:txBody>
          <a:bodyPr wrap="square">
            <a:spAutoFit/>
          </a:bodyPr>
          <a:lstStyle/>
          <a:p>
            <a:r>
              <a:rPr lang="en-US" dirty="0">
                <a:solidFill>
                  <a:schemeClr val="bg1"/>
                </a:solidFill>
              </a:rPr>
              <a:t>Academic Year 2025/26</a:t>
            </a:r>
            <a:endParaRPr lang="en-GB" dirty="0">
              <a:solidFill>
                <a:schemeClr val="bg1"/>
              </a:solidFill>
            </a:endParaRPr>
          </a:p>
        </p:txBody>
      </p:sp>
    </p:spTree>
    <p:extLst>
      <p:ext uri="{BB962C8B-B14F-4D97-AF65-F5344CB8AC3E}">
        <p14:creationId xmlns:p14="http://schemas.microsoft.com/office/powerpoint/2010/main" val="361501758"/>
      </p:ext>
    </p:extLst>
  </p:cSld>
  <p:clrMapOvr>
    <a:masterClrMapping/>
  </p:clrMapOvr>
  <mc:AlternateContent xmlns:mc="http://schemas.openxmlformats.org/markup-compatibility/2006" xmlns:p159="http://schemas.microsoft.com/office/powerpoint/2015/09/main">
    <mc:Choice Requires="p159">
      <p:transition spd="slow" advTm="18764">
        <p159:morph option="byObject"/>
      </p:transition>
    </mc:Choice>
    <mc:Fallback xmlns="">
      <p:transition spd="slow" advTm="18764">
        <p:fade/>
      </p:transition>
    </mc:Fallback>
  </mc:AlternateContent>
</p:sld>
</file>

<file path=ppt/theme/theme1.xml><?xml version="1.0" encoding="utf-8"?>
<a:theme xmlns:a="http://schemas.openxmlformats.org/drawingml/2006/main" name="Office Theme">
  <a:themeElements>
    <a:clrScheme name="Thesis">
      <a:dk1>
        <a:sysClr val="windowText" lastClr="000000"/>
      </a:dk1>
      <a:lt1>
        <a:sysClr val="window" lastClr="FFFFFF"/>
      </a:lt1>
      <a:dk2>
        <a:srgbClr val="822433"/>
      </a:dk2>
      <a:lt2>
        <a:srgbClr val="E7E6E6"/>
      </a:lt2>
      <a:accent1>
        <a:srgbClr val="C00000"/>
      </a:accent1>
      <a:accent2>
        <a:srgbClr val="F995BB"/>
      </a:accent2>
      <a:accent3>
        <a:srgbClr val="FBCDE0"/>
      </a:accent3>
      <a:accent4>
        <a:srgbClr val="FEDEEB"/>
      </a:accent4>
      <a:accent5>
        <a:srgbClr val="92D050"/>
      </a:accent5>
      <a:accent6>
        <a:srgbClr val="48A1FA"/>
      </a:accent6>
      <a:hlink>
        <a:srgbClr val="FF0000"/>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3">
    <wetp:webextensionref xmlns:r="http://schemas.openxmlformats.org/officeDocument/2006/relationships" r:id="rId1"/>
  </wetp:taskpane>
  <wetp:taskpane dockstate="right" visibility="0" width="525" row="2">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19C12FA2-8EBE-47B9-8787-22614A1C53E2}">
  <we:reference id="wa200005542" version="1.0.0.0" store="en-US" storeType="OMEX"/>
  <we:alternateReferences>
    <we:reference id="WA200005542" version="1.0.0.0" store="WA200005542"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B52D26F-26FE-4606-86C9-69FCF55E2141}">
  <we:reference id="wa104380955" version="3.16.2.1" store="en-US" storeType="OMEX"/>
  <we:alternateReferences>
    <we:reference id="WA104380955" version="3.16.2.1" store="WA104380955"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16992</TotalTime>
  <Words>940</Words>
  <Application>Microsoft Office PowerPoint</Application>
  <PresentationFormat>Widescreen</PresentationFormat>
  <Paragraphs>177</Paragraphs>
  <Slides>10</Slides>
  <Notes>10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10</vt:i4>
      </vt:variant>
    </vt:vector>
  </HeadingPairs>
  <TitlesOfParts>
    <vt:vector size="15" baseType="lpstr">
      <vt:lpstr>Arial</vt:lpstr>
      <vt:lpstr>Arial Nova</vt:lpstr>
      <vt:lpstr>Calibri</vt:lpstr>
      <vt:lpstr>Cambria Math</vt:lpstr>
      <vt:lpstr>Office Theme</vt:lpstr>
      <vt:lpstr>Efficient Attention Impact on Transformer Backbones for Perceptual Similarity</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Advancements in EEG Denoising and Artifact Removal using Transformers</dc:title>
  <dc:creator>Martina Doku</dc:creator>
  <cp:lastModifiedBy>simone la bella</cp:lastModifiedBy>
  <cp:revision>270</cp:revision>
  <dcterms:created xsi:type="dcterms:W3CDTF">2023-07-04T10:18:11Z</dcterms:created>
  <dcterms:modified xsi:type="dcterms:W3CDTF">2026-09-09T17:21:10Z</dcterms:modified>
</cp:coreProperties>
</file>